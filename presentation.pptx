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300" b="0" i="0" u="none" strike="noStrike">
                <a:solidFill>
                  <a:srgbClr val="0A2540"/>
                </a:solidFill>
                <a:latin typeface="Calibri"/>
              </a:defRPr>
            </a:pPr>
            <a:r>
              <a:rPr sz="1300" b="0" i="0" u="none" strike="noStrike">
                <a:solidFill>
                  <a:srgbClr val="0A2540"/>
                </a:solidFill>
                <a:latin typeface="Calibri"/>
              </a:rPr>
              <a:t>Test accuracy by classifier</a:t>
            </a:r>
          </a:p>
        </c:rich>
      </c:tx>
      <c:layout/>
      <c:overlay val="0"/>
    </c:title>
    <c:autoTitleDeleted val="0"/>
    <c:plotArea>
      <c:layout/>
      <c:barChart>
        <c:barDir val="col"/>
        <c:grouping val="clustered"/>
        <c:varyColors val="0"/>
        <c:ser>
          <c:idx val="0"/>
          <c:order val="0"/>
          <c:tx>
            <c:strRef>
              <c:f>Sheet1!$B$1</c:f>
              <c:strCache>
                <c:ptCount val="1"/>
                <c:pt idx="0">
                  <c:v>Test accuracy (%)</c:v>
                </c:pt>
              </c:strCache>
            </c:strRef>
          </c:tx>
          <c:spPr>
            <a:solidFill>
              <a:srgbClr val="1AA39E"/>
            </a:solidFill>
            <a:effectLst/>
          </c:spPr>
          <c:invertIfNegative val="0"/>
          <c:dLbls>
            <c:numFmt formatCode="#,##0" sourceLinked="0"/>
            <c:txPr>
              <a:bodyPr/>
              <a:lstStyle/>
              <a:p>
                <a:pPr>
                  <a:defRPr b="0" i="0" strike="noStrike" sz="1000" u="none">
                    <a:solidFill>
                      <a:srgbClr val="0A2540"/>
                    </a:solidFill>
                    <a:latin typeface="Arial"/>
                  </a:defRPr>
                </a:pPr>
              </a:p>
            </c:txPr>
            <c:showLegendKey val="0"/>
            <c:showVal val="1"/>
            <c:showCatName val="0"/>
            <c:showSerName val="0"/>
            <c:showPercent val="0"/>
            <c:showBubbleSize val="0"/>
            <c:showLeaderLines val="0"/>
          </c:dLbls>
          <c:cat>
            <c:multiLvlStrRef>
              <c:f>Sheet1!$A$2:$A$9</c:f>
              <c:multiLvlStrCache>
                <c:ptCount val="8"/>
                <c:lvl>
                  <c:pt idx="0">
                    <c:v>NCM</c:v>
                  </c:pt>
                  <c:pt idx="1">
                    <c:v>k-NN</c:v>
                  </c:pt>
                  <c:pt idx="2">
                    <c:v>MLP
(sklearn)</c:v>
                  </c:pt>
                  <c:pt idx="3">
                    <c:v>MLP
(PyTorch)</c:v>
                  </c:pt>
                  <c:pt idx="4">
                    <c:v>RBF
SVM</c:v>
                  </c:pt>
                  <c:pt idx="5">
                    <c:v>Linear
SVM</c:v>
                  </c:pt>
                  <c:pt idx="6">
                    <c:v>Lin SVM
+ LBP</c:v>
                  </c:pt>
                  <c:pt idx="7">
                    <c:v>RF
+ LBP</c:v>
                  </c:pt>
                </c:lvl>
              </c:multiLvlStrCache>
            </c:multiLvlStrRef>
          </c:cat>
          <c:val>
            <c:numRef>
              <c:f>Sheet1!$B$2:$B$9</c:f>
              <c:numCache>
                <c:formatCode>General</c:formatCode>
                <c:ptCount val="8"/>
                <c:pt idx="0">
                  <c:v>51.21</c:v>
                </c:pt>
                <c:pt idx="1">
                  <c:v>72.66</c:v>
                </c:pt>
                <c:pt idx="2">
                  <c:v>78.55</c:v>
                </c:pt>
                <c:pt idx="3">
                  <c:v>79.93</c:v>
                </c:pt>
                <c:pt idx="4">
                  <c:v>83.04</c:v>
                </c:pt>
                <c:pt idx="5">
                  <c:v>85.81</c:v>
                </c:pt>
                <c:pt idx="6">
                  <c:v>87.54</c:v>
                </c:pt>
                <c:pt idx="7">
                  <c:v>89.97</c:v>
                </c:pt>
              </c:numCache>
            </c:numRef>
          </c:val>
        </c:ser>
        <c:dLbls>
          <c:numFmt formatCode="#,##0" sourceLinked="0"/>
          <c:txPr>
            <a:bodyPr/>
            <a:lstStyle/>
            <a:p>
              <a:pPr>
                <a:defRPr b="0" i="0" strike="noStrike" sz="1000" u="none">
                  <a:solidFill>
                    <a:srgbClr val="0A254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A1A1A"/>
                </a:solidFill>
                <a:latin typeface="Arial"/>
              </a:defRPr>
            </a:pPr>
            <a:endParaRPr lang="en-US"/>
          </a:p>
        </c:txPr>
        <c:crossAx val="2094734552"/>
        <c:crosses val="autoZero"/>
        <c:auto val="1"/>
        <c:lblAlgn val="ctr"/>
        <c:noMultiLvlLbl val="1"/>
      </c:catAx>
      <c:valAx>
        <c:axId val="2094734552"/>
        <c:scaling>
          <c:orientation val="minMax"/>
          <c:max val="100"/>
          <c:min val="4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473"/>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A2540"/>
                </a:solidFill>
                <a:latin typeface="Arial"/>
              </a:defRPr>
            </a:pPr>
            <a:r>
              <a:rPr sz="1300" b="0" i="0" u="none" strike="noStrike">
                <a:solidFill>
                  <a:srgbClr val="0A2540"/>
                </a:solidFill>
                <a:latin typeface="Arial"/>
              </a:rPr>
              <a:t>Feature ablation (Random Forest)</a:t>
            </a:r>
          </a:p>
        </c:rich>
      </c:tx>
      <c:layout/>
      <c:overlay val="0"/>
    </c:title>
    <c:autoTitleDeleted val="0"/>
    <c:plotArea>
      <c:layout/>
      <c:barChart>
        <c:barDir val="bar"/>
        <c:grouping val="clustered"/>
        <c:varyColors val="0"/>
        <c:ser>
          <c:idx val="0"/>
          <c:order val="0"/>
          <c:tx>
            <c:strRef>
              <c:f>Sheet1!$B$1</c:f>
              <c:strCache>
                <c:ptCount val="1"/>
                <c:pt idx="0">
                  <c:v>Test acc (%)</c:v>
                </c:pt>
              </c:strCache>
            </c:strRef>
          </c:tx>
          <c:spPr>
            <a:solidFill>
              <a:srgbClr val="F4A23C"/>
            </a:solidFill>
            <a:effectLst/>
          </c:spPr>
          <c:invertIfNegative val="0"/>
          <c:dLbls>
            <c:numFmt formatCode="#,##0" sourceLinked="0"/>
            <c:txPr>
              <a:bodyPr/>
              <a:lstStyle/>
              <a:p>
                <a:pPr>
                  <a:defRPr b="0" i="0" strike="noStrike" sz="1000" u="none">
                    <a:solidFill>
                      <a:srgbClr val="0A2540"/>
                    </a:solidFill>
                    <a:latin typeface="Arial"/>
                  </a:defRPr>
                </a:pPr>
              </a:p>
            </c:txPr>
            <c:showLegendKey val="0"/>
            <c:showVal val="1"/>
            <c:showCatName val="0"/>
            <c:showSerName val="0"/>
            <c:showPercent val="0"/>
            <c:showBubbleSize val="0"/>
            <c:showLeaderLines val="0"/>
          </c:dLbls>
          <c:cat>
            <c:multiLvlStrRef>
              <c:f>Sheet1!$A$2:$A$8</c:f>
              <c:multiLvlStrCache>
                <c:ptCount val="7"/>
                <c:lvl>
                  <c:pt idx="0">
                    <c:v>shape only</c:v>
                  </c:pt>
                  <c:pt idx="1">
                    <c:v>hog_center</c:v>
                  </c:pt>
                  <c:pt idx="2">
                    <c:v>lbp only</c:v>
                  </c:pt>
                  <c:pt idx="3">
                    <c:v>hog_bbox</c:v>
                  </c:pt>
                  <c:pt idx="4">
                    <c:v>color only</c:v>
                  </c:pt>
                  <c:pt idx="5">
                    <c:v>color + lbp</c:v>
                  </c:pt>
                  <c:pt idx="6">
                    <c:v>all features</c:v>
                  </c:pt>
                </c:lvl>
              </c:multiLvlStrCache>
            </c:multiLvlStrRef>
          </c:cat>
          <c:val>
            <c:numRef>
              <c:f>Sheet1!$B$2:$B$8</c:f>
              <c:numCache>
                <c:formatCode>General</c:formatCode>
                <c:ptCount val="7"/>
                <c:pt idx="0">
                  <c:v>60.21</c:v>
                </c:pt>
                <c:pt idx="1">
                  <c:v>70.59</c:v>
                </c:pt>
                <c:pt idx="2">
                  <c:v>73.36</c:v>
                </c:pt>
                <c:pt idx="3">
                  <c:v>77.51</c:v>
                </c:pt>
                <c:pt idx="4">
                  <c:v>88.93</c:v>
                </c:pt>
                <c:pt idx="5">
                  <c:v>89.27</c:v>
                </c:pt>
                <c:pt idx="6">
                  <c:v>89.97</c:v>
                </c:pt>
              </c:numCache>
            </c:numRef>
          </c:val>
        </c:ser>
        <c:dLbls>
          <c:numFmt formatCode="#,##0" sourceLinked="0"/>
          <c:txPr>
            <a:bodyPr/>
            <a:lstStyle/>
            <a:p>
              <a:pPr>
                <a:defRPr b="0" i="0" strike="noStrike" sz="1000" u="none">
                  <a:solidFill>
                    <a:srgbClr val="0A254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A1A1A"/>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A6473"/>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4A23C"/>
          </a:solidFill>
          <a:ln w="12700">
            <a:solidFill>
              <a:srgbClr val="F4A23C"/>
            </a:solidFill>
            <a:prstDash val="solid"/>
          </a:ln>
        </p:spPr>
      </p:sp>
      <p:sp>
        <p:nvSpPr>
          <p:cNvPr id="3" name="Text 1"/>
          <p:cNvSpPr/>
          <p:nvPr/>
        </p:nvSpPr>
        <p:spPr>
          <a:xfrm>
            <a:off x="731520" y="1371600"/>
            <a:ext cx="10972800" cy="822960"/>
          </a:xfrm>
          <a:prstGeom prst="rect">
            <a:avLst/>
          </a:prstGeom>
          <a:noFill/>
          <a:ln/>
        </p:spPr>
        <p:txBody>
          <a:bodyPr wrap="square" lIns="0" tIns="0" rIns="0" bIns="0" rtlCol="0" anchor="ctr"/>
          <a:lstStyle/>
          <a:p>
            <a:pPr indent="0" marL="0">
              <a:buNone/>
            </a:pPr>
            <a:r>
              <a:rPr lang="en-US" sz="5200" b="1" dirty="0">
                <a:solidFill>
                  <a:srgbClr val="FFFFFF"/>
                </a:solidFill>
                <a:latin typeface="Calibri" pitchFamily="34" charset="0"/>
                <a:ea typeface="Calibri" pitchFamily="34" charset="-122"/>
                <a:cs typeface="Calibri" pitchFamily="34" charset="-120"/>
              </a:rPr>
              <a:t>Ball Detection &amp;</a:t>
            </a:r>
            <a:endParaRPr lang="en-US" sz="5200" dirty="0"/>
          </a:p>
        </p:txBody>
      </p:sp>
      <p:sp>
        <p:nvSpPr>
          <p:cNvPr id="4" name="Text 2"/>
          <p:cNvSpPr/>
          <p:nvPr/>
        </p:nvSpPr>
        <p:spPr>
          <a:xfrm>
            <a:off x="731520" y="2103120"/>
            <a:ext cx="10972800" cy="822960"/>
          </a:xfrm>
          <a:prstGeom prst="rect">
            <a:avLst/>
          </a:prstGeom>
          <a:noFill/>
          <a:ln/>
        </p:spPr>
        <p:txBody>
          <a:bodyPr wrap="square" lIns="0" tIns="0" rIns="0" bIns="0" rtlCol="0" anchor="ctr"/>
          <a:lstStyle/>
          <a:p>
            <a:pPr indent="0" marL="0">
              <a:buNone/>
            </a:pPr>
            <a:r>
              <a:rPr lang="en-US" sz="5200" b="1" dirty="0">
                <a:solidFill>
                  <a:srgbClr val="F4A23C"/>
                </a:solidFill>
                <a:latin typeface="Calibri" pitchFamily="34" charset="0"/>
                <a:ea typeface="Calibri" pitchFamily="34" charset="-122"/>
                <a:cs typeface="Calibri" pitchFamily="34" charset="-120"/>
              </a:rPr>
              <a:t>Classification System</a:t>
            </a:r>
            <a:endParaRPr lang="en-US" sz="5200" dirty="0"/>
          </a:p>
        </p:txBody>
      </p:sp>
      <p:sp>
        <p:nvSpPr>
          <p:cNvPr id="5" name="Text 3"/>
          <p:cNvSpPr/>
          <p:nvPr/>
        </p:nvSpPr>
        <p:spPr>
          <a:xfrm>
            <a:off x="731520" y="3108960"/>
            <a:ext cx="10972800" cy="457200"/>
          </a:xfrm>
          <a:prstGeom prst="rect">
            <a:avLst/>
          </a:prstGeom>
          <a:noFill/>
          <a:ln/>
        </p:spPr>
        <p:txBody>
          <a:bodyPr wrap="square" lIns="0" tIns="0" rIns="0" bIns="0" rtlCol="0" anchor="ctr"/>
          <a:lstStyle/>
          <a:p>
            <a:pPr indent="0" marL="0">
              <a:buNone/>
            </a:pPr>
            <a:r>
              <a:rPr lang="en-US" sz="2200" dirty="0">
                <a:solidFill>
                  <a:srgbClr val="CADCFC"/>
                </a:solidFill>
                <a:latin typeface="Calibri" pitchFamily="34" charset="0"/>
                <a:ea typeface="Calibri" pitchFamily="34" charset="-122"/>
                <a:cs typeface="Calibri" pitchFamily="34" charset="-120"/>
              </a:rPr>
              <a:t>Final Project Evaluation — Milestones 1, 2 &amp; 3</a:t>
            </a:r>
            <a:endParaRPr lang="en-US" sz="2200" dirty="0"/>
          </a:p>
        </p:txBody>
      </p:sp>
      <p:sp>
        <p:nvSpPr>
          <p:cNvPr id="6" name="Shape 4"/>
          <p:cNvSpPr/>
          <p:nvPr/>
        </p:nvSpPr>
        <p:spPr>
          <a:xfrm>
            <a:off x="731520" y="3749040"/>
            <a:ext cx="5486400" cy="0"/>
          </a:xfrm>
          <a:prstGeom prst="line">
            <a:avLst/>
          </a:prstGeom>
          <a:noFill/>
          <a:ln w="25400">
            <a:solidFill>
              <a:srgbClr val="F4A23C"/>
            </a:solidFill>
            <a:prstDash val="solid"/>
          </a:ln>
        </p:spPr>
      </p:sp>
      <p:sp>
        <p:nvSpPr>
          <p:cNvPr id="7" name="Text 5"/>
          <p:cNvSpPr/>
          <p:nvPr/>
        </p:nvSpPr>
        <p:spPr>
          <a:xfrm>
            <a:off x="731520" y="4023360"/>
            <a:ext cx="1097280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Team A — Tutorial Group 10</a:t>
            </a:r>
            <a:endParaRPr lang="en-US" sz="1600" dirty="0"/>
          </a:p>
        </p:txBody>
      </p:sp>
      <p:sp>
        <p:nvSpPr>
          <p:cNvPr id="8" name="Text 6"/>
          <p:cNvSpPr/>
          <p:nvPr/>
        </p:nvSpPr>
        <p:spPr>
          <a:xfrm>
            <a:off x="731520" y="4343400"/>
            <a:ext cx="7315200" cy="146304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Mohamed Waleed Zoher  ·  13006830</a:t>
            </a:r>
            <a:endParaRPr lang="en-US" sz="1300" dirty="0"/>
          </a:p>
          <a:p>
            <a:pPr indent="0" marL="0">
              <a:buNone/>
            </a:pPr>
            <a:r>
              <a:rPr lang="en-US" sz="1300" dirty="0">
                <a:solidFill>
                  <a:srgbClr val="CADCFC"/>
                </a:solidFill>
                <a:latin typeface="Calibri" pitchFamily="34" charset="0"/>
                <a:ea typeface="Calibri" pitchFamily="34" charset="-122"/>
                <a:cs typeface="Calibri" pitchFamily="34" charset="-120"/>
              </a:rPr>
              <a:t>Marwan Hesham Elqady  ·  13006158</a:t>
            </a:r>
            <a:endParaRPr lang="en-US" sz="1300" dirty="0"/>
          </a:p>
          <a:p>
            <a:pPr indent="0" marL="0">
              <a:buNone/>
            </a:pPr>
            <a:r>
              <a:rPr lang="en-US" sz="1300" dirty="0">
                <a:solidFill>
                  <a:srgbClr val="CADCFC"/>
                </a:solidFill>
                <a:latin typeface="Calibri" pitchFamily="34" charset="0"/>
                <a:ea typeface="Calibri" pitchFamily="34" charset="-122"/>
                <a:cs typeface="Calibri" pitchFamily="34" charset="-120"/>
              </a:rPr>
              <a:t>Moaaz Bassouny  ·  13001998</a:t>
            </a:r>
            <a:endParaRPr lang="en-US" sz="1300" dirty="0"/>
          </a:p>
          <a:p>
            <a:pPr indent="0" marL="0">
              <a:buNone/>
            </a:pPr>
            <a:r>
              <a:rPr lang="en-US" sz="1300" dirty="0">
                <a:solidFill>
                  <a:srgbClr val="CADCFC"/>
                </a:solidFill>
                <a:latin typeface="Calibri" pitchFamily="34" charset="0"/>
                <a:ea typeface="Calibri" pitchFamily="34" charset="-122"/>
                <a:cs typeface="Calibri" pitchFamily="34" charset="-120"/>
              </a:rPr>
              <a:t>Ahmed Mohamed Ramadan  ·  13005623</a:t>
            </a:r>
            <a:endParaRPr lang="en-US" sz="1300" dirty="0"/>
          </a:p>
          <a:p>
            <a:pPr indent="0" marL="0">
              <a:buNone/>
            </a:pPr>
            <a:r>
              <a:rPr lang="en-US" sz="1300" dirty="0">
                <a:solidFill>
                  <a:srgbClr val="CADCFC"/>
                </a:solidFill>
                <a:latin typeface="Calibri" pitchFamily="34" charset="0"/>
                <a:ea typeface="Calibri" pitchFamily="34" charset="-122"/>
                <a:cs typeface="Calibri" pitchFamily="34" charset="-120"/>
              </a:rPr>
              <a:t>Youssef Mokhtar  ·  13005346</a:t>
            </a:r>
            <a:endParaRPr lang="en-US" sz="1300" dirty="0"/>
          </a:p>
        </p:txBody>
      </p:sp>
      <p:sp>
        <p:nvSpPr>
          <p:cNvPr id="9" name="Text 7"/>
          <p:cNvSpPr/>
          <p:nvPr/>
        </p:nvSpPr>
        <p:spPr>
          <a:xfrm>
            <a:off x="7315200" y="4023360"/>
            <a:ext cx="45720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ENMR 602 — Signals &amp; Image Processing</a:t>
            </a:r>
            <a:endParaRPr lang="en-US" sz="1400" dirty="0"/>
          </a:p>
        </p:txBody>
      </p:sp>
      <p:sp>
        <p:nvSpPr>
          <p:cNvPr id="10" name="Text 8"/>
          <p:cNvSpPr/>
          <p:nvPr/>
        </p:nvSpPr>
        <p:spPr>
          <a:xfrm>
            <a:off x="7315200" y="4343400"/>
            <a:ext cx="4572000" cy="14630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Dr. Moheb Mekhaiel</a:t>
            </a:r>
            <a:endParaRPr lang="en-US" sz="1200" dirty="0"/>
          </a:p>
          <a:p>
            <a:pPr indent="0" marL="0">
              <a:buNone/>
            </a:pPr>
            <a:r>
              <a:rPr lang="en-US" sz="1200" dirty="0">
                <a:solidFill>
                  <a:srgbClr val="CADCFC"/>
                </a:solidFill>
                <a:latin typeface="Calibri" pitchFamily="34" charset="0"/>
                <a:ea typeface="Calibri" pitchFamily="34" charset="-122"/>
                <a:cs typeface="Calibri" pitchFamily="34" charset="-120"/>
              </a:rPr>
              <a:t>Eng. Moaz Fouda  ·  Eng. Hisham Hafez</a:t>
            </a:r>
            <a:endParaRPr lang="en-US" sz="1200" dirty="0"/>
          </a:p>
          <a:p>
            <a:pPr indent="0" marL="0">
              <a:buNone/>
            </a:pPr>
            <a:r>
              <a:rPr lang="en-US" sz="1200" dirty="0">
                <a:solidFill>
                  <a:srgbClr val="CADCFC"/>
                </a:solidFill>
                <a:latin typeface="Calibri" pitchFamily="34" charset="0"/>
                <a:ea typeface="Calibri" pitchFamily="34" charset="-122"/>
                <a:cs typeface="Calibri" pitchFamily="34" charset="-120"/>
              </a:rPr>
              <a:t>Eng. Yasmine Attia</a:t>
            </a:r>
            <a:endParaRPr lang="en-US" sz="1200" dirty="0"/>
          </a:p>
          <a:p>
            <a:pPr indent="0" marL="0">
              <a:buNone/>
            </a:pPr>
            <a:endParaRPr lang="en-US" sz="1200" dirty="0"/>
          </a:p>
          <a:p>
            <a:pPr indent="0" marL="0">
              <a:buNone/>
            </a:pPr>
            <a:r>
              <a:rPr lang="en-US" sz="1200" dirty="0">
                <a:solidFill>
                  <a:srgbClr val="CADCFC"/>
                </a:solidFill>
                <a:latin typeface="Calibri" pitchFamily="34" charset="0"/>
                <a:ea typeface="Calibri" pitchFamily="34" charset="-122"/>
                <a:cs typeface="Calibri" pitchFamily="34" charset="-120"/>
              </a:rPr>
              <a:t>GIU · Faculty of Engineering · Spring 25/26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502920"/>
          </a:xfrm>
          <a:prstGeom prst="rect">
            <a:avLst/>
          </a:prstGeom>
          <a:solidFill>
            <a:srgbClr val="F4A23C"/>
          </a:solidFill>
          <a:ln w="12700">
            <a:solidFill>
              <a:srgbClr val="F4A23C"/>
            </a:solidFill>
            <a:prstDash val="solid"/>
          </a:ln>
        </p:spPr>
      </p:sp>
      <p:sp>
        <p:nvSpPr>
          <p:cNvPr id="3" name="Text 1"/>
          <p:cNvSpPr/>
          <p:nvPr/>
        </p:nvSpPr>
        <p:spPr>
          <a:xfrm>
            <a:off x="685800" y="320040"/>
            <a:ext cx="11018520" cy="640080"/>
          </a:xfrm>
          <a:prstGeom prst="rect">
            <a:avLst/>
          </a:prstGeom>
          <a:noFill/>
          <a:ln/>
        </p:spPr>
        <p:txBody>
          <a:bodyPr wrap="square" lIns="0" tIns="0" rIns="0" bIns="0" rtlCol="0" anchor="ctr"/>
          <a:lstStyle/>
          <a:p>
            <a:pPr indent="0" marL="0">
              <a:buNone/>
            </a:pPr>
            <a:r>
              <a:rPr lang="en-US" sz="2800" b="1" dirty="0">
                <a:solidFill>
                  <a:srgbClr val="0A2540"/>
                </a:solidFill>
                <a:latin typeface="Calibri" pitchFamily="34" charset="0"/>
                <a:ea typeface="Calibri" pitchFamily="34" charset="-122"/>
                <a:cs typeface="Calibri" pitchFamily="34" charset="-120"/>
              </a:rPr>
              <a:t>Agenda</a:t>
            </a:r>
            <a:endParaRPr lang="en-US" sz="2800" dirty="0"/>
          </a:p>
        </p:txBody>
      </p:sp>
      <p:sp>
        <p:nvSpPr>
          <p:cNvPr id="4" name="Text 2"/>
          <p:cNvSpPr/>
          <p:nvPr/>
        </p:nvSpPr>
        <p:spPr>
          <a:xfrm>
            <a:off x="685800" y="914400"/>
            <a:ext cx="11018520" cy="320040"/>
          </a:xfrm>
          <a:prstGeom prst="rect">
            <a:avLst/>
          </a:prstGeom>
          <a:noFill/>
          <a:ln/>
        </p:spPr>
        <p:txBody>
          <a:bodyPr wrap="square" lIns="0" tIns="0" rIns="0" bIns="0" rtlCol="0" anchor="ctr"/>
          <a:lstStyle/>
          <a:p>
            <a:pPr indent="0" marL="0">
              <a:buNone/>
            </a:pPr>
            <a:r>
              <a:rPr lang="en-US" sz="1400" i="1" dirty="0">
                <a:solidFill>
                  <a:srgbClr val="5A6473"/>
                </a:solidFill>
                <a:latin typeface="Calibri" pitchFamily="34" charset="0"/>
                <a:ea typeface="Calibri" pitchFamily="34" charset="-122"/>
                <a:cs typeface="Calibri" pitchFamily="34" charset="-120"/>
              </a:rPr>
              <a:t>Roadmap of the evaluation</a:t>
            </a:r>
            <a:endParaRPr lang="en-US" sz="1400" dirty="0"/>
          </a:p>
        </p:txBody>
      </p:sp>
      <p:sp>
        <p:nvSpPr>
          <p:cNvPr id="5" name="Shape 3"/>
          <p:cNvSpPr/>
          <p:nvPr/>
        </p:nvSpPr>
        <p:spPr>
          <a:xfrm>
            <a:off x="822960" y="1536192"/>
            <a:ext cx="502920" cy="502920"/>
          </a:xfrm>
          <a:prstGeom prst="ellipse">
            <a:avLst/>
          </a:prstGeom>
          <a:solidFill>
            <a:srgbClr val="0A2540"/>
          </a:solidFill>
          <a:ln w="12700">
            <a:solidFill>
              <a:srgbClr val="0A2540"/>
            </a:solidFill>
            <a:prstDash val="solid"/>
          </a:ln>
        </p:spPr>
      </p:sp>
      <p:sp>
        <p:nvSpPr>
          <p:cNvPr id="6" name="Text 4"/>
          <p:cNvSpPr/>
          <p:nvPr/>
        </p:nvSpPr>
        <p:spPr>
          <a:xfrm>
            <a:off x="822960" y="1536192"/>
            <a:ext cx="502920" cy="502920"/>
          </a:xfrm>
          <a:prstGeom prst="rect">
            <a:avLst/>
          </a:prstGeom>
          <a:noFill/>
          <a:ln/>
        </p:spPr>
        <p:txBody>
          <a:bodyPr wrap="square" lIns="0" tIns="0" rIns="0" bIns="0" rtlCol="0" anchor="ctr"/>
          <a:lstStyle/>
          <a:p>
            <a:pPr algn="ctr" indent="0" marL="0">
              <a:buNone/>
            </a:pPr>
            <a:r>
              <a:rPr lang="en-US" sz="1400" b="1" dirty="0">
                <a:solidFill>
                  <a:srgbClr val="F4A23C"/>
                </a:solidFill>
              </a:rPr>
              <a:t>01</a:t>
            </a:r>
            <a:endParaRPr lang="en-US" sz="1400" dirty="0"/>
          </a:p>
        </p:txBody>
      </p:sp>
      <p:sp>
        <p:nvSpPr>
          <p:cNvPr id="7" name="Text 5"/>
          <p:cNvSpPr/>
          <p:nvPr/>
        </p:nvSpPr>
        <p:spPr>
          <a:xfrm>
            <a:off x="1554480" y="1463040"/>
            <a:ext cx="5029200" cy="365760"/>
          </a:xfrm>
          <a:prstGeom prst="rect">
            <a:avLst/>
          </a:prstGeom>
          <a:noFill/>
          <a:ln/>
        </p:spPr>
        <p:txBody>
          <a:bodyPr wrap="square" lIns="0" tIns="0" rIns="0" bIns="0" rtlCol="0" anchor="ctr"/>
          <a:lstStyle/>
          <a:p>
            <a:pPr indent="0" marL="0">
              <a:buNone/>
            </a:pPr>
            <a:r>
              <a:rPr lang="en-US" sz="1700" b="1" dirty="0">
                <a:solidFill>
                  <a:srgbClr val="0A2540"/>
                </a:solidFill>
                <a:latin typeface="Calibri" pitchFamily="34" charset="0"/>
                <a:ea typeface="Calibri" pitchFamily="34" charset="-122"/>
                <a:cs typeface="Calibri" pitchFamily="34" charset="-120"/>
              </a:rPr>
              <a:t>Problem &amp; Dataset</a:t>
            </a:r>
            <a:endParaRPr lang="en-US" sz="1700" dirty="0"/>
          </a:p>
        </p:txBody>
      </p:sp>
      <p:sp>
        <p:nvSpPr>
          <p:cNvPr id="8" name="Text 6"/>
          <p:cNvSpPr/>
          <p:nvPr/>
        </p:nvSpPr>
        <p:spPr>
          <a:xfrm>
            <a:off x="1554480" y="1792224"/>
            <a:ext cx="10058400" cy="320040"/>
          </a:xfrm>
          <a:prstGeom prst="rect">
            <a:avLst/>
          </a:prstGeom>
          <a:noFill/>
          <a:ln/>
        </p:spPr>
        <p:txBody>
          <a:bodyPr wrap="square" lIns="0" tIns="0" rIns="0" bIns="0" rtlCol="0" anchor="ctr"/>
          <a:lstStyle/>
          <a:p>
            <a:pPr indent="0" marL="0">
              <a:buNone/>
            </a:pPr>
            <a:r>
              <a:rPr lang="en-US" sz="1200" i="1" dirty="0">
                <a:solidFill>
                  <a:srgbClr val="5A6473"/>
                </a:solidFill>
                <a:latin typeface="Calibri" pitchFamily="34" charset="0"/>
                <a:ea typeface="Calibri" pitchFamily="34" charset="-122"/>
                <a:cs typeface="Calibri" pitchFamily="34" charset="-120"/>
              </a:rPr>
              <a:t>Six-class ball classification, 1,696 images</a:t>
            </a:r>
            <a:endParaRPr lang="en-US" sz="1200" dirty="0"/>
          </a:p>
        </p:txBody>
      </p:sp>
      <p:sp>
        <p:nvSpPr>
          <p:cNvPr id="9" name="Shape 7"/>
          <p:cNvSpPr/>
          <p:nvPr/>
        </p:nvSpPr>
        <p:spPr>
          <a:xfrm>
            <a:off x="822960" y="2249424"/>
            <a:ext cx="502920" cy="502920"/>
          </a:xfrm>
          <a:prstGeom prst="ellipse">
            <a:avLst/>
          </a:prstGeom>
          <a:solidFill>
            <a:srgbClr val="0A2540"/>
          </a:solidFill>
          <a:ln w="12700">
            <a:solidFill>
              <a:srgbClr val="0A2540"/>
            </a:solidFill>
            <a:prstDash val="solid"/>
          </a:ln>
        </p:spPr>
      </p:sp>
      <p:sp>
        <p:nvSpPr>
          <p:cNvPr id="10" name="Text 8"/>
          <p:cNvSpPr/>
          <p:nvPr/>
        </p:nvSpPr>
        <p:spPr>
          <a:xfrm>
            <a:off x="822960" y="2249424"/>
            <a:ext cx="502920" cy="502920"/>
          </a:xfrm>
          <a:prstGeom prst="rect">
            <a:avLst/>
          </a:prstGeom>
          <a:noFill/>
          <a:ln/>
        </p:spPr>
        <p:txBody>
          <a:bodyPr wrap="square" lIns="0" tIns="0" rIns="0" bIns="0" rtlCol="0" anchor="ctr"/>
          <a:lstStyle/>
          <a:p>
            <a:pPr algn="ctr" indent="0" marL="0">
              <a:buNone/>
            </a:pPr>
            <a:r>
              <a:rPr lang="en-US" sz="1400" b="1" dirty="0">
                <a:solidFill>
                  <a:srgbClr val="F4A23C"/>
                </a:solidFill>
              </a:rPr>
              <a:t>02</a:t>
            </a:r>
            <a:endParaRPr lang="en-US" sz="1400" dirty="0"/>
          </a:p>
        </p:txBody>
      </p:sp>
      <p:sp>
        <p:nvSpPr>
          <p:cNvPr id="11" name="Text 9"/>
          <p:cNvSpPr/>
          <p:nvPr/>
        </p:nvSpPr>
        <p:spPr>
          <a:xfrm>
            <a:off x="1554480" y="2176272"/>
            <a:ext cx="5029200" cy="365760"/>
          </a:xfrm>
          <a:prstGeom prst="rect">
            <a:avLst/>
          </a:prstGeom>
          <a:noFill/>
          <a:ln/>
        </p:spPr>
        <p:txBody>
          <a:bodyPr wrap="square" lIns="0" tIns="0" rIns="0" bIns="0" rtlCol="0" anchor="ctr"/>
          <a:lstStyle/>
          <a:p>
            <a:pPr indent="0" marL="0">
              <a:buNone/>
            </a:pPr>
            <a:r>
              <a:rPr lang="en-US" sz="1700" b="1" dirty="0">
                <a:solidFill>
                  <a:srgbClr val="0A2540"/>
                </a:solidFill>
                <a:latin typeface="Calibri" pitchFamily="34" charset="0"/>
                <a:ea typeface="Calibri" pitchFamily="34" charset="-122"/>
                <a:cs typeface="Calibri" pitchFamily="34" charset="-120"/>
              </a:rPr>
              <a:t>Milestone 1 — Pipeline Design</a:t>
            </a:r>
            <a:endParaRPr lang="en-US" sz="1700" dirty="0"/>
          </a:p>
        </p:txBody>
      </p:sp>
      <p:sp>
        <p:nvSpPr>
          <p:cNvPr id="12" name="Text 10"/>
          <p:cNvSpPr/>
          <p:nvPr/>
        </p:nvSpPr>
        <p:spPr>
          <a:xfrm>
            <a:off x="1554480" y="2505456"/>
            <a:ext cx="10058400" cy="320040"/>
          </a:xfrm>
          <a:prstGeom prst="rect">
            <a:avLst/>
          </a:prstGeom>
          <a:noFill/>
          <a:ln/>
        </p:spPr>
        <p:txBody>
          <a:bodyPr wrap="square" lIns="0" tIns="0" rIns="0" bIns="0" rtlCol="0" anchor="ctr"/>
          <a:lstStyle/>
          <a:p>
            <a:pPr indent="0" marL="0">
              <a:buNone/>
            </a:pPr>
            <a:r>
              <a:rPr lang="en-US" sz="1200" i="1" dirty="0">
                <a:solidFill>
                  <a:srgbClr val="5A6473"/>
                </a:solidFill>
                <a:latin typeface="Calibri" pitchFamily="34" charset="0"/>
                <a:ea typeface="Calibri" pitchFamily="34" charset="-122"/>
                <a:cs typeface="Calibri" pitchFamily="34" charset="-120"/>
              </a:rPr>
              <a:t>Classical CV pipeline: design + justification</a:t>
            </a:r>
            <a:endParaRPr lang="en-US" sz="1200" dirty="0"/>
          </a:p>
        </p:txBody>
      </p:sp>
      <p:sp>
        <p:nvSpPr>
          <p:cNvPr id="13" name="Shape 11"/>
          <p:cNvSpPr/>
          <p:nvPr/>
        </p:nvSpPr>
        <p:spPr>
          <a:xfrm>
            <a:off x="822960" y="2962656"/>
            <a:ext cx="502920" cy="502920"/>
          </a:xfrm>
          <a:prstGeom prst="ellipse">
            <a:avLst/>
          </a:prstGeom>
          <a:solidFill>
            <a:srgbClr val="0A2540"/>
          </a:solidFill>
          <a:ln w="12700">
            <a:solidFill>
              <a:srgbClr val="0A2540"/>
            </a:solidFill>
            <a:prstDash val="solid"/>
          </a:ln>
        </p:spPr>
      </p:sp>
      <p:sp>
        <p:nvSpPr>
          <p:cNvPr id="14" name="Text 12"/>
          <p:cNvSpPr/>
          <p:nvPr/>
        </p:nvSpPr>
        <p:spPr>
          <a:xfrm>
            <a:off x="822960" y="2962656"/>
            <a:ext cx="502920" cy="502920"/>
          </a:xfrm>
          <a:prstGeom prst="rect">
            <a:avLst/>
          </a:prstGeom>
          <a:noFill/>
          <a:ln/>
        </p:spPr>
        <p:txBody>
          <a:bodyPr wrap="square" lIns="0" tIns="0" rIns="0" bIns="0" rtlCol="0" anchor="ctr"/>
          <a:lstStyle/>
          <a:p>
            <a:pPr algn="ctr" indent="0" marL="0">
              <a:buNone/>
            </a:pPr>
            <a:r>
              <a:rPr lang="en-US" sz="1400" b="1" dirty="0">
                <a:solidFill>
                  <a:srgbClr val="F4A23C"/>
                </a:solidFill>
              </a:rPr>
              <a:t>03</a:t>
            </a:r>
            <a:endParaRPr lang="en-US" sz="1400" dirty="0"/>
          </a:p>
        </p:txBody>
      </p:sp>
      <p:sp>
        <p:nvSpPr>
          <p:cNvPr id="15" name="Text 13"/>
          <p:cNvSpPr/>
          <p:nvPr/>
        </p:nvSpPr>
        <p:spPr>
          <a:xfrm>
            <a:off x="1554480" y="2889504"/>
            <a:ext cx="5029200" cy="365760"/>
          </a:xfrm>
          <a:prstGeom prst="rect">
            <a:avLst/>
          </a:prstGeom>
          <a:noFill/>
          <a:ln/>
        </p:spPr>
        <p:txBody>
          <a:bodyPr wrap="square" lIns="0" tIns="0" rIns="0" bIns="0" rtlCol="0" anchor="ctr"/>
          <a:lstStyle/>
          <a:p>
            <a:pPr indent="0" marL="0">
              <a:buNone/>
            </a:pPr>
            <a:r>
              <a:rPr lang="en-US" sz="1700" b="1" dirty="0">
                <a:solidFill>
                  <a:srgbClr val="0A2540"/>
                </a:solidFill>
                <a:latin typeface="Calibri" pitchFamily="34" charset="0"/>
                <a:ea typeface="Calibri" pitchFamily="34" charset="-122"/>
                <a:cs typeface="Calibri" pitchFamily="34" charset="-120"/>
              </a:rPr>
              <a:t>Milestone 2 — Classical ML</a:t>
            </a:r>
            <a:endParaRPr lang="en-US" sz="1700" dirty="0"/>
          </a:p>
        </p:txBody>
      </p:sp>
      <p:sp>
        <p:nvSpPr>
          <p:cNvPr id="16" name="Text 14"/>
          <p:cNvSpPr/>
          <p:nvPr/>
        </p:nvSpPr>
        <p:spPr>
          <a:xfrm>
            <a:off x="1554480" y="3218688"/>
            <a:ext cx="10058400" cy="320040"/>
          </a:xfrm>
          <a:prstGeom prst="rect">
            <a:avLst/>
          </a:prstGeom>
          <a:noFill/>
          <a:ln/>
        </p:spPr>
        <p:txBody>
          <a:bodyPr wrap="square" lIns="0" tIns="0" rIns="0" bIns="0" rtlCol="0" anchor="ctr"/>
          <a:lstStyle/>
          <a:p>
            <a:pPr indent="0" marL="0">
              <a:buNone/>
            </a:pPr>
            <a:r>
              <a:rPr lang="en-US" sz="1200" i="1" dirty="0">
                <a:solidFill>
                  <a:srgbClr val="5A6473"/>
                </a:solidFill>
                <a:latin typeface="Calibri" pitchFamily="34" charset="0"/>
                <a:ea typeface="Calibri" pitchFamily="34" charset="-122"/>
                <a:cs typeface="Calibri" pitchFamily="34" charset="-120"/>
              </a:rPr>
              <a:t>Multi-strategy segmenter + 3,610-d feature vector</a:t>
            </a:r>
            <a:endParaRPr lang="en-US" sz="1200" dirty="0"/>
          </a:p>
        </p:txBody>
      </p:sp>
      <p:sp>
        <p:nvSpPr>
          <p:cNvPr id="17" name="Shape 15"/>
          <p:cNvSpPr/>
          <p:nvPr/>
        </p:nvSpPr>
        <p:spPr>
          <a:xfrm>
            <a:off x="822960" y="3675888"/>
            <a:ext cx="502920" cy="502920"/>
          </a:xfrm>
          <a:prstGeom prst="ellipse">
            <a:avLst/>
          </a:prstGeom>
          <a:solidFill>
            <a:srgbClr val="0A2540"/>
          </a:solidFill>
          <a:ln w="12700">
            <a:solidFill>
              <a:srgbClr val="0A2540"/>
            </a:solidFill>
            <a:prstDash val="solid"/>
          </a:ln>
        </p:spPr>
      </p:sp>
      <p:sp>
        <p:nvSpPr>
          <p:cNvPr id="18" name="Text 16"/>
          <p:cNvSpPr/>
          <p:nvPr/>
        </p:nvSpPr>
        <p:spPr>
          <a:xfrm>
            <a:off x="822960" y="3675888"/>
            <a:ext cx="502920" cy="502920"/>
          </a:xfrm>
          <a:prstGeom prst="rect">
            <a:avLst/>
          </a:prstGeom>
          <a:noFill/>
          <a:ln/>
        </p:spPr>
        <p:txBody>
          <a:bodyPr wrap="square" lIns="0" tIns="0" rIns="0" bIns="0" rtlCol="0" anchor="ctr"/>
          <a:lstStyle/>
          <a:p>
            <a:pPr algn="ctr" indent="0" marL="0">
              <a:buNone/>
            </a:pPr>
            <a:r>
              <a:rPr lang="en-US" sz="1400" b="1" dirty="0">
                <a:solidFill>
                  <a:srgbClr val="F4A23C"/>
                </a:solidFill>
              </a:rPr>
              <a:t>04</a:t>
            </a:r>
            <a:endParaRPr lang="en-US" sz="1400" dirty="0"/>
          </a:p>
        </p:txBody>
      </p:sp>
      <p:sp>
        <p:nvSpPr>
          <p:cNvPr id="19" name="Text 17"/>
          <p:cNvSpPr/>
          <p:nvPr/>
        </p:nvSpPr>
        <p:spPr>
          <a:xfrm>
            <a:off x="1554480" y="3602736"/>
            <a:ext cx="5029200" cy="365760"/>
          </a:xfrm>
          <a:prstGeom prst="rect">
            <a:avLst/>
          </a:prstGeom>
          <a:noFill/>
          <a:ln/>
        </p:spPr>
        <p:txBody>
          <a:bodyPr wrap="square" lIns="0" tIns="0" rIns="0" bIns="0" rtlCol="0" anchor="ctr"/>
          <a:lstStyle/>
          <a:p>
            <a:pPr indent="0" marL="0">
              <a:buNone/>
            </a:pPr>
            <a:r>
              <a:rPr lang="en-US" sz="1700" b="1" dirty="0">
                <a:solidFill>
                  <a:srgbClr val="0A2540"/>
                </a:solidFill>
                <a:latin typeface="Calibri" pitchFamily="34" charset="0"/>
                <a:ea typeface="Calibri" pitchFamily="34" charset="-122"/>
                <a:cs typeface="Calibri" pitchFamily="34" charset="-120"/>
              </a:rPr>
              <a:t>Milestone 3 — Custom CNN</a:t>
            </a:r>
            <a:endParaRPr lang="en-US" sz="1700" dirty="0"/>
          </a:p>
        </p:txBody>
      </p:sp>
      <p:sp>
        <p:nvSpPr>
          <p:cNvPr id="20" name="Text 18"/>
          <p:cNvSpPr/>
          <p:nvPr/>
        </p:nvSpPr>
        <p:spPr>
          <a:xfrm>
            <a:off x="1554480" y="3931920"/>
            <a:ext cx="10058400" cy="320040"/>
          </a:xfrm>
          <a:prstGeom prst="rect">
            <a:avLst/>
          </a:prstGeom>
          <a:noFill/>
          <a:ln/>
        </p:spPr>
        <p:txBody>
          <a:bodyPr wrap="square" lIns="0" tIns="0" rIns="0" bIns="0" rtlCol="0" anchor="ctr"/>
          <a:lstStyle/>
          <a:p>
            <a:pPr indent="0" marL="0">
              <a:buNone/>
            </a:pPr>
            <a:r>
              <a:rPr lang="en-US" sz="1200" i="1" dirty="0">
                <a:solidFill>
                  <a:srgbClr val="5A6473"/>
                </a:solidFill>
                <a:latin typeface="Calibri" pitchFamily="34" charset="0"/>
                <a:ea typeface="Calibri" pitchFamily="34" charset="-122"/>
                <a:cs typeface="Calibri" pitchFamily="34" charset="-120"/>
              </a:rPr>
              <a:t>Deep model from scratch, 97.58% test accuracy</a:t>
            </a:r>
            <a:endParaRPr lang="en-US" sz="1200" dirty="0"/>
          </a:p>
        </p:txBody>
      </p:sp>
      <p:sp>
        <p:nvSpPr>
          <p:cNvPr id="21" name="Shape 19"/>
          <p:cNvSpPr/>
          <p:nvPr/>
        </p:nvSpPr>
        <p:spPr>
          <a:xfrm>
            <a:off x="822960" y="4389120"/>
            <a:ext cx="502920" cy="502920"/>
          </a:xfrm>
          <a:prstGeom prst="ellipse">
            <a:avLst/>
          </a:prstGeom>
          <a:solidFill>
            <a:srgbClr val="0A2540"/>
          </a:solidFill>
          <a:ln w="12700">
            <a:solidFill>
              <a:srgbClr val="0A2540"/>
            </a:solidFill>
            <a:prstDash val="solid"/>
          </a:ln>
        </p:spPr>
      </p:sp>
      <p:sp>
        <p:nvSpPr>
          <p:cNvPr id="22" name="Text 20"/>
          <p:cNvSpPr/>
          <p:nvPr/>
        </p:nvSpPr>
        <p:spPr>
          <a:xfrm>
            <a:off x="822960" y="4389120"/>
            <a:ext cx="502920" cy="502920"/>
          </a:xfrm>
          <a:prstGeom prst="rect">
            <a:avLst/>
          </a:prstGeom>
          <a:noFill/>
          <a:ln/>
        </p:spPr>
        <p:txBody>
          <a:bodyPr wrap="square" lIns="0" tIns="0" rIns="0" bIns="0" rtlCol="0" anchor="ctr"/>
          <a:lstStyle/>
          <a:p>
            <a:pPr algn="ctr" indent="0" marL="0">
              <a:buNone/>
            </a:pPr>
            <a:r>
              <a:rPr lang="en-US" sz="1400" b="1" dirty="0">
                <a:solidFill>
                  <a:srgbClr val="F4A23C"/>
                </a:solidFill>
              </a:rPr>
              <a:t>05</a:t>
            </a:r>
            <a:endParaRPr lang="en-US" sz="1400" dirty="0"/>
          </a:p>
        </p:txBody>
      </p:sp>
      <p:sp>
        <p:nvSpPr>
          <p:cNvPr id="23" name="Text 21"/>
          <p:cNvSpPr/>
          <p:nvPr/>
        </p:nvSpPr>
        <p:spPr>
          <a:xfrm>
            <a:off x="1554480" y="4315968"/>
            <a:ext cx="5029200" cy="365760"/>
          </a:xfrm>
          <a:prstGeom prst="rect">
            <a:avLst/>
          </a:prstGeom>
          <a:noFill/>
          <a:ln/>
        </p:spPr>
        <p:txBody>
          <a:bodyPr wrap="square" lIns="0" tIns="0" rIns="0" bIns="0" rtlCol="0" anchor="ctr"/>
          <a:lstStyle/>
          <a:p>
            <a:pPr indent="0" marL="0">
              <a:buNone/>
            </a:pPr>
            <a:r>
              <a:rPr lang="en-US" sz="1700" b="1" dirty="0">
                <a:solidFill>
                  <a:srgbClr val="0A2540"/>
                </a:solidFill>
                <a:latin typeface="Calibri" pitchFamily="34" charset="0"/>
                <a:ea typeface="Calibri" pitchFamily="34" charset="-122"/>
                <a:cs typeface="Calibri" pitchFamily="34" charset="-120"/>
              </a:rPr>
              <a:t>Comparison &amp; Discussion</a:t>
            </a:r>
            <a:endParaRPr lang="en-US" sz="1700" dirty="0"/>
          </a:p>
        </p:txBody>
      </p:sp>
      <p:sp>
        <p:nvSpPr>
          <p:cNvPr id="24" name="Text 22"/>
          <p:cNvSpPr/>
          <p:nvPr/>
        </p:nvSpPr>
        <p:spPr>
          <a:xfrm>
            <a:off x="1554480" y="4645152"/>
            <a:ext cx="10058400" cy="320040"/>
          </a:xfrm>
          <a:prstGeom prst="rect">
            <a:avLst/>
          </a:prstGeom>
          <a:noFill/>
          <a:ln/>
        </p:spPr>
        <p:txBody>
          <a:bodyPr wrap="square" lIns="0" tIns="0" rIns="0" bIns="0" rtlCol="0" anchor="ctr"/>
          <a:lstStyle/>
          <a:p>
            <a:pPr indent="0" marL="0">
              <a:buNone/>
            </a:pPr>
            <a:r>
              <a:rPr lang="en-US" sz="1200" i="1" dirty="0">
                <a:solidFill>
                  <a:srgbClr val="5A6473"/>
                </a:solidFill>
                <a:latin typeface="Calibri" pitchFamily="34" charset="0"/>
                <a:ea typeface="Calibri" pitchFamily="34" charset="-122"/>
                <a:cs typeface="Calibri" pitchFamily="34" charset="-120"/>
              </a:rPr>
              <a:t>What worked, what didn't, lessons learned</a:t>
            </a:r>
            <a:endParaRPr lang="en-US" sz="1200" dirty="0"/>
          </a:p>
        </p:txBody>
      </p:sp>
      <p:sp>
        <p:nvSpPr>
          <p:cNvPr id="25" name="Shape 23"/>
          <p:cNvSpPr/>
          <p:nvPr/>
        </p:nvSpPr>
        <p:spPr>
          <a:xfrm>
            <a:off x="822960" y="5102352"/>
            <a:ext cx="502920" cy="502920"/>
          </a:xfrm>
          <a:prstGeom prst="ellipse">
            <a:avLst/>
          </a:prstGeom>
          <a:solidFill>
            <a:srgbClr val="0A2540"/>
          </a:solidFill>
          <a:ln w="12700">
            <a:solidFill>
              <a:srgbClr val="0A2540"/>
            </a:solidFill>
            <a:prstDash val="solid"/>
          </a:ln>
        </p:spPr>
      </p:sp>
      <p:sp>
        <p:nvSpPr>
          <p:cNvPr id="26" name="Text 24"/>
          <p:cNvSpPr/>
          <p:nvPr/>
        </p:nvSpPr>
        <p:spPr>
          <a:xfrm>
            <a:off x="822960" y="5102352"/>
            <a:ext cx="502920" cy="502920"/>
          </a:xfrm>
          <a:prstGeom prst="rect">
            <a:avLst/>
          </a:prstGeom>
          <a:noFill/>
          <a:ln/>
        </p:spPr>
        <p:txBody>
          <a:bodyPr wrap="square" lIns="0" tIns="0" rIns="0" bIns="0" rtlCol="0" anchor="ctr"/>
          <a:lstStyle/>
          <a:p>
            <a:pPr algn="ctr" indent="0" marL="0">
              <a:buNone/>
            </a:pPr>
            <a:r>
              <a:rPr lang="en-US" sz="1400" b="1" dirty="0">
                <a:solidFill>
                  <a:srgbClr val="F4A23C"/>
                </a:solidFill>
              </a:rPr>
              <a:t>06</a:t>
            </a:r>
            <a:endParaRPr lang="en-US" sz="1400" dirty="0"/>
          </a:p>
        </p:txBody>
      </p:sp>
      <p:sp>
        <p:nvSpPr>
          <p:cNvPr id="27" name="Text 25"/>
          <p:cNvSpPr/>
          <p:nvPr/>
        </p:nvSpPr>
        <p:spPr>
          <a:xfrm>
            <a:off x="1554480" y="5029200"/>
            <a:ext cx="5029200" cy="365760"/>
          </a:xfrm>
          <a:prstGeom prst="rect">
            <a:avLst/>
          </a:prstGeom>
          <a:noFill/>
          <a:ln/>
        </p:spPr>
        <p:txBody>
          <a:bodyPr wrap="square" lIns="0" tIns="0" rIns="0" bIns="0" rtlCol="0" anchor="ctr"/>
          <a:lstStyle/>
          <a:p>
            <a:pPr indent="0" marL="0">
              <a:buNone/>
            </a:pPr>
            <a:r>
              <a:rPr lang="en-US" sz="1700" b="1" dirty="0">
                <a:solidFill>
                  <a:srgbClr val="0A2540"/>
                </a:solidFill>
                <a:latin typeface="Calibri" pitchFamily="34" charset="0"/>
                <a:ea typeface="Calibri" pitchFamily="34" charset="-122"/>
                <a:cs typeface="Calibri" pitchFamily="34" charset="-120"/>
              </a:rPr>
              <a:t>Q&amp;A</a:t>
            </a:r>
            <a:endParaRPr lang="en-US" sz="1700" dirty="0"/>
          </a:p>
        </p:txBody>
      </p:sp>
      <p:sp>
        <p:nvSpPr>
          <p:cNvPr id="28" name="Text 26"/>
          <p:cNvSpPr/>
          <p:nvPr/>
        </p:nvSpPr>
        <p:spPr>
          <a:xfrm>
            <a:off x="1554480" y="5358384"/>
            <a:ext cx="10058400" cy="320040"/>
          </a:xfrm>
          <a:prstGeom prst="rect">
            <a:avLst/>
          </a:prstGeom>
          <a:noFill/>
          <a:ln/>
        </p:spPr>
        <p:txBody>
          <a:bodyPr wrap="square" lIns="0" tIns="0" rIns="0" bIns="0" rtlCol="0" anchor="ctr"/>
          <a:lstStyle/>
          <a:p>
            <a:pPr indent="0" marL="0">
              <a:buNone/>
            </a:pPr>
            <a:r>
              <a:rPr lang="en-US" sz="1200" i="1" dirty="0">
                <a:solidFill>
                  <a:srgbClr val="5A6473"/>
                </a:solidFill>
                <a:latin typeface="Calibri" pitchFamily="34" charset="0"/>
                <a:ea typeface="Calibri" pitchFamily="34" charset="-122"/>
                <a:cs typeface="Calibri" pitchFamily="34" charset="-120"/>
              </a:rPr>
              <a:t>Open evaluation</a:t>
            </a:r>
            <a:endParaRPr lang="en-US" sz="1200" dirty="0"/>
          </a:p>
        </p:txBody>
      </p:sp>
      <p:sp>
        <p:nvSpPr>
          <p:cNvPr id="29" name="Text 27"/>
          <p:cNvSpPr/>
          <p:nvPr/>
        </p:nvSpPr>
        <p:spPr>
          <a:xfrm>
            <a:off x="457200" y="6537960"/>
            <a:ext cx="7315200" cy="228600"/>
          </a:xfrm>
          <a:prstGeom prst="rect">
            <a:avLst/>
          </a:prstGeom>
          <a:noFill/>
          <a:ln/>
        </p:spPr>
        <p:txBody>
          <a:bodyPr wrap="square" rtlCol="0" anchor="ctr"/>
          <a:lstStyle/>
          <a:p>
            <a:pPr indent="0" marL="0">
              <a:buNone/>
            </a:pPr>
            <a:r>
              <a:rPr lang="en-US" sz="900" dirty="0">
                <a:solidFill>
                  <a:srgbClr val="5A6473"/>
                </a:solidFill>
                <a:latin typeface="Calibri" pitchFamily="34" charset="0"/>
                <a:ea typeface="Calibri" pitchFamily="34" charset="-122"/>
                <a:cs typeface="Calibri" pitchFamily="34" charset="-120"/>
              </a:rPr>
              <a:t>ENMR602 · SIP Ball Classification · Tutorial 10</a:t>
            </a:r>
            <a:endParaRPr lang="en-US" sz="900" dirty="0"/>
          </a:p>
        </p:txBody>
      </p:sp>
      <p:sp>
        <p:nvSpPr>
          <p:cNvPr id="30" name="Text 28"/>
          <p:cNvSpPr/>
          <p:nvPr/>
        </p:nvSpPr>
        <p:spPr>
          <a:xfrm>
            <a:off x="8961120" y="6537960"/>
            <a:ext cx="2743200" cy="228600"/>
          </a:xfrm>
          <a:prstGeom prst="rect">
            <a:avLst/>
          </a:prstGeom>
          <a:noFill/>
          <a:ln/>
        </p:spPr>
        <p:txBody>
          <a:bodyPr wrap="square" rtlCol="0" anchor="ctr"/>
          <a:lstStyle/>
          <a:p>
            <a:pPr algn="r" indent="0" marL="0">
              <a:buNone/>
            </a:pPr>
            <a:r>
              <a:rPr lang="en-US" sz="900" b="1" dirty="0">
                <a:solidFill>
                  <a:srgbClr val="5A6473"/>
                </a:solidFill>
                <a:latin typeface="Calibri" pitchFamily="34" charset="0"/>
                <a:ea typeface="Calibri" pitchFamily="34" charset="-122"/>
                <a:cs typeface="Calibri" pitchFamily="34" charset="-120"/>
              </a:rPr>
              <a:t>Agenda</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502920"/>
          </a:xfrm>
          <a:prstGeom prst="rect">
            <a:avLst/>
          </a:prstGeom>
          <a:solidFill>
            <a:srgbClr val="F4A23C"/>
          </a:solidFill>
          <a:ln w="12700">
            <a:solidFill>
              <a:srgbClr val="F4A23C"/>
            </a:solidFill>
            <a:prstDash val="solid"/>
          </a:ln>
        </p:spPr>
      </p:sp>
      <p:sp>
        <p:nvSpPr>
          <p:cNvPr id="3" name="Text 1"/>
          <p:cNvSpPr/>
          <p:nvPr/>
        </p:nvSpPr>
        <p:spPr>
          <a:xfrm>
            <a:off x="685800" y="320040"/>
            <a:ext cx="11018520" cy="640080"/>
          </a:xfrm>
          <a:prstGeom prst="rect">
            <a:avLst/>
          </a:prstGeom>
          <a:noFill/>
          <a:ln/>
        </p:spPr>
        <p:txBody>
          <a:bodyPr wrap="square" lIns="0" tIns="0" rIns="0" bIns="0" rtlCol="0" anchor="ctr"/>
          <a:lstStyle/>
          <a:p>
            <a:pPr indent="0" marL="0">
              <a:buNone/>
            </a:pPr>
            <a:r>
              <a:rPr lang="en-US" sz="2800" b="1" dirty="0">
                <a:solidFill>
                  <a:srgbClr val="0A2540"/>
                </a:solidFill>
                <a:latin typeface="Calibri" pitchFamily="34" charset="0"/>
                <a:ea typeface="Calibri" pitchFamily="34" charset="-122"/>
                <a:cs typeface="Calibri" pitchFamily="34" charset="-120"/>
              </a:rPr>
              <a:t>Problem Statement</a:t>
            </a:r>
            <a:endParaRPr lang="en-US" sz="2800" dirty="0"/>
          </a:p>
        </p:txBody>
      </p:sp>
      <p:sp>
        <p:nvSpPr>
          <p:cNvPr id="4" name="Text 2"/>
          <p:cNvSpPr/>
          <p:nvPr/>
        </p:nvSpPr>
        <p:spPr>
          <a:xfrm>
            <a:off x="685800" y="914400"/>
            <a:ext cx="11018520" cy="320040"/>
          </a:xfrm>
          <a:prstGeom prst="rect">
            <a:avLst/>
          </a:prstGeom>
          <a:noFill/>
          <a:ln/>
        </p:spPr>
        <p:txBody>
          <a:bodyPr wrap="square" lIns="0" tIns="0" rIns="0" bIns="0" rtlCol="0" anchor="ctr"/>
          <a:lstStyle/>
          <a:p>
            <a:pPr indent="0" marL="0">
              <a:buNone/>
            </a:pPr>
            <a:r>
              <a:rPr lang="en-US" sz="1400" i="1" dirty="0">
                <a:solidFill>
                  <a:srgbClr val="5A6473"/>
                </a:solidFill>
                <a:latin typeface="Calibri" pitchFamily="34" charset="0"/>
                <a:ea typeface="Calibri" pitchFamily="34" charset="-122"/>
                <a:cs typeface="Calibri" pitchFamily="34" charset="-120"/>
              </a:rPr>
              <a:t>Classify a single ball in an RGB image into one of six classes</a:t>
            </a:r>
            <a:endParaRPr lang="en-US" sz="1400" dirty="0"/>
          </a:p>
        </p:txBody>
      </p:sp>
      <p:sp>
        <p:nvSpPr>
          <p:cNvPr id="5" name="Shape 3"/>
          <p:cNvSpPr/>
          <p:nvPr/>
        </p:nvSpPr>
        <p:spPr>
          <a:xfrm>
            <a:off x="457200" y="1554480"/>
            <a:ext cx="5029200" cy="4572000"/>
          </a:xfrm>
          <a:prstGeom prst="rect">
            <a:avLst/>
          </a:prstGeom>
          <a:solidFill>
            <a:srgbClr val="F4F6F9"/>
          </a:solidFill>
          <a:ln w="12700">
            <a:solidFill>
              <a:srgbClr val="D6DBE3"/>
            </a:solidFill>
            <a:prstDash val="solid"/>
          </a:ln>
        </p:spPr>
      </p:sp>
      <p:sp>
        <p:nvSpPr>
          <p:cNvPr id="6" name="Text 4"/>
          <p:cNvSpPr/>
          <p:nvPr/>
        </p:nvSpPr>
        <p:spPr>
          <a:xfrm>
            <a:off x="685800" y="1737360"/>
            <a:ext cx="4572000" cy="365760"/>
          </a:xfrm>
          <a:prstGeom prst="rect">
            <a:avLst/>
          </a:prstGeom>
          <a:noFill/>
          <a:ln/>
        </p:spPr>
        <p:txBody>
          <a:bodyPr wrap="square" lIns="0" tIns="0" rIns="0" bIns="0" rtlCol="0" anchor="ctr"/>
          <a:lstStyle/>
          <a:p>
            <a:pPr indent="0" marL="0">
              <a:buNone/>
            </a:pPr>
            <a:r>
              <a:rPr lang="en-US" sz="1600" b="1" dirty="0">
                <a:solidFill>
                  <a:srgbClr val="0A2540"/>
                </a:solidFill>
                <a:latin typeface="Calibri" pitchFamily="34" charset="0"/>
                <a:ea typeface="Calibri" pitchFamily="34" charset="-122"/>
                <a:cs typeface="Calibri" pitchFamily="34" charset="-120"/>
              </a:rPr>
              <a:t>Input → Output</a:t>
            </a:r>
            <a:endParaRPr lang="en-US" sz="1600" dirty="0"/>
          </a:p>
        </p:txBody>
      </p:sp>
      <p:sp>
        <p:nvSpPr>
          <p:cNvPr id="7" name="Text 5"/>
          <p:cNvSpPr/>
          <p:nvPr/>
        </p:nvSpPr>
        <p:spPr>
          <a:xfrm>
            <a:off x="685800" y="2148840"/>
            <a:ext cx="4572000" cy="1280160"/>
          </a:xfrm>
          <a:prstGeom prst="rect">
            <a:avLst/>
          </a:prstGeom>
          <a:noFill/>
          <a:ln/>
        </p:spPr>
        <p:txBody>
          <a:bodyPr wrap="square" lIns="0" tIns="0" rIns="0" bIns="0" rtlCol="0" anchor="ctr"/>
          <a:lstStyle/>
          <a:p>
            <a:pPr indent="0" marL="0">
              <a:buNone/>
            </a:pPr>
            <a:r>
              <a:rPr lang="en-US" sz="1300" b="1" dirty="0">
                <a:solidFill>
                  <a:srgbClr val="0A2540"/>
                </a:solidFill>
                <a:latin typeface="Calibri" pitchFamily="34" charset="0"/>
                <a:ea typeface="Calibri" pitchFamily="34" charset="-122"/>
                <a:cs typeface="Calibri" pitchFamily="34" charset="-120"/>
              </a:rPr>
              <a:t>Input:  </a:t>
            </a:r>
            <a:pPr indent="0" marL="0">
              <a:buNone/>
            </a:pPr>
            <a:r>
              <a:rPr lang="en-US" sz="1300" dirty="0">
                <a:solidFill>
                  <a:srgbClr val="1A1A1A"/>
                </a:solidFill>
                <a:latin typeface="Calibri" pitchFamily="34" charset="0"/>
                <a:ea typeface="Calibri" pitchFamily="34" charset="-122"/>
                <a:cs typeface="Calibri" pitchFamily="34" charset="-120"/>
              </a:rPr>
              <a:t>RGB image, one ball, arbitrary background, lighting &amp; scale</a:t>
            </a:r>
            <a:endParaRPr lang="en-US" sz="1300" dirty="0"/>
          </a:p>
          <a:p>
            <a:pPr indent="0" marL="0">
              <a:buNone/>
            </a:pPr>
            <a:endParaRPr lang="en-US" sz="1300" dirty="0"/>
          </a:p>
          <a:p>
            <a:pPr indent="0" marL="0">
              <a:buNone/>
            </a:pPr>
            <a:r>
              <a:rPr lang="en-US" sz="1300" b="1" dirty="0">
                <a:solidFill>
                  <a:srgbClr val="0A2540"/>
                </a:solidFill>
                <a:latin typeface="Calibri" pitchFamily="34" charset="0"/>
                <a:ea typeface="Calibri" pitchFamily="34" charset="-122"/>
                <a:cs typeface="Calibri" pitchFamily="34" charset="-120"/>
              </a:rPr>
              <a:t>Output: </a:t>
            </a:r>
            <a:pPr indent="0" marL="0">
              <a:buNone/>
            </a:pPr>
            <a:r>
              <a:rPr lang="en-US" sz="1300" dirty="0">
                <a:solidFill>
                  <a:srgbClr val="1A1A1A"/>
                </a:solidFill>
                <a:latin typeface="Calibri" pitchFamily="34" charset="0"/>
                <a:ea typeface="Calibri" pitchFamily="34" charset="-122"/>
                <a:cs typeface="Calibri" pitchFamily="34" charset="-120"/>
              </a:rPr>
              <a:t>One of six class labels</a:t>
            </a:r>
            <a:endParaRPr lang="en-US" sz="1300" dirty="0"/>
          </a:p>
        </p:txBody>
      </p:sp>
      <p:sp>
        <p:nvSpPr>
          <p:cNvPr id="8" name="Text 6"/>
          <p:cNvSpPr/>
          <p:nvPr/>
        </p:nvSpPr>
        <p:spPr>
          <a:xfrm>
            <a:off x="685800" y="3474720"/>
            <a:ext cx="4572000" cy="365760"/>
          </a:xfrm>
          <a:prstGeom prst="rect">
            <a:avLst/>
          </a:prstGeom>
          <a:noFill/>
          <a:ln/>
        </p:spPr>
        <p:txBody>
          <a:bodyPr wrap="square" lIns="0" tIns="0" rIns="0" bIns="0" rtlCol="0" anchor="ctr"/>
          <a:lstStyle/>
          <a:p>
            <a:pPr indent="0" marL="0">
              <a:buNone/>
            </a:pPr>
            <a:r>
              <a:rPr lang="en-US" sz="1600" b="1" dirty="0">
                <a:solidFill>
                  <a:srgbClr val="0A2540"/>
                </a:solidFill>
                <a:latin typeface="Calibri" pitchFamily="34" charset="0"/>
                <a:ea typeface="Calibri" pitchFamily="34" charset="-122"/>
                <a:cs typeface="Calibri" pitchFamily="34" charset="-120"/>
              </a:rPr>
              <a:t>Robustness goals</a:t>
            </a:r>
            <a:endParaRPr lang="en-US" sz="1600" dirty="0"/>
          </a:p>
        </p:txBody>
      </p:sp>
      <p:sp>
        <p:nvSpPr>
          <p:cNvPr id="9" name="Text 7"/>
          <p:cNvSpPr/>
          <p:nvPr/>
        </p:nvSpPr>
        <p:spPr>
          <a:xfrm>
            <a:off x="685800" y="3886200"/>
            <a:ext cx="4572000" cy="146304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Lighting variation (shadows, flash, studio)</a:t>
            </a:r>
            <a:endParaRPr lang="en-US" sz="1200" dirty="0"/>
          </a:p>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Cluttered backgrounds (grass, court, wood)</a:t>
            </a:r>
            <a:endParaRPr lang="en-US" sz="1200" dirty="0"/>
          </a:p>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Scale and viewpoint changes</a:t>
            </a:r>
            <a:endParaRPr lang="en-US" sz="1200" dirty="0"/>
          </a:p>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Reproducible and explainable pipeline</a:t>
            </a:r>
            <a:endParaRPr lang="en-US" sz="1200" dirty="0"/>
          </a:p>
        </p:txBody>
      </p:sp>
      <p:sp>
        <p:nvSpPr>
          <p:cNvPr id="10" name="Shape 8"/>
          <p:cNvSpPr/>
          <p:nvPr/>
        </p:nvSpPr>
        <p:spPr>
          <a:xfrm>
            <a:off x="5852160" y="1554480"/>
            <a:ext cx="1874520" cy="1417320"/>
          </a:xfrm>
          <a:prstGeom prst="rect">
            <a:avLst/>
          </a:prstGeom>
          <a:solidFill>
            <a:srgbClr val="FFFFFF"/>
          </a:solidFill>
          <a:ln w="12700">
            <a:solidFill>
              <a:srgbClr val="D6DBE3"/>
            </a:solidFill>
            <a:prstDash val="solid"/>
          </a:ln>
        </p:spPr>
      </p:sp>
      <p:sp>
        <p:nvSpPr>
          <p:cNvPr id="11" name="Shape 9"/>
          <p:cNvSpPr/>
          <p:nvPr/>
        </p:nvSpPr>
        <p:spPr>
          <a:xfrm>
            <a:off x="5852160" y="1554480"/>
            <a:ext cx="1874520" cy="320040"/>
          </a:xfrm>
          <a:prstGeom prst="rect">
            <a:avLst/>
          </a:prstGeom>
          <a:solidFill>
            <a:srgbClr val="DCEF6A"/>
          </a:solidFill>
          <a:ln w="12700">
            <a:solidFill>
              <a:srgbClr val="DCEF6A"/>
            </a:solidFill>
            <a:prstDash val="solid"/>
          </a:ln>
        </p:spPr>
      </p:sp>
      <p:sp>
        <p:nvSpPr>
          <p:cNvPr id="12" name="Text 10"/>
          <p:cNvSpPr/>
          <p:nvPr/>
        </p:nvSpPr>
        <p:spPr>
          <a:xfrm>
            <a:off x="5943600" y="1920240"/>
            <a:ext cx="1691640" cy="274320"/>
          </a:xfrm>
          <a:prstGeom prst="rect">
            <a:avLst/>
          </a:prstGeom>
          <a:noFill/>
          <a:ln/>
        </p:spPr>
        <p:txBody>
          <a:bodyPr wrap="square" lIns="0" tIns="0" rIns="0" bIns="0" rtlCol="0" anchor="ctr"/>
          <a:lstStyle/>
          <a:p>
            <a:pPr indent="0" marL="0">
              <a:buNone/>
            </a:pPr>
            <a:r>
              <a:rPr lang="en-US" sz="1200" b="1" dirty="0">
                <a:solidFill>
                  <a:srgbClr val="0A2540"/>
                </a:solidFill>
                <a:latin typeface="Calibri" pitchFamily="34" charset="0"/>
                <a:ea typeface="Calibri" pitchFamily="34" charset="-122"/>
                <a:cs typeface="Calibri" pitchFamily="34" charset="-120"/>
              </a:rPr>
              <a:t>Tennis ball</a:t>
            </a:r>
            <a:endParaRPr lang="en-US" sz="1200" dirty="0"/>
          </a:p>
        </p:txBody>
      </p:sp>
      <p:sp>
        <p:nvSpPr>
          <p:cNvPr id="13" name="Text 11"/>
          <p:cNvSpPr/>
          <p:nvPr/>
        </p:nvSpPr>
        <p:spPr>
          <a:xfrm>
            <a:off x="5943600" y="2212848"/>
            <a:ext cx="1691640" cy="731520"/>
          </a:xfrm>
          <a:prstGeom prst="rect">
            <a:avLst/>
          </a:prstGeom>
          <a:noFill/>
          <a:ln/>
        </p:spPr>
        <p:txBody>
          <a:bodyPr wrap="square" lIns="0" tIns="0" rIns="0" bIns="0" rtlCol="0" anchor="ctr"/>
          <a:lstStyle/>
          <a:p>
            <a:pPr indent="0" marL="0">
              <a:buNone/>
            </a:pPr>
            <a:r>
              <a:rPr lang="en-US" sz="1000" b="1" dirty="0">
                <a:solidFill>
                  <a:srgbClr val="5A6473"/>
                </a:solidFill>
                <a:latin typeface="Calibri" pitchFamily="34" charset="0"/>
                <a:ea typeface="Calibri" pitchFamily="34" charset="-122"/>
                <a:cs typeface="Calibri" pitchFamily="34" charset="-120"/>
              </a:rPr>
              <a:t>Hue: </a:t>
            </a:r>
            <a:pPr indent="0" marL="0">
              <a:buNone/>
            </a:pPr>
            <a:r>
              <a:rPr lang="en-US" sz="1000" dirty="0">
                <a:solidFill>
                  <a:srgbClr val="1A1A1A"/>
                </a:solidFill>
                <a:latin typeface="Calibri" pitchFamily="34" charset="0"/>
                <a:ea typeface="Calibri" pitchFamily="34" charset="-122"/>
                <a:cs typeface="Calibri" pitchFamily="34" charset="-120"/>
              </a:rPr>
              <a:t>Yellow-green</a:t>
            </a:r>
            <a:endParaRPr lang="en-US" sz="1000" dirty="0"/>
          </a:p>
          <a:p>
            <a:pPr indent="0" marL="0">
              <a:buNone/>
            </a:pPr>
            <a:r>
              <a:rPr lang="en-US" sz="1000" b="1" dirty="0">
                <a:solidFill>
                  <a:srgbClr val="5A6473"/>
                </a:solidFill>
                <a:latin typeface="Calibri" pitchFamily="34" charset="0"/>
                <a:ea typeface="Calibri" pitchFamily="34" charset="-122"/>
                <a:cs typeface="Calibri" pitchFamily="34" charset="-120"/>
              </a:rPr>
              <a:t>Texture: </a:t>
            </a:r>
            <a:pPr indent="0" marL="0">
              <a:buNone/>
            </a:pPr>
            <a:r>
              <a:rPr lang="en-US" sz="1000" dirty="0">
                <a:solidFill>
                  <a:srgbClr val="1A1A1A"/>
                </a:solidFill>
                <a:latin typeface="Calibri" pitchFamily="34" charset="0"/>
                <a:ea typeface="Calibri" pitchFamily="34" charset="-122"/>
                <a:cs typeface="Calibri" pitchFamily="34" charset="-120"/>
              </a:rPr>
              <a:t>Smooth felt</a:t>
            </a:r>
            <a:endParaRPr lang="en-US" sz="1000" dirty="0"/>
          </a:p>
        </p:txBody>
      </p:sp>
      <p:sp>
        <p:nvSpPr>
          <p:cNvPr id="14" name="Shape 12"/>
          <p:cNvSpPr/>
          <p:nvPr/>
        </p:nvSpPr>
        <p:spPr>
          <a:xfrm>
            <a:off x="7863840" y="1554480"/>
            <a:ext cx="1874520" cy="1417320"/>
          </a:xfrm>
          <a:prstGeom prst="rect">
            <a:avLst/>
          </a:prstGeom>
          <a:solidFill>
            <a:srgbClr val="FFFFFF"/>
          </a:solidFill>
          <a:ln w="12700">
            <a:solidFill>
              <a:srgbClr val="D6DBE3"/>
            </a:solidFill>
            <a:prstDash val="solid"/>
          </a:ln>
        </p:spPr>
      </p:sp>
      <p:sp>
        <p:nvSpPr>
          <p:cNvPr id="15" name="Shape 13"/>
          <p:cNvSpPr/>
          <p:nvPr/>
        </p:nvSpPr>
        <p:spPr>
          <a:xfrm>
            <a:off x="7863840" y="1554480"/>
            <a:ext cx="1874520" cy="320040"/>
          </a:xfrm>
          <a:prstGeom prst="rect">
            <a:avLst/>
          </a:prstGeom>
          <a:solidFill>
            <a:srgbClr val="F5F5F5"/>
          </a:solidFill>
          <a:ln w="12700">
            <a:solidFill>
              <a:srgbClr val="F5F5F5"/>
            </a:solidFill>
            <a:prstDash val="solid"/>
          </a:ln>
        </p:spPr>
      </p:sp>
      <p:sp>
        <p:nvSpPr>
          <p:cNvPr id="16" name="Text 14"/>
          <p:cNvSpPr/>
          <p:nvPr/>
        </p:nvSpPr>
        <p:spPr>
          <a:xfrm>
            <a:off x="7955280" y="1920240"/>
            <a:ext cx="1691640" cy="274320"/>
          </a:xfrm>
          <a:prstGeom prst="rect">
            <a:avLst/>
          </a:prstGeom>
          <a:noFill/>
          <a:ln/>
        </p:spPr>
        <p:txBody>
          <a:bodyPr wrap="square" lIns="0" tIns="0" rIns="0" bIns="0" rtlCol="0" anchor="ctr"/>
          <a:lstStyle/>
          <a:p>
            <a:pPr indent="0" marL="0">
              <a:buNone/>
            </a:pPr>
            <a:r>
              <a:rPr lang="en-US" sz="1200" b="1" dirty="0">
                <a:solidFill>
                  <a:srgbClr val="0A2540"/>
                </a:solidFill>
                <a:latin typeface="Calibri" pitchFamily="34" charset="0"/>
                <a:ea typeface="Calibri" pitchFamily="34" charset="-122"/>
                <a:cs typeface="Calibri" pitchFamily="34" charset="-120"/>
              </a:rPr>
              <a:t>Golf ball</a:t>
            </a:r>
            <a:endParaRPr lang="en-US" sz="1200" dirty="0"/>
          </a:p>
        </p:txBody>
      </p:sp>
      <p:sp>
        <p:nvSpPr>
          <p:cNvPr id="17" name="Text 15"/>
          <p:cNvSpPr/>
          <p:nvPr/>
        </p:nvSpPr>
        <p:spPr>
          <a:xfrm>
            <a:off x="7955280" y="2212848"/>
            <a:ext cx="1691640" cy="731520"/>
          </a:xfrm>
          <a:prstGeom prst="rect">
            <a:avLst/>
          </a:prstGeom>
          <a:noFill/>
          <a:ln/>
        </p:spPr>
        <p:txBody>
          <a:bodyPr wrap="square" lIns="0" tIns="0" rIns="0" bIns="0" rtlCol="0" anchor="ctr"/>
          <a:lstStyle/>
          <a:p>
            <a:pPr indent="0" marL="0">
              <a:buNone/>
            </a:pPr>
            <a:r>
              <a:rPr lang="en-US" sz="1000" b="1" dirty="0">
                <a:solidFill>
                  <a:srgbClr val="5A6473"/>
                </a:solidFill>
                <a:latin typeface="Calibri" pitchFamily="34" charset="0"/>
                <a:ea typeface="Calibri" pitchFamily="34" charset="-122"/>
                <a:cs typeface="Calibri" pitchFamily="34" charset="-120"/>
              </a:rPr>
              <a:t>Hue: </a:t>
            </a:r>
            <a:pPr indent="0" marL="0">
              <a:buNone/>
            </a:pPr>
            <a:r>
              <a:rPr lang="en-US" sz="1000" dirty="0">
                <a:solidFill>
                  <a:srgbClr val="1A1A1A"/>
                </a:solidFill>
                <a:latin typeface="Calibri" pitchFamily="34" charset="0"/>
                <a:ea typeface="Calibri" pitchFamily="34" charset="-122"/>
                <a:cs typeface="Calibri" pitchFamily="34" charset="-120"/>
              </a:rPr>
              <a:t>White</a:t>
            </a:r>
            <a:endParaRPr lang="en-US" sz="1000" dirty="0"/>
          </a:p>
          <a:p>
            <a:pPr indent="0" marL="0">
              <a:buNone/>
            </a:pPr>
            <a:r>
              <a:rPr lang="en-US" sz="1000" b="1" dirty="0">
                <a:solidFill>
                  <a:srgbClr val="5A6473"/>
                </a:solidFill>
                <a:latin typeface="Calibri" pitchFamily="34" charset="0"/>
                <a:ea typeface="Calibri" pitchFamily="34" charset="-122"/>
                <a:cs typeface="Calibri" pitchFamily="34" charset="-120"/>
              </a:rPr>
              <a:t>Texture: </a:t>
            </a:r>
            <a:pPr indent="0" marL="0">
              <a:buNone/>
            </a:pPr>
            <a:r>
              <a:rPr lang="en-US" sz="1000" dirty="0">
                <a:solidFill>
                  <a:srgbClr val="1A1A1A"/>
                </a:solidFill>
                <a:latin typeface="Calibri" pitchFamily="34" charset="0"/>
                <a:ea typeface="Calibri" pitchFamily="34" charset="-122"/>
                <a:cs typeface="Calibri" pitchFamily="34" charset="-120"/>
              </a:rPr>
              <a:t>Dimples</a:t>
            </a:r>
            <a:endParaRPr lang="en-US" sz="1000" dirty="0"/>
          </a:p>
        </p:txBody>
      </p:sp>
      <p:sp>
        <p:nvSpPr>
          <p:cNvPr id="18" name="Shape 16"/>
          <p:cNvSpPr/>
          <p:nvPr/>
        </p:nvSpPr>
        <p:spPr>
          <a:xfrm>
            <a:off x="9875520" y="1554480"/>
            <a:ext cx="1874520" cy="1417320"/>
          </a:xfrm>
          <a:prstGeom prst="rect">
            <a:avLst/>
          </a:prstGeom>
          <a:solidFill>
            <a:srgbClr val="FFFFFF"/>
          </a:solidFill>
          <a:ln w="12700">
            <a:solidFill>
              <a:srgbClr val="D6DBE3"/>
            </a:solidFill>
            <a:prstDash val="solid"/>
          </a:ln>
        </p:spPr>
      </p:sp>
      <p:sp>
        <p:nvSpPr>
          <p:cNvPr id="19" name="Shape 17"/>
          <p:cNvSpPr/>
          <p:nvPr/>
        </p:nvSpPr>
        <p:spPr>
          <a:xfrm>
            <a:off x="9875520" y="1554480"/>
            <a:ext cx="1874520" cy="320040"/>
          </a:xfrm>
          <a:prstGeom prst="rect">
            <a:avLst/>
          </a:prstGeom>
          <a:solidFill>
            <a:srgbClr val="2A2A2A"/>
          </a:solidFill>
          <a:ln w="12700">
            <a:solidFill>
              <a:srgbClr val="2A2A2A"/>
            </a:solidFill>
            <a:prstDash val="solid"/>
          </a:ln>
        </p:spPr>
      </p:sp>
      <p:sp>
        <p:nvSpPr>
          <p:cNvPr id="20" name="Text 18"/>
          <p:cNvSpPr/>
          <p:nvPr/>
        </p:nvSpPr>
        <p:spPr>
          <a:xfrm>
            <a:off x="9966960" y="1920240"/>
            <a:ext cx="1691640" cy="274320"/>
          </a:xfrm>
          <a:prstGeom prst="rect">
            <a:avLst/>
          </a:prstGeom>
          <a:noFill/>
          <a:ln/>
        </p:spPr>
        <p:txBody>
          <a:bodyPr wrap="square" lIns="0" tIns="0" rIns="0" bIns="0" rtlCol="0" anchor="ctr"/>
          <a:lstStyle/>
          <a:p>
            <a:pPr indent="0" marL="0">
              <a:buNone/>
            </a:pPr>
            <a:r>
              <a:rPr lang="en-US" sz="1200" b="1" dirty="0">
                <a:solidFill>
                  <a:srgbClr val="0A2540"/>
                </a:solidFill>
                <a:latin typeface="Calibri" pitchFamily="34" charset="0"/>
                <a:ea typeface="Calibri" pitchFamily="34" charset="-122"/>
                <a:cs typeface="Calibri" pitchFamily="34" charset="-120"/>
              </a:rPr>
              <a:t>Football</a:t>
            </a:r>
            <a:endParaRPr lang="en-US" sz="1200" dirty="0"/>
          </a:p>
        </p:txBody>
      </p:sp>
      <p:sp>
        <p:nvSpPr>
          <p:cNvPr id="21" name="Text 19"/>
          <p:cNvSpPr/>
          <p:nvPr/>
        </p:nvSpPr>
        <p:spPr>
          <a:xfrm>
            <a:off x="9966960" y="2212848"/>
            <a:ext cx="1691640" cy="731520"/>
          </a:xfrm>
          <a:prstGeom prst="rect">
            <a:avLst/>
          </a:prstGeom>
          <a:noFill/>
          <a:ln/>
        </p:spPr>
        <p:txBody>
          <a:bodyPr wrap="square" lIns="0" tIns="0" rIns="0" bIns="0" rtlCol="0" anchor="ctr"/>
          <a:lstStyle/>
          <a:p>
            <a:pPr indent="0" marL="0">
              <a:buNone/>
            </a:pPr>
            <a:r>
              <a:rPr lang="en-US" sz="1000" b="1" dirty="0">
                <a:solidFill>
                  <a:srgbClr val="5A6473"/>
                </a:solidFill>
                <a:latin typeface="Calibri" pitchFamily="34" charset="0"/>
                <a:ea typeface="Calibri" pitchFamily="34" charset="-122"/>
                <a:cs typeface="Calibri" pitchFamily="34" charset="-120"/>
              </a:rPr>
              <a:t>Hue: </a:t>
            </a:r>
            <a:pPr indent="0" marL="0">
              <a:buNone/>
            </a:pPr>
            <a:r>
              <a:rPr lang="en-US" sz="1000" dirty="0">
                <a:solidFill>
                  <a:srgbClr val="1A1A1A"/>
                </a:solidFill>
                <a:latin typeface="Calibri" pitchFamily="34" charset="0"/>
                <a:ea typeface="Calibri" pitchFamily="34" charset="-122"/>
                <a:cs typeface="Calibri" pitchFamily="34" charset="-120"/>
              </a:rPr>
              <a:t>Black + white</a:t>
            </a:r>
            <a:endParaRPr lang="en-US" sz="1000" dirty="0"/>
          </a:p>
          <a:p>
            <a:pPr indent="0" marL="0">
              <a:buNone/>
            </a:pPr>
            <a:r>
              <a:rPr lang="en-US" sz="1000" b="1" dirty="0">
                <a:solidFill>
                  <a:srgbClr val="5A6473"/>
                </a:solidFill>
                <a:latin typeface="Calibri" pitchFamily="34" charset="0"/>
                <a:ea typeface="Calibri" pitchFamily="34" charset="-122"/>
                <a:cs typeface="Calibri" pitchFamily="34" charset="-120"/>
              </a:rPr>
              <a:t>Texture: </a:t>
            </a:r>
            <a:pPr indent="0" marL="0">
              <a:buNone/>
            </a:pPr>
            <a:r>
              <a:rPr lang="en-US" sz="1000" dirty="0">
                <a:solidFill>
                  <a:srgbClr val="1A1A1A"/>
                </a:solidFill>
                <a:latin typeface="Calibri" pitchFamily="34" charset="0"/>
                <a:ea typeface="Calibri" pitchFamily="34" charset="-122"/>
                <a:cs typeface="Calibri" pitchFamily="34" charset="-120"/>
              </a:rPr>
              <a:t>Panel seams</a:t>
            </a:r>
            <a:endParaRPr lang="en-US" sz="1000" dirty="0"/>
          </a:p>
        </p:txBody>
      </p:sp>
      <p:sp>
        <p:nvSpPr>
          <p:cNvPr id="22" name="Shape 20"/>
          <p:cNvSpPr/>
          <p:nvPr/>
        </p:nvSpPr>
        <p:spPr>
          <a:xfrm>
            <a:off x="5852160" y="3108960"/>
            <a:ext cx="1874520" cy="1417320"/>
          </a:xfrm>
          <a:prstGeom prst="rect">
            <a:avLst/>
          </a:prstGeom>
          <a:solidFill>
            <a:srgbClr val="FFFFFF"/>
          </a:solidFill>
          <a:ln w="12700">
            <a:solidFill>
              <a:srgbClr val="D6DBE3"/>
            </a:solidFill>
            <a:prstDash val="solid"/>
          </a:ln>
        </p:spPr>
      </p:sp>
      <p:sp>
        <p:nvSpPr>
          <p:cNvPr id="23" name="Shape 21"/>
          <p:cNvSpPr/>
          <p:nvPr/>
        </p:nvSpPr>
        <p:spPr>
          <a:xfrm>
            <a:off x="5852160" y="3108960"/>
            <a:ext cx="1874520" cy="320040"/>
          </a:xfrm>
          <a:prstGeom prst="rect">
            <a:avLst/>
          </a:prstGeom>
          <a:solidFill>
            <a:srgbClr val="E07A2E"/>
          </a:solidFill>
          <a:ln w="12700">
            <a:solidFill>
              <a:srgbClr val="E07A2E"/>
            </a:solidFill>
            <a:prstDash val="solid"/>
          </a:ln>
        </p:spPr>
      </p:sp>
      <p:sp>
        <p:nvSpPr>
          <p:cNvPr id="24" name="Text 22"/>
          <p:cNvSpPr/>
          <p:nvPr/>
        </p:nvSpPr>
        <p:spPr>
          <a:xfrm>
            <a:off x="5943600" y="3474720"/>
            <a:ext cx="1691640" cy="274320"/>
          </a:xfrm>
          <a:prstGeom prst="rect">
            <a:avLst/>
          </a:prstGeom>
          <a:noFill/>
          <a:ln/>
        </p:spPr>
        <p:txBody>
          <a:bodyPr wrap="square" lIns="0" tIns="0" rIns="0" bIns="0" rtlCol="0" anchor="ctr"/>
          <a:lstStyle/>
          <a:p>
            <a:pPr indent="0" marL="0">
              <a:buNone/>
            </a:pPr>
            <a:r>
              <a:rPr lang="en-US" sz="1200" b="1" dirty="0">
                <a:solidFill>
                  <a:srgbClr val="0A2540"/>
                </a:solidFill>
                <a:latin typeface="Calibri" pitchFamily="34" charset="0"/>
                <a:ea typeface="Calibri" pitchFamily="34" charset="-122"/>
                <a:cs typeface="Calibri" pitchFamily="34" charset="-120"/>
              </a:rPr>
              <a:t>Basketball</a:t>
            </a:r>
            <a:endParaRPr lang="en-US" sz="1200" dirty="0"/>
          </a:p>
        </p:txBody>
      </p:sp>
      <p:sp>
        <p:nvSpPr>
          <p:cNvPr id="25" name="Text 23"/>
          <p:cNvSpPr/>
          <p:nvPr/>
        </p:nvSpPr>
        <p:spPr>
          <a:xfrm>
            <a:off x="5943600" y="3767328"/>
            <a:ext cx="1691640" cy="731520"/>
          </a:xfrm>
          <a:prstGeom prst="rect">
            <a:avLst/>
          </a:prstGeom>
          <a:noFill/>
          <a:ln/>
        </p:spPr>
        <p:txBody>
          <a:bodyPr wrap="square" lIns="0" tIns="0" rIns="0" bIns="0" rtlCol="0" anchor="ctr"/>
          <a:lstStyle/>
          <a:p>
            <a:pPr indent="0" marL="0">
              <a:buNone/>
            </a:pPr>
            <a:r>
              <a:rPr lang="en-US" sz="1000" b="1" dirty="0">
                <a:solidFill>
                  <a:srgbClr val="5A6473"/>
                </a:solidFill>
                <a:latin typeface="Calibri" pitchFamily="34" charset="0"/>
                <a:ea typeface="Calibri" pitchFamily="34" charset="-122"/>
                <a:cs typeface="Calibri" pitchFamily="34" charset="-120"/>
              </a:rPr>
              <a:t>Hue: </a:t>
            </a:r>
            <a:pPr indent="0" marL="0">
              <a:buNone/>
            </a:pPr>
            <a:r>
              <a:rPr lang="en-US" sz="1000" dirty="0">
                <a:solidFill>
                  <a:srgbClr val="1A1A1A"/>
                </a:solidFill>
                <a:latin typeface="Calibri" pitchFamily="34" charset="0"/>
                <a:ea typeface="Calibri" pitchFamily="34" charset="-122"/>
                <a:cs typeface="Calibri" pitchFamily="34" charset="-120"/>
              </a:rPr>
              <a:t>Orange</a:t>
            </a:r>
            <a:endParaRPr lang="en-US" sz="1000" dirty="0"/>
          </a:p>
          <a:p>
            <a:pPr indent="0" marL="0">
              <a:buNone/>
            </a:pPr>
            <a:r>
              <a:rPr lang="en-US" sz="1000" b="1" dirty="0">
                <a:solidFill>
                  <a:srgbClr val="5A6473"/>
                </a:solidFill>
                <a:latin typeface="Calibri" pitchFamily="34" charset="0"/>
                <a:ea typeface="Calibri" pitchFamily="34" charset="-122"/>
                <a:cs typeface="Calibri" pitchFamily="34" charset="-120"/>
              </a:rPr>
              <a:t>Texture: </a:t>
            </a:r>
            <a:pPr indent="0" marL="0">
              <a:buNone/>
            </a:pPr>
            <a:r>
              <a:rPr lang="en-US" sz="1000" dirty="0">
                <a:solidFill>
                  <a:srgbClr val="1A1A1A"/>
                </a:solidFill>
                <a:latin typeface="Calibri" pitchFamily="34" charset="0"/>
                <a:ea typeface="Calibri" pitchFamily="34" charset="-122"/>
                <a:cs typeface="Calibri" pitchFamily="34" charset="-120"/>
              </a:rPr>
              <a:t>Pebbled leather</a:t>
            </a:r>
            <a:endParaRPr lang="en-US" sz="1000" dirty="0"/>
          </a:p>
        </p:txBody>
      </p:sp>
      <p:sp>
        <p:nvSpPr>
          <p:cNvPr id="26" name="Shape 24"/>
          <p:cNvSpPr/>
          <p:nvPr/>
        </p:nvSpPr>
        <p:spPr>
          <a:xfrm>
            <a:off x="7863840" y="3108960"/>
            <a:ext cx="1874520" cy="1417320"/>
          </a:xfrm>
          <a:prstGeom prst="rect">
            <a:avLst/>
          </a:prstGeom>
          <a:solidFill>
            <a:srgbClr val="FFFFFF"/>
          </a:solidFill>
          <a:ln w="12700">
            <a:solidFill>
              <a:srgbClr val="D6DBE3"/>
            </a:solidFill>
            <a:prstDash val="solid"/>
          </a:ln>
        </p:spPr>
      </p:sp>
      <p:sp>
        <p:nvSpPr>
          <p:cNvPr id="27" name="Shape 25"/>
          <p:cNvSpPr/>
          <p:nvPr/>
        </p:nvSpPr>
        <p:spPr>
          <a:xfrm>
            <a:off x="7863840" y="3108960"/>
            <a:ext cx="1874520" cy="320040"/>
          </a:xfrm>
          <a:prstGeom prst="rect">
            <a:avLst/>
          </a:prstGeom>
          <a:solidFill>
            <a:srgbClr val="EEDCC4"/>
          </a:solidFill>
          <a:ln w="12700">
            <a:solidFill>
              <a:srgbClr val="EEDCC4"/>
            </a:solidFill>
            <a:prstDash val="solid"/>
          </a:ln>
        </p:spPr>
      </p:sp>
      <p:sp>
        <p:nvSpPr>
          <p:cNvPr id="28" name="Text 26"/>
          <p:cNvSpPr/>
          <p:nvPr/>
        </p:nvSpPr>
        <p:spPr>
          <a:xfrm>
            <a:off x="7955280" y="3474720"/>
            <a:ext cx="1691640" cy="274320"/>
          </a:xfrm>
          <a:prstGeom prst="rect">
            <a:avLst/>
          </a:prstGeom>
          <a:noFill/>
          <a:ln/>
        </p:spPr>
        <p:txBody>
          <a:bodyPr wrap="square" lIns="0" tIns="0" rIns="0" bIns="0" rtlCol="0" anchor="ctr"/>
          <a:lstStyle/>
          <a:p>
            <a:pPr indent="0" marL="0">
              <a:buNone/>
            </a:pPr>
            <a:r>
              <a:rPr lang="en-US" sz="1200" b="1" dirty="0">
                <a:solidFill>
                  <a:srgbClr val="0A2540"/>
                </a:solidFill>
                <a:latin typeface="Calibri" pitchFamily="34" charset="0"/>
                <a:ea typeface="Calibri" pitchFamily="34" charset="-122"/>
                <a:cs typeface="Calibri" pitchFamily="34" charset="-120"/>
              </a:rPr>
              <a:t>Baseball</a:t>
            </a:r>
            <a:endParaRPr lang="en-US" sz="1200" dirty="0"/>
          </a:p>
        </p:txBody>
      </p:sp>
      <p:sp>
        <p:nvSpPr>
          <p:cNvPr id="29" name="Text 27"/>
          <p:cNvSpPr/>
          <p:nvPr/>
        </p:nvSpPr>
        <p:spPr>
          <a:xfrm>
            <a:off x="7955280" y="3767328"/>
            <a:ext cx="1691640" cy="731520"/>
          </a:xfrm>
          <a:prstGeom prst="rect">
            <a:avLst/>
          </a:prstGeom>
          <a:noFill/>
          <a:ln/>
        </p:spPr>
        <p:txBody>
          <a:bodyPr wrap="square" lIns="0" tIns="0" rIns="0" bIns="0" rtlCol="0" anchor="ctr"/>
          <a:lstStyle/>
          <a:p>
            <a:pPr indent="0" marL="0">
              <a:buNone/>
            </a:pPr>
            <a:r>
              <a:rPr lang="en-US" sz="1000" b="1" dirty="0">
                <a:solidFill>
                  <a:srgbClr val="5A6473"/>
                </a:solidFill>
                <a:latin typeface="Calibri" pitchFamily="34" charset="0"/>
                <a:ea typeface="Calibri" pitchFamily="34" charset="-122"/>
                <a:cs typeface="Calibri" pitchFamily="34" charset="-120"/>
              </a:rPr>
              <a:t>Hue: </a:t>
            </a:r>
            <a:pPr indent="0" marL="0">
              <a:buNone/>
            </a:pPr>
            <a:r>
              <a:rPr lang="en-US" sz="1000" dirty="0">
                <a:solidFill>
                  <a:srgbClr val="1A1A1A"/>
                </a:solidFill>
                <a:latin typeface="Calibri" pitchFamily="34" charset="0"/>
                <a:ea typeface="Calibri" pitchFamily="34" charset="-122"/>
                <a:cs typeface="Calibri" pitchFamily="34" charset="-120"/>
              </a:rPr>
              <a:t>Off-white</a:t>
            </a:r>
            <a:endParaRPr lang="en-US" sz="1000" dirty="0"/>
          </a:p>
          <a:p>
            <a:pPr indent="0" marL="0">
              <a:buNone/>
            </a:pPr>
            <a:r>
              <a:rPr lang="en-US" sz="1000" b="1" dirty="0">
                <a:solidFill>
                  <a:srgbClr val="5A6473"/>
                </a:solidFill>
                <a:latin typeface="Calibri" pitchFamily="34" charset="0"/>
                <a:ea typeface="Calibri" pitchFamily="34" charset="-122"/>
                <a:cs typeface="Calibri" pitchFamily="34" charset="-120"/>
              </a:rPr>
              <a:t>Texture: </a:t>
            </a:r>
            <a:pPr indent="0" marL="0">
              <a:buNone/>
            </a:pPr>
            <a:r>
              <a:rPr lang="en-US" sz="1000" dirty="0">
                <a:solidFill>
                  <a:srgbClr val="1A1A1A"/>
                </a:solidFill>
                <a:latin typeface="Calibri" pitchFamily="34" charset="0"/>
                <a:ea typeface="Calibri" pitchFamily="34" charset="-122"/>
                <a:cs typeface="Calibri" pitchFamily="34" charset="-120"/>
              </a:rPr>
              <a:t>Red stitching</a:t>
            </a:r>
            <a:endParaRPr lang="en-US" sz="1000" dirty="0"/>
          </a:p>
        </p:txBody>
      </p:sp>
      <p:sp>
        <p:nvSpPr>
          <p:cNvPr id="30" name="Shape 28"/>
          <p:cNvSpPr/>
          <p:nvPr/>
        </p:nvSpPr>
        <p:spPr>
          <a:xfrm>
            <a:off x="9875520" y="3108960"/>
            <a:ext cx="1874520" cy="1417320"/>
          </a:xfrm>
          <a:prstGeom prst="rect">
            <a:avLst/>
          </a:prstGeom>
          <a:solidFill>
            <a:srgbClr val="FFFFFF"/>
          </a:solidFill>
          <a:ln w="12700">
            <a:solidFill>
              <a:srgbClr val="D6DBE3"/>
            </a:solidFill>
            <a:prstDash val="solid"/>
          </a:ln>
        </p:spPr>
      </p:sp>
      <p:sp>
        <p:nvSpPr>
          <p:cNvPr id="31" name="Shape 29"/>
          <p:cNvSpPr/>
          <p:nvPr/>
        </p:nvSpPr>
        <p:spPr>
          <a:xfrm>
            <a:off x="9875520" y="3108960"/>
            <a:ext cx="1874520" cy="320040"/>
          </a:xfrm>
          <a:prstGeom prst="rect">
            <a:avLst/>
          </a:prstGeom>
          <a:solidFill>
            <a:srgbClr val="8B4513"/>
          </a:solidFill>
          <a:ln w="12700">
            <a:solidFill>
              <a:srgbClr val="8B4513"/>
            </a:solidFill>
            <a:prstDash val="solid"/>
          </a:ln>
        </p:spPr>
      </p:sp>
      <p:sp>
        <p:nvSpPr>
          <p:cNvPr id="32" name="Text 30"/>
          <p:cNvSpPr/>
          <p:nvPr/>
        </p:nvSpPr>
        <p:spPr>
          <a:xfrm>
            <a:off x="9966960" y="3474720"/>
            <a:ext cx="1691640" cy="274320"/>
          </a:xfrm>
          <a:prstGeom prst="rect">
            <a:avLst/>
          </a:prstGeom>
          <a:noFill/>
          <a:ln/>
        </p:spPr>
        <p:txBody>
          <a:bodyPr wrap="square" lIns="0" tIns="0" rIns="0" bIns="0" rtlCol="0" anchor="ctr"/>
          <a:lstStyle/>
          <a:p>
            <a:pPr indent="0" marL="0">
              <a:buNone/>
            </a:pPr>
            <a:r>
              <a:rPr lang="en-US" sz="1200" b="1" dirty="0">
                <a:solidFill>
                  <a:srgbClr val="0A2540"/>
                </a:solidFill>
                <a:latin typeface="Calibri" pitchFamily="34" charset="0"/>
                <a:ea typeface="Calibri" pitchFamily="34" charset="-122"/>
                <a:cs typeface="Calibri" pitchFamily="34" charset="-120"/>
              </a:rPr>
              <a:t>American football</a:t>
            </a:r>
            <a:endParaRPr lang="en-US" sz="1200" dirty="0"/>
          </a:p>
        </p:txBody>
      </p:sp>
      <p:sp>
        <p:nvSpPr>
          <p:cNvPr id="33" name="Text 31"/>
          <p:cNvSpPr/>
          <p:nvPr/>
        </p:nvSpPr>
        <p:spPr>
          <a:xfrm>
            <a:off x="9966960" y="3767328"/>
            <a:ext cx="1691640" cy="731520"/>
          </a:xfrm>
          <a:prstGeom prst="rect">
            <a:avLst/>
          </a:prstGeom>
          <a:noFill/>
          <a:ln/>
        </p:spPr>
        <p:txBody>
          <a:bodyPr wrap="square" lIns="0" tIns="0" rIns="0" bIns="0" rtlCol="0" anchor="ctr"/>
          <a:lstStyle/>
          <a:p>
            <a:pPr indent="0" marL="0">
              <a:buNone/>
            </a:pPr>
            <a:r>
              <a:rPr lang="en-US" sz="1000" b="1" dirty="0">
                <a:solidFill>
                  <a:srgbClr val="5A6473"/>
                </a:solidFill>
                <a:latin typeface="Calibri" pitchFamily="34" charset="0"/>
                <a:ea typeface="Calibri" pitchFamily="34" charset="-122"/>
                <a:cs typeface="Calibri" pitchFamily="34" charset="-120"/>
              </a:rPr>
              <a:t>Hue: </a:t>
            </a:r>
            <a:pPr indent="0" marL="0">
              <a:buNone/>
            </a:pPr>
            <a:r>
              <a:rPr lang="en-US" sz="1000" dirty="0">
                <a:solidFill>
                  <a:srgbClr val="1A1A1A"/>
                </a:solidFill>
                <a:latin typeface="Calibri" pitchFamily="34" charset="0"/>
                <a:ea typeface="Calibri" pitchFamily="34" charset="-122"/>
                <a:cs typeface="Calibri" pitchFamily="34" charset="-120"/>
              </a:rPr>
              <a:t>Brown</a:t>
            </a:r>
            <a:endParaRPr lang="en-US" sz="1000" dirty="0"/>
          </a:p>
          <a:p>
            <a:pPr indent="0" marL="0">
              <a:buNone/>
            </a:pPr>
            <a:r>
              <a:rPr lang="en-US" sz="1000" b="1" dirty="0">
                <a:solidFill>
                  <a:srgbClr val="5A6473"/>
                </a:solidFill>
                <a:latin typeface="Calibri" pitchFamily="34" charset="0"/>
                <a:ea typeface="Calibri" pitchFamily="34" charset="-122"/>
                <a:cs typeface="Calibri" pitchFamily="34" charset="-120"/>
              </a:rPr>
              <a:t>Texture: </a:t>
            </a:r>
            <a:pPr indent="0" marL="0">
              <a:buNone/>
            </a:pPr>
            <a:r>
              <a:rPr lang="en-US" sz="1000" dirty="0">
                <a:solidFill>
                  <a:srgbClr val="1A1A1A"/>
                </a:solidFill>
                <a:latin typeface="Calibri" pitchFamily="34" charset="0"/>
                <a:ea typeface="Calibri" pitchFamily="34" charset="-122"/>
                <a:cs typeface="Calibri" pitchFamily="34" charset="-120"/>
              </a:rPr>
              <a:t>Lace stitching</a:t>
            </a:r>
            <a:endParaRPr lang="en-US" sz="1000" dirty="0"/>
          </a:p>
        </p:txBody>
      </p:sp>
      <p:sp>
        <p:nvSpPr>
          <p:cNvPr id="34" name="Text 32"/>
          <p:cNvSpPr/>
          <p:nvPr/>
        </p:nvSpPr>
        <p:spPr>
          <a:xfrm>
            <a:off x="5852160" y="4754880"/>
            <a:ext cx="5943600" cy="274320"/>
          </a:xfrm>
          <a:prstGeom prst="rect">
            <a:avLst/>
          </a:prstGeom>
          <a:noFill/>
          <a:ln/>
        </p:spPr>
        <p:txBody>
          <a:bodyPr wrap="square" lIns="0" tIns="0" rIns="0" bIns="0" rtlCol="0" anchor="ctr"/>
          <a:lstStyle/>
          <a:p>
            <a:pPr indent="0" marL="0">
              <a:buNone/>
            </a:pPr>
            <a:r>
              <a:rPr lang="en-US" sz="1300" b="1" dirty="0">
                <a:solidFill>
                  <a:srgbClr val="0A2540"/>
                </a:solidFill>
                <a:latin typeface="Calibri" pitchFamily="34" charset="0"/>
                <a:ea typeface="Calibri" pitchFamily="34" charset="-122"/>
                <a:cs typeface="Calibri" pitchFamily="34" charset="-120"/>
              </a:rPr>
              <a:t>Three discriminative axes:</a:t>
            </a:r>
            <a:endParaRPr lang="en-US" sz="1300" dirty="0"/>
          </a:p>
        </p:txBody>
      </p:sp>
      <p:sp>
        <p:nvSpPr>
          <p:cNvPr id="35" name="Text 33"/>
          <p:cNvSpPr/>
          <p:nvPr/>
        </p:nvSpPr>
        <p:spPr>
          <a:xfrm>
            <a:off x="5852160" y="5074920"/>
            <a:ext cx="5943600" cy="365760"/>
          </a:xfrm>
          <a:prstGeom prst="rect">
            <a:avLst/>
          </a:prstGeom>
          <a:noFill/>
          <a:ln/>
        </p:spPr>
        <p:txBody>
          <a:bodyPr wrap="square" lIns="0" tIns="0" rIns="0" bIns="0" rtlCol="0" anchor="ctr"/>
          <a:lstStyle/>
          <a:p>
            <a:pPr indent="0" marL="0">
              <a:buNone/>
            </a:pPr>
            <a:r>
              <a:rPr lang="en-US" sz="1300" b="1" dirty="0">
                <a:solidFill>
                  <a:srgbClr val="F4A23C"/>
                </a:solidFill>
                <a:latin typeface="Calibri" pitchFamily="34" charset="0"/>
                <a:ea typeface="Calibri" pitchFamily="34" charset="-122"/>
                <a:cs typeface="Calibri" pitchFamily="34" charset="-120"/>
              </a:rPr>
              <a:t>Colour </a:t>
            </a:r>
            <a:pPr indent="0" marL="0">
              <a:buNone/>
            </a:pPr>
            <a:r>
              <a:rPr lang="en-US" sz="1300" dirty="0">
                <a:solidFill>
                  <a:srgbClr val="5A6473"/>
                </a:solidFill>
                <a:latin typeface="Calibri" pitchFamily="34" charset="0"/>
                <a:ea typeface="Calibri" pitchFamily="34" charset="-122"/>
                <a:cs typeface="Calibri" pitchFamily="34" charset="-120"/>
              </a:rPr>
              <a:t>·  </a:t>
            </a:r>
            <a:pPr indent="0" marL="0">
              <a:buNone/>
            </a:pPr>
            <a:r>
              <a:rPr lang="en-US" sz="1300" b="1" dirty="0">
                <a:solidFill>
                  <a:srgbClr val="F4A23C"/>
                </a:solidFill>
                <a:latin typeface="Calibri" pitchFamily="34" charset="0"/>
                <a:ea typeface="Calibri" pitchFamily="34" charset="-122"/>
                <a:cs typeface="Calibri" pitchFamily="34" charset="-120"/>
              </a:rPr>
              <a:t>Texture </a:t>
            </a:r>
            <a:pPr indent="0" marL="0">
              <a:buNone/>
            </a:pPr>
            <a:r>
              <a:rPr lang="en-US" sz="1300" dirty="0">
                <a:solidFill>
                  <a:srgbClr val="5A6473"/>
                </a:solidFill>
                <a:latin typeface="Calibri" pitchFamily="34" charset="0"/>
                <a:ea typeface="Calibri" pitchFamily="34" charset="-122"/>
                <a:cs typeface="Calibri" pitchFamily="34" charset="-120"/>
              </a:rPr>
              <a:t>·  </a:t>
            </a:r>
            <a:pPr indent="0" marL="0">
              <a:buNone/>
            </a:pPr>
            <a:r>
              <a:rPr lang="en-US" sz="1300" b="1" dirty="0">
                <a:solidFill>
                  <a:srgbClr val="F4A23C"/>
                </a:solidFill>
                <a:latin typeface="Calibri" pitchFamily="34" charset="0"/>
                <a:ea typeface="Calibri" pitchFamily="34" charset="-122"/>
                <a:cs typeface="Calibri" pitchFamily="34" charset="-120"/>
              </a:rPr>
              <a:t>Shape</a:t>
            </a:r>
            <a:pPr indent="0" marL="0">
              <a:buNone/>
            </a:pPr>
            <a:r>
              <a:rPr lang="en-US" sz="1300" i="1" dirty="0">
                <a:solidFill>
                  <a:srgbClr val="1A1A1A"/>
                </a:solidFill>
                <a:latin typeface="Calibri" pitchFamily="34" charset="0"/>
                <a:ea typeface="Calibri" pitchFamily="34" charset="-122"/>
                <a:cs typeface="Calibri" pitchFamily="34" charset="-120"/>
              </a:rPr>
              <a:t>  →  these three motivate our entire feature design.</a:t>
            </a:r>
            <a:endParaRPr lang="en-US" sz="1300" dirty="0"/>
          </a:p>
        </p:txBody>
      </p:sp>
      <p:sp>
        <p:nvSpPr>
          <p:cNvPr id="36" name="Text 34"/>
          <p:cNvSpPr/>
          <p:nvPr/>
        </p:nvSpPr>
        <p:spPr>
          <a:xfrm>
            <a:off x="457200" y="6537960"/>
            <a:ext cx="7315200" cy="228600"/>
          </a:xfrm>
          <a:prstGeom prst="rect">
            <a:avLst/>
          </a:prstGeom>
          <a:noFill/>
          <a:ln/>
        </p:spPr>
        <p:txBody>
          <a:bodyPr wrap="square" rtlCol="0" anchor="ctr"/>
          <a:lstStyle/>
          <a:p>
            <a:pPr indent="0" marL="0">
              <a:buNone/>
            </a:pPr>
            <a:r>
              <a:rPr lang="en-US" sz="900" dirty="0">
                <a:solidFill>
                  <a:srgbClr val="5A6473"/>
                </a:solidFill>
                <a:latin typeface="Calibri" pitchFamily="34" charset="0"/>
                <a:ea typeface="Calibri" pitchFamily="34" charset="-122"/>
                <a:cs typeface="Calibri" pitchFamily="34" charset="-120"/>
              </a:rPr>
              <a:t>ENMR602 · SIP Ball Classification · Tutorial 10</a:t>
            </a:r>
            <a:endParaRPr lang="en-US" sz="900" dirty="0"/>
          </a:p>
        </p:txBody>
      </p:sp>
      <p:sp>
        <p:nvSpPr>
          <p:cNvPr id="37" name="Text 35"/>
          <p:cNvSpPr/>
          <p:nvPr/>
        </p:nvSpPr>
        <p:spPr>
          <a:xfrm>
            <a:off x="8961120" y="6537960"/>
            <a:ext cx="2743200" cy="228600"/>
          </a:xfrm>
          <a:prstGeom prst="rect">
            <a:avLst/>
          </a:prstGeom>
          <a:noFill/>
          <a:ln/>
        </p:spPr>
        <p:txBody>
          <a:bodyPr wrap="square" rtlCol="0" anchor="ctr"/>
          <a:lstStyle/>
          <a:p>
            <a:pPr algn="r" indent="0" marL="0">
              <a:buNone/>
            </a:pPr>
            <a:r>
              <a:rPr lang="en-US" sz="900" b="1" dirty="0">
                <a:solidFill>
                  <a:srgbClr val="5A6473"/>
                </a:solidFill>
                <a:latin typeface="Calibri" pitchFamily="34" charset="0"/>
                <a:ea typeface="Calibri" pitchFamily="34" charset="-122"/>
                <a:cs typeface="Calibri" pitchFamily="34" charset="-120"/>
              </a:rPr>
              <a:t>Overview</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502920"/>
          </a:xfrm>
          <a:prstGeom prst="rect">
            <a:avLst/>
          </a:prstGeom>
          <a:solidFill>
            <a:srgbClr val="F4A23C"/>
          </a:solidFill>
          <a:ln w="12700">
            <a:solidFill>
              <a:srgbClr val="F4A23C"/>
            </a:solidFill>
            <a:prstDash val="solid"/>
          </a:ln>
        </p:spPr>
      </p:sp>
      <p:sp>
        <p:nvSpPr>
          <p:cNvPr id="3" name="Text 1"/>
          <p:cNvSpPr/>
          <p:nvPr/>
        </p:nvSpPr>
        <p:spPr>
          <a:xfrm>
            <a:off x="685800" y="320040"/>
            <a:ext cx="11018520" cy="640080"/>
          </a:xfrm>
          <a:prstGeom prst="rect">
            <a:avLst/>
          </a:prstGeom>
          <a:noFill/>
          <a:ln/>
        </p:spPr>
        <p:txBody>
          <a:bodyPr wrap="square" lIns="0" tIns="0" rIns="0" bIns="0" rtlCol="0" anchor="ctr"/>
          <a:lstStyle/>
          <a:p>
            <a:pPr indent="0" marL="0">
              <a:buNone/>
            </a:pPr>
            <a:r>
              <a:rPr lang="en-US" sz="2800" b="1" dirty="0">
                <a:solidFill>
                  <a:srgbClr val="0A2540"/>
                </a:solidFill>
                <a:latin typeface="Calibri" pitchFamily="34" charset="0"/>
                <a:ea typeface="Calibri" pitchFamily="34" charset="-122"/>
                <a:cs typeface="Calibri" pitchFamily="34" charset="-120"/>
              </a:rPr>
              <a:t>Dataset</a:t>
            </a:r>
            <a:endParaRPr lang="en-US" sz="2800" dirty="0"/>
          </a:p>
        </p:txBody>
      </p:sp>
      <p:sp>
        <p:nvSpPr>
          <p:cNvPr id="4" name="Text 2"/>
          <p:cNvSpPr/>
          <p:nvPr/>
        </p:nvSpPr>
        <p:spPr>
          <a:xfrm>
            <a:off x="685800" y="914400"/>
            <a:ext cx="11018520" cy="320040"/>
          </a:xfrm>
          <a:prstGeom prst="rect">
            <a:avLst/>
          </a:prstGeom>
          <a:noFill/>
          <a:ln/>
        </p:spPr>
        <p:txBody>
          <a:bodyPr wrap="square" lIns="0" tIns="0" rIns="0" bIns="0" rtlCol="0" anchor="ctr"/>
          <a:lstStyle/>
          <a:p>
            <a:pPr indent="0" marL="0">
              <a:buNone/>
            </a:pPr>
            <a:r>
              <a:rPr lang="en-US" sz="1400" i="1" dirty="0">
                <a:solidFill>
                  <a:srgbClr val="5A6473"/>
                </a:solidFill>
                <a:latin typeface="Calibri" pitchFamily="34" charset="0"/>
                <a:ea typeface="Calibri" pitchFamily="34" charset="-122"/>
                <a:cs typeface="Calibri" pitchFamily="34" charset="-120"/>
              </a:rPr>
              <a:t>Provided by the course, used as-is</a:t>
            </a:r>
            <a:endParaRPr lang="en-US" sz="1400" dirty="0"/>
          </a:p>
        </p:txBody>
      </p:sp>
      <p:sp>
        <p:nvSpPr>
          <p:cNvPr id="5" name="Shape 3"/>
          <p:cNvSpPr/>
          <p:nvPr/>
        </p:nvSpPr>
        <p:spPr>
          <a:xfrm>
            <a:off x="457200" y="1508760"/>
            <a:ext cx="2743200" cy="1005840"/>
          </a:xfrm>
          <a:prstGeom prst="rect">
            <a:avLst/>
          </a:prstGeom>
          <a:solidFill>
            <a:srgbClr val="0A2540"/>
          </a:solidFill>
          <a:ln w="12700">
            <a:solidFill>
              <a:srgbClr val="0A2540"/>
            </a:solidFill>
            <a:prstDash val="solid"/>
          </a:ln>
        </p:spPr>
      </p:sp>
      <p:sp>
        <p:nvSpPr>
          <p:cNvPr id="6" name="Text 4"/>
          <p:cNvSpPr/>
          <p:nvPr/>
        </p:nvSpPr>
        <p:spPr>
          <a:xfrm>
            <a:off x="457200" y="1600200"/>
            <a:ext cx="2743200" cy="502920"/>
          </a:xfrm>
          <a:prstGeom prst="rect">
            <a:avLst/>
          </a:prstGeom>
          <a:noFill/>
          <a:ln/>
        </p:spPr>
        <p:txBody>
          <a:bodyPr wrap="square" lIns="0" tIns="0" rIns="0" bIns="0" rtlCol="0" anchor="ctr"/>
          <a:lstStyle/>
          <a:p>
            <a:pPr algn="ctr" indent="0" marL="0">
              <a:buNone/>
            </a:pPr>
            <a:r>
              <a:rPr lang="en-US" sz="3600" b="1" dirty="0">
                <a:solidFill>
                  <a:srgbClr val="F4A23C"/>
                </a:solidFill>
                <a:latin typeface="Calibri" pitchFamily="34" charset="0"/>
                <a:ea typeface="Calibri" pitchFamily="34" charset="-122"/>
                <a:cs typeface="Calibri" pitchFamily="34" charset="-120"/>
              </a:rPr>
              <a:t>1,696</a:t>
            </a:r>
            <a:endParaRPr lang="en-US" sz="3600" dirty="0"/>
          </a:p>
        </p:txBody>
      </p:sp>
      <p:sp>
        <p:nvSpPr>
          <p:cNvPr id="7" name="Text 5"/>
          <p:cNvSpPr/>
          <p:nvPr/>
        </p:nvSpPr>
        <p:spPr>
          <a:xfrm>
            <a:off x="457200" y="2103120"/>
            <a:ext cx="2743200" cy="320040"/>
          </a:xfrm>
          <a:prstGeom prst="rect">
            <a:avLst/>
          </a:prstGeom>
          <a:noFill/>
          <a:ln/>
        </p:spPr>
        <p:txBody>
          <a:bodyPr wrap="square" lIns="0" tIns="0" rIns="0" bIns="0"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Total images</a:t>
            </a:r>
            <a:endParaRPr lang="en-US" sz="1200" dirty="0"/>
          </a:p>
        </p:txBody>
      </p:sp>
      <p:sp>
        <p:nvSpPr>
          <p:cNvPr id="8" name="Shape 6"/>
          <p:cNvSpPr/>
          <p:nvPr/>
        </p:nvSpPr>
        <p:spPr>
          <a:xfrm>
            <a:off x="3319272" y="1508760"/>
            <a:ext cx="2743200" cy="1005840"/>
          </a:xfrm>
          <a:prstGeom prst="rect">
            <a:avLst/>
          </a:prstGeom>
          <a:solidFill>
            <a:srgbClr val="0A2540"/>
          </a:solidFill>
          <a:ln w="12700">
            <a:solidFill>
              <a:srgbClr val="0A2540"/>
            </a:solidFill>
            <a:prstDash val="solid"/>
          </a:ln>
        </p:spPr>
      </p:sp>
      <p:sp>
        <p:nvSpPr>
          <p:cNvPr id="9" name="Text 7"/>
          <p:cNvSpPr/>
          <p:nvPr/>
        </p:nvSpPr>
        <p:spPr>
          <a:xfrm>
            <a:off x="3319272" y="1600200"/>
            <a:ext cx="2743200" cy="502920"/>
          </a:xfrm>
          <a:prstGeom prst="rect">
            <a:avLst/>
          </a:prstGeom>
          <a:noFill/>
          <a:ln/>
        </p:spPr>
        <p:txBody>
          <a:bodyPr wrap="square" lIns="0" tIns="0" rIns="0" bIns="0" rtlCol="0" anchor="ctr"/>
          <a:lstStyle/>
          <a:p>
            <a:pPr algn="ctr" indent="0" marL="0">
              <a:buNone/>
            </a:pPr>
            <a:r>
              <a:rPr lang="en-US" sz="3600" b="1" dirty="0">
                <a:solidFill>
                  <a:srgbClr val="F4A23C"/>
                </a:solidFill>
                <a:latin typeface="Calibri" pitchFamily="34" charset="0"/>
                <a:ea typeface="Calibri" pitchFamily="34" charset="-122"/>
                <a:cs typeface="Calibri" pitchFamily="34" charset="-120"/>
              </a:rPr>
              <a:t>1,407</a:t>
            </a:r>
            <a:endParaRPr lang="en-US" sz="3600" dirty="0"/>
          </a:p>
        </p:txBody>
      </p:sp>
      <p:sp>
        <p:nvSpPr>
          <p:cNvPr id="10" name="Text 8"/>
          <p:cNvSpPr/>
          <p:nvPr/>
        </p:nvSpPr>
        <p:spPr>
          <a:xfrm>
            <a:off x="3319272" y="2103120"/>
            <a:ext cx="2743200" cy="320040"/>
          </a:xfrm>
          <a:prstGeom prst="rect">
            <a:avLst/>
          </a:prstGeom>
          <a:noFill/>
          <a:ln/>
        </p:spPr>
        <p:txBody>
          <a:bodyPr wrap="square" lIns="0" tIns="0" rIns="0" bIns="0"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Training set</a:t>
            </a:r>
            <a:endParaRPr lang="en-US" sz="1200" dirty="0"/>
          </a:p>
        </p:txBody>
      </p:sp>
      <p:sp>
        <p:nvSpPr>
          <p:cNvPr id="11" name="Shape 9"/>
          <p:cNvSpPr/>
          <p:nvPr/>
        </p:nvSpPr>
        <p:spPr>
          <a:xfrm>
            <a:off x="6181344" y="1508760"/>
            <a:ext cx="2743200" cy="1005840"/>
          </a:xfrm>
          <a:prstGeom prst="rect">
            <a:avLst/>
          </a:prstGeom>
          <a:solidFill>
            <a:srgbClr val="0A2540"/>
          </a:solidFill>
          <a:ln w="12700">
            <a:solidFill>
              <a:srgbClr val="0A2540"/>
            </a:solidFill>
            <a:prstDash val="solid"/>
          </a:ln>
        </p:spPr>
      </p:sp>
      <p:sp>
        <p:nvSpPr>
          <p:cNvPr id="12" name="Text 10"/>
          <p:cNvSpPr/>
          <p:nvPr/>
        </p:nvSpPr>
        <p:spPr>
          <a:xfrm>
            <a:off x="6181344" y="1600200"/>
            <a:ext cx="2743200" cy="502920"/>
          </a:xfrm>
          <a:prstGeom prst="rect">
            <a:avLst/>
          </a:prstGeom>
          <a:noFill/>
          <a:ln/>
        </p:spPr>
        <p:txBody>
          <a:bodyPr wrap="square" lIns="0" tIns="0" rIns="0" bIns="0" rtlCol="0" anchor="ctr"/>
          <a:lstStyle/>
          <a:p>
            <a:pPr algn="ctr" indent="0" marL="0">
              <a:buNone/>
            </a:pPr>
            <a:r>
              <a:rPr lang="en-US" sz="3600" b="1" dirty="0">
                <a:solidFill>
                  <a:srgbClr val="F4A23C"/>
                </a:solidFill>
                <a:latin typeface="Calibri" pitchFamily="34" charset="0"/>
                <a:ea typeface="Calibri" pitchFamily="34" charset="-122"/>
                <a:cs typeface="Calibri" pitchFamily="34" charset="-120"/>
              </a:rPr>
              <a:t>289</a:t>
            </a:r>
            <a:endParaRPr lang="en-US" sz="3600" dirty="0"/>
          </a:p>
        </p:txBody>
      </p:sp>
      <p:sp>
        <p:nvSpPr>
          <p:cNvPr id="13" name="Text 11"/>
          <p:cNvSpPr/>
          <p:nvPr/>
        </p:nvSpPr>
        <p:spPr>
          <a:xfrm>
            <a:off x="6181344" y="2103120"/>
            <a:ext cx="2743200" cy="320040"/>
          </a:xfrm>
          <a:prstGeom prst="rect">
            <a:avLst/>
          </a:prstGeom>
          <a:noFill/>
          <a:ln/>
        </p:spPr>
        <p:txBody>
          <a:bodyPr wrap="square" lIns="0" tIns="0" rIns="0" bIns="0"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Held-out test set</a:t>
            </a:r>
            <a:endParaRPr lang="en-US" sz="1200" dirty="0"/>
          </a:p>
        </p:txBody>
      </p:sp>
      <p:sp>
        <p:nvSpPr>
          <p:cNvPr id="14" name="Shape 12"/>
          <p:cNvSpPr/>
          <p:nvPr/>
        </p:nvSpPr>
        <p:spPr>
          <a:xfrm>
            <a:off x="9043416" y="1508760"/>
            <a:ext cx="2743200" cy="1005840"/>
          </a:xfrm>
          <a:prstGeom prst="rect">
            <a:avLst/>
          </a:prstGeom>
          <a:solidFill>
            <a:srgbClr val="0A2540"/>
          </a:solidFill>
          <a:ln w="12700">
            <a:solidFill>
              <a:srgbClr val="0A2540"/>
            </a:solidFill>
            <a:prstDash val="solid"/>
          </a:ln>
        </p:spPr>
      </p:sp>
      <p:sp>
        <p:nvSpPr>
          <p:cNvPr id="15" name="Text 13"/>
          <p:cNvSpPr/>
          <p:nvPr/>
        </p:nvSpPr>
        <p:spPr>
          <a:xfrm>
            <a:off x="9043416" y="1600200"/>
            <a:ext cx="2743200" cy="502920"/>
          </a:xfrm>
          <a:prstGeom prst="rect">
            <a:avLst/>
          </a:prstGeom>
          <a:noFill/>
          <a:ln/>
        </p:spPr>
        <p:txBody>
          <a:bodyPr wrap="square" lIns="0" tIns="0" rIns="0" bIns="0" rtlCol="0" anchor="ctr"/>
          <a:lstStyle/>
          <a:p>
            <a:pPr algn="ctr" indent="0" marL="0">
              <a:buNone/>
            </a:pPr>
            <a:r>
              <a:rPr lang="en-US" sz="3600" b="1" dirty="0">
                <a:solidFill>
                  <a:srgbClr val="F4A23C"/>
                </a:solidFill>
                <a:latin typeface="Calibri" pitchFamily="34" charset="0"/>
                <a:ea typeface="Calibri" pitchFamily="34" charset="-122"/>
                <a:cs typeface="Calibri" pitchFamily="34" charset="-120"/>
              </a:rPr>
              <a:t>6</a:t>
            </a:r>
            <a:endParaRPr lang="en-US" sz="3600" dirty="0"/>
          </a:p>
        </p:txBody>
      </p:sp>
      <p:sp>
        <p:nvSpPr>
          <p:cNvPr id="16" name="Text 14"/>
          <p:cNvSpPr/>
          <p:nvPr/>
        </p:nvSpPr>
        <p:spPr>
          <a:xfrm>
            <a:off x="9043416" y="2103120"/>
            <a:ext cx="2743200" cy="320040"/>
          </a:xfrm>
          <a:prstGeom prst="rect">
            <a:avLst/>
          </a:prstGeom>
          <a:noFill/>
          <a:ln/>
        </p:spPr>
        <p:txBody>
          <a:bodyPr wrap="square" lIns="0" tIns="0" rIns="0" bIns="0"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Classes</a:t>
            </a:r>
            <a:endParaRPr lang="en-US" sz="1200" dirty="0"/>
          </a:p>
        </p:txBody>
      </p:sp>
      <p:sp>
        <p:nvSpPr>
          <p:cNvPr id="17" name="Text 15"/>
          <p:cNvSpPr/>
          <p:nvPr/>
        </p:nvSpPr>
        <p:spPr>
          <a:xfrm>
            <a:off x="457200" y="2788920"/>
            <a:ext cx="7315200" cy="320040"/>
          </a:xfrm>
          <a:prstGeom prst="rect">
            <a:avLst/>
          </a:prstGeom>
          <a:noFill/>
          <a:ln/>
        </p:spPr>
        <p:txBody>
          <a:bodyPr wrap="square" lIns="0" tIns="0" rIns="0" bIns="0" rtlCol="0" anchor="ctr"/>
          <a:lstStyle/>
          <a:p>
            <a:pPr indent="0" marL="0">
              <a:buNone/>
            </a:pPr>
            <a:r>
              <a:rPr lang="en-US" sz="1600" b="1" dirty="0">
                <a:solidFill>
                  <a:srgbClr val="0A2540"/>
                </a:solidFill>
                <a:latin typeface="Calibri" pitchFamily="34" charset="0"/>
                <a:ea typeface="Calibri" pitchFamily="34" charset="-122"/>
                <a:cs typeface="Calibri" pitchFamily="34" charset="-120"/>
              </a:rPr>
              <a:t>Per-class distribution</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3154680"/>
          <a:ext cx="5943600" cy="914400"/>
        </p:xfrm>
        <a:graphic>
          <a:graphicData uri="http://schemas.openxmlformats.org/drawingml/2006/table">
            <a:tbl>
              <a:tblPr/>
              <a:tblGrid>
                <a:gridCol w="2286000"/>
                <a:gridCol w="1188720"/>
                <a:gridCol w="1188720"/>
                <a:gridCol w="1280160"/>
              </a:tblGrid>
              <a:tr h="292608">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Class</a:t>
                      </a:r>
                      <a:endParaRPr lang="en-US" sz="110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0A254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Train</a:t>
                      </a:r>
                      <a:endParaRPr lang="en-US" sz="110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0A254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Test</a:t>
                      </a:r>
                      <a:endParaRPr lang="en-US" sz="110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0A2540"/>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Total</a:t>
                      </a:r>
                      <a:endParaRPr lang="en-US" sz="110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0A2540"/>
                    </a:solidFill>
                  </a:tcPr>
                </a:tc>
              </a:tr>
              <a:tr h="292608">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american_football</a:t>
                      </a:r>
                      <a:endParaRPr lang="en-US" sz="110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271</a:t>
                      </a:r>
                      <a:endParaRPr lang="en-US" sz="110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50</a:t>
                      </a:r>
                      <a:endParaRPr lang="en-US" sz="110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321</a:t>
                      </a:r>
                      <a:endParaRPr lang="en-US" sz="110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r>
              <a:tr h="292608">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baseball</a:t>
                      </a:r>
                      <a:endParaRPr lang="en-US" sz="110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237</a:t>
                      </a:r>
                      <a:endParaRPr lang="en-US" sz="110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49</a:t>
                      </a:r>
                      <a:endParaRPr lang="en-US" sz="110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286</a:t>
                      </a:r>
                      <a:endParaRPr lang="en-US" sz="110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r>
              <a:tr h="292608">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basketball</a:t>
                      </a:r>
                      <a:endParaRPr lang="en-US" sz="110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224</a:t>
                      </a:r>
                      <a:endParaRPr lang="en-US" sz="110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50</a:t>
                      </a:r>
                      <a:endParaRPr lang="en-US" sz="110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274</a:t>
                      </a:r>
                      <a:endParaRPr lang="en-US" sz="110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r>
              <a:tr h="292608">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football</a:t>
                      </a:r>
                      <a:endParaRPr lang="en-US" sz="110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212</a:t>
                      </a:r>
                      <a:endParaRPr lang="en-US" sz="110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45</a:t>
                      </a:r>
                      <a:endParaRPr lang="en-US" sz="110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257</a:t>
                      </a:r>
                      <a:endParaRPr lang="en-US" sz="110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r>
              <a:tr h="292608">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golf_ball</a:t>
                      </a:r>
                      <a:endParaRPr lang="en-US" sz="110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212</a:t>
                      </a:r>
                      <a:endParaRPr lang="en-US" sz="110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45</a:t>
                      </a:r>
                      <a:endParaRPr lang="en-US" sz="110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257</a:t>
                      </a:r>
                      <a:endParaRPr lang="en-US" sz="110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r>
              <a:tr h="292608">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tennis_ball</a:t>
                      </a:r>
                      <a:endParaRPr lang="en-US" sz="110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251</a:t>
                      </a:r>
                      <a:endParaRPr lang="en-US" sz="110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50</a:t>
                      </a:r>
                      <a:endParaRPr lang="en-US" sz="110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301</a:t>
                      </a:r>
                      <a:endParaRPr lang="en-US" sz="110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r>
              <a:tr h="292608">
                <a:tc>
                  <a:txBody>
                    <a:bodyPr/>
                    <a:lstStyle/>
                    <a:p>
                      <a:pPr algn="l" indent="0" marL="0">
                        <a:buNone/>
                      </a:pPr>
                      <a:r>
                        <a:rPr lang="en-US" sz="1100" b="1" dirty="0">
                          <a:solidFill>
                            <a:srgbClr val="1A1A1A"/>
                          </a:solidFill>
                          <a:latin typeface="Calibri" pitchFamily="34" charset="0"/>
                          <a:ea typeface="Calibri" pitchFamily="34" charset="-122"/>
                          <a:cs typeface="Calibri" pitchFamily="34" charset="-120"/>
                        </a:rPr>
                        <a:t>TOTAL</a:t>
                      </a:r>
                      <a:endParaRPr lang="en-US" sz="110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9"/>
                    </a:solidFill>
                  </a:tcPr>
                </a:tc>
                <a:tc>
                  <a:txBody>
                    <a:bodyPr/>
                    <a:lstStyle/>
                    <a:p>
                      <a:pPr algn="ctr" indent="0" marL="0">
                        <a:buNone/>
                      </a:pPr>
                      <a:r>
                        <a:rPr lang="en-US" sz="1100" b="1" dirty="0">
                          <a:solidFill>
                            <a:srgbClr val="1A1A1A"/>
                          </a:solidFill>
                          <a:latin typeface="Calibri" pitchFamily="34" charset="0"/>
                          <a:ea typeface="Calibri" pitchFamily="34" charset="-122"/>
                          <a:cs typeface="Calibri" pitchFamily="34" charset="-120"/>
                        </a:rPr>
                        <a:t>1,407</a:t>
                      </a:r>
                      <a:endParaRPr lang="en-US" sz="110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9"/>
                    </a:solidFill>
                  </a:tcPr>
                </a:tc>
                <a:tc>
                  <a:txBody>
                    <a:bodyPr/>
                    <a:lstStyle/>
                    <a:p>
                      <a:pPr algn="ctr" indent="0" marL="0">
                        <a:buNone/>
                      </a:pPr>
                      <a:r>
                        <a:rPr lang="en-US" sz="1100" b="1" dirty="0">
                          <a:solidFill>
                            <a:srgbClr val="1A1A1A"/>
                          </a:solidFill>
                          <a:latin typeface="Calibri" pitchFamily="34" charset="0"/>
                          <a:ea typeface="Calibri" pitchFamily="34" charset="-122"/>
                          <a:cs typeface="Calibri" pitchFamily="34" charset="-120"/>
                        </a:rPr>
                        <a:t>289</a:t>
                      </a:r>
                      <a:endParaRPr lang="en-US" sz="110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9"/>
                    </a:solidFill>
                  </a:tcPr>
                </a:tc>
                <a:tc>
                  <a:txBody>
                    <a:bodyPr/>
                    <a:lstStyle/>
                    <a:p>
                      <a:pPr algn="ctr" indent="0" marL="0">
                        <a:buNone/>
                      </a:pPr>
                      <a:r>
                        <a:rPr lang="en-US" sz="1100" b="1" dirty="0">
                          <a:solidFill>
                            <a:srgbClr val="1A1A1A"/>
                          </a:solidFill>
                          <a:latin typeface="Calibri" pitchFamily="34" charset="0"/>
                          <a:ea typeface="Calibri" pitchFamily="34" charset="-122"/>
                          <a:cs typeface="Calibri" pitchFamily="34" charset="-120"/>
                        </a:rPr>
                        <a:t>1,696</a:t>
                      </a:r>
                      <a:endParaRPr lang="en-US" sz="110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9"/>
                    </a:solidFill>
                  </a:tcPr>
                </a:tc>
              </a:tr>
            </a:tbl>
          </a:graphicData>
        </a:graphic>
      </p:graphicFrame>
      <p:sp>
        <p:nvSpPr>
          <p:cNvPr id="19" name="Shape 16"/>
          <p:cNvSpPr/>
          <p:nvPr/>
        </p:nvSpPr>
        <p:spPr>
          <a:xfrm>
            <a:off x="6858000" y="2788920"/>
            <a:ext cx="4846320" cy="3383280"/>
          </a:xfrm>
          <a:prstGeom prst="rect">
            <a:avLst/>
          </a:prstGeom>
          <a:solidFill>
            <a:srgbClr val="F4F6F9"/>
          </a:solidFill>
          <a:ln w="12700">
            <a:solidFill>
              <a:srgbClr val="D6DBE3"/>
            </a:solidFill>
            <a:prstDash val="solid"/>
          </a:ln>
        </p:spPr>
      </p:sp>
      <p:sp>
        <p:nvSpPr>
          <p:cNvPr id="20" name="Text 17"/>
          <p:cNvSpPr/>
          <p:nvPr/>
        </p:nvSpPr>
        <p:spPr>
          <a:xfrm>
            <a:off x="7040880" y="2926080"/>
            <a:ext cx="4572000" cy="320040"/>
          </a:xfrm>
          <a:prstGeom prst="rect">
            <a:avLst/>
          </a:prstGeom>
          <a:noFill/>
          <a:ln/>
        </p:spPr>
        <p:txBody>
          <a:bodyPr wrap="square" lIns="0" tIns="0" rIns="0" bIns="0" rtlCol="0" anchor="ctr"/>
          <a:lstStyle/>
          <a:p>
            <a:pPr indent="0" marL="0">
              <a:buNone/>
            </a:pPr>
            <a:r>
              <a:rPr lang="en-US" sz="1500" b="1" dirty="0">
                <a:solidFill>
                  <a:srgbClr val="0A2540"/>
                </a:solidFill>
                <a:latin typeface="Calibri" pitchFamily="34" charset="0"/>
                <a:ea typeface="Calibri" pitchFamily="34" charset="-122"/>
                <a:cs typeface="Calibri" pitchFamily="34" charset="-120"/>
              </a:rPr>
              <a:t>Key dataset observations</a:t>
            </a:r>
            <a:endParaRPr lang="en-US" sz="1500" dirty="0"/>
          </a:p>
        </p:txBody>
      </p:sp>
      <p:sp>
        <p:nvSpPr>
          <p:cNvPr id="21" name="Text 18"/>
          <p:cNvSpPr/>
          <p:nvPr/>
        </p:nvSpPr>
        <p:spPr>
          <a:xfrm>
            <a:off x="7040880" y="3291840"/>
            <a:ext cx="4572000" cy="283464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Approximately balanced (212–271 per class) — overall accuracy is a fair metric</a:t>
            </a:r>
            <a:endParaRPr lang="en-US" sz="1100" dirty="0"/>
          </a:p>
          <a:p>
            <a:pPr marL="342900" indent="-342900">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Resolutions range from 150 to 4,160 px wide → all resized to 256×192 (M1, M2) or 256×256 (M3)</a:t>
            </a:r>
            <a:endParaRPr lang="en-US" sz="1100" dirty="0"/>
          </a:p>
          <a:p>
            <a:pPr marL="342900" indent="-342900">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Heterogeneous content: studio cutouts, real photos, watermarked stock, line art, infographics</a:t>
            </a:r>
            <a:endParaRPr lang="en-US" sz="1100" dirty="0"/>
          </a:p>
          <a:p>
            <a:pPr marL="342900" indent="-342900">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Train/test split was preserved exactly as provided — no images moved, edited, or removed</a:t>
            </a:r>
            <a:endParaRPr lang="en-US" sz="1100" dirty="0"/>
          </a:p>
        </p:txBody>
      </p:sp>
      <p:sp>
        <p:nvSpPr>
          <p:cNvPr id="22" name="Text 19"/>
          <p:cNvSpPr/>
          <p:nvPr/>
        </p:nvSpPr>
        <p:spPr>
          <a:xfrm>
            <a:off x="457200" y="6537960"/>
            <a:ext cx="7315200" cy="228600"/>
          </a:xfrm>
          <a:prstGeom prst="rect">
            <a:avLst/>
          </a:prstGeom>
          <a:noFill/>
          <a:ln/>
        </p:spPr>
        <p:txBody>
          <a:bodyPr wrap="square" rtlCol="0" anchor="ctr"/>
          <a:lstStyle/>
          <a:p>
            <a:pPr indent="0" marL="0">
              <a:buNone/>
            </a:pPr>
            <a:r>
              <a:rPr lang="en-US" sz="900" dirty="0">
                <a:solidFill>
                  <a:srgbClr val="5A6473"/>
                </a:solidFill>
                <a:latin typeface="Calibri" pitchFamily="34" charset="0"/>
                <a:ea typeface="Calibri" pitchFamily="34" charset="-122"/>
                <a:cs typeface="Calibri" pitchFamily="34" charset="-120"/>
              </a:rPr>
              <a:t>ENMR602 · SIP Ball Classification · Tutorial 10</a:t>
            </a:r>
            <a:endParaRPr lang="en-US" sz="900" dirty="0"/>
          </a:p>
        </p:txBody>
      </p:sp>
      <p:sp>
        <p:nvSpPr>
          <p:cNvPr id="23" name="Text 20"/>
          <p:cNvSpPr/>
          <p:nvPr/>
        </p:nvSpPr>
        <p:spPr>
          <a:xfrm>
            <a:off x="8961120" y="6537960"/>
            <a:ext cx="2743200" cy="228600"/>
          </a:xfrm>
          <a:prstGeom prst="rect">
            <a:avLst/>
          </a:prstGeom>
          <a:noFill/>
          <a:ln/>
        </p:spPr>
        <p:txBody>
          <a:bodyPr wrap="square" rtlCol="0" anchor="ctr"/>
          <a:lstStyle/>
          <a:p>
            <a:pPr algn="r" indent="0" marL="0">
              <a:buNone/>
            </a:pPr>
            <a:r>
              <a:rPr lang="en-US" sz="900" b="1" dirty="0">
                <a:solidFill>
                  <a:srgbClr val="5A6473"/>
                </a:solidFill>
                <a:latin typeface="Calibri" pitchFamily="34" charset="0"/>
                <a:ea typeface="Calibri" pitchFamily="34" charset="-122"/>
                <a:cs typeface="Calibri" pitchFamily="34" charset="-120"/>
              </a:rPr>
              <a:t>Overview</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4A23C"/>
          </a:solidFill>
          <a:ln w="12700">
            <a:solidFill>
              <a:srgbClr val="F4A23C"/>
            </a:solidFill>
            <a:prstDash val="solid"/>
          </a:ln>
        </p:spPr>
      </p:sp>
      <p:sp>
        <p:nvSpPr>
          <p:cNvPr id="3" name="Text 1"/>
          <p:cNvSpPr/>
          <p:nvPr/>
        </p:nvSpPr>
        <p:spPr>
          <a:xfrm>
            <a:off x="731520" y="1828800"/>
            <a:ext cx="10972800" cy="548640"/>
          </a:xfrm>
          <a:prstGeom prst="rect">
            <a:avLst/>
          </a:prstGeom>
          <a:noFill/>
          <a:ln/>
        </p:spPr>
        <p:txBody>
          <a:bodyPr wrap="square" lIns="0" tIns="0" rIns="0" bIns="0" rtlCol="0" anchor="ctr"/>
          <a:lstStyle/>
          <a:p>
            <a:pPr indent="0" marL="0">
              <a:buNone/>
            </a:pPr>
            <a:r>
              <a:rPr lang="en-US" sz="2200" b="1" spc="800" kern="0" dirty="0">
                <a:solidFill>
                  <a:srgbClr val="F4A23C"/>
                </a:solidFill>
                <a:latin typeface="Calibri" pitchFamily="34" charset="0"/>
                <a:ea typeface="Calibri" pitchFamily="34" charset="-122"/>
                <a:cs typeface="Calibri" pitchFamily="34" charset="-120"/>
              </a:rPr>
              <a:t>MILESTONE 1</a:t>
            </a:r>
            <a:endParaRPr lang="en-US" sz="2200" dirty="0"/>
          </a:p>
        </p:txBody>
      </p:sp>
      <p:sp>
        <p:nvSpPr>
          <p:cNvPr id="4" name="Text 2"/>
          <p:cNvSpPr/>
          <p:nvPr/>
        </p:nvSpPr>
        <p:spPr>
          <a:xfrm>
            <a:off x="731520" y="2468880"/>
            <a:ext cx="1097280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Pipeline Design &amp; Justification</a:t>
            </a:r>
            <a:endParaRPr lang="en-US" sz="4400" dirty="0"/>
          </a:p>
        </p:txBody>
      </p:sp>
      <p:sp>
        <p:nvSpPr>
          <p:cNvPr id="5" name="Text 3"/>
          <p:cNvSpPr/>
          <p:nvPr/>
        </p:nvSpPr>
        <p:spPr>
          <a:xfrm>
            <a:off x="731520" y="3383280"/>
            <a:ext cx="10972800" cy="548640"/>
          </a:xfrm>
          <a:prstGeom prst="rect">
            <a:avLst/>
          </a:prstGeom>
          <a:noFill/>
          <a:ln/>
        </p:spPr>
        <p:txBody>
          <a:bodyPr wrap="square" lIns="0" tIns="0" rIns="0" bIns="0"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Planning phase — no implementation yet. Every choice is justified against the lecture material.</a:t>
            </a:r>
            <a:endParaRPr lang="en-US" sz="1800" dirty="0"/>
          </a:p>
        </p:txBody>
      </p:sp>
      <p:sp>
        <p:nvSpPr>
          <p:cNvPr id="6" name="Shape 4"/>
          <p:cNvSpPr/>
          <p:nvPr/>
        </p:nvSpPr>
        <p:spPr>
          <a:xfrm>
            <a:off x="731520" y="4572000"/>
            <a:ext cx="2606040" cy="822960"/>
          </a:xfrm>
          <a:prstGeom prst="rect">
            <a:avLst/>
          </a:prstGeom>
          <a:solidFill>
            <a:srgbClr val="1E3A5F"/>
          </a:solidFill>
          <a:ln w="12700">
            <a:solidFill>
              <a:srgbClr val="F4A23C"/>
            </a:solidFill>
            <a:prstDash val="solid"/>
          </a:ln>
        </p:spPr>
      </p:sp>
      <p:sp>
        <p:nvSpPr>
          <p:cNvPr id="7" name="Text 5"/>
          <p:cNvSpPr/>
          <p:nvPr/>
        </p:nvSpPr>
        <p:spPr>
          <a:xfrm>
            <a:off x="731520" y="4572000"/>
            <a:ext cx="2606040" cy="411480"/>
          </a:xfrm>
          <a:prstGeom prst="rect">
            <a:avLst/>
          </a:prstGeom>
          <a:noFill/>
          <a:ln/>
        </p:spPr>
        <p:txBody>
          <a:bodyPr wrap="square" lIns="0" tIns="0" rIns="0" bIns="0" rtlCol="0" anchor="ctr"/>
          <a:lstStyle/>
          <a:p>
            <a:pPr algn="ctr" indent="0" marL="0">
              <a:buNone/>
            </a:pPr>
            <a:r>
              <a:rPr lang="en-US" sz="1400" b="1" dirty="0">
                <a:solidFill>
                  <a:srgbClr val="F4A23C"/>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731520" y="4892040"/>
            <a:ext cx="260604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Preprocessing</a:t>
            </a:r>
            <a:endParaRPr lang="en-US" sz="1400" dirty="0"/>
          </a:p>
        </p:txBody>
      </p:sp>
      <p:sp>
        <p:nvSpPr>
          <p:cNvPr id="9" name="Shape 7"/>
          <p:cNvSpPr/>
          <p:nvPr/>
        </p:nvSpPr>
        <p:spPr>
          <a:xfrm>
            <a:off x="3520440" y="4572000"/>
            <a:ext cx="2606040" cy="822960"/>
          </a:xfrm>
          <a:prstGeom prst="rect">
            <a:avLst/>
          </a:prstGeom>
          <a:solidFill>
            <a:srgbClr val="1E3A5F"/>
          </a:solidFill>
          <a:ln w="12700">
            <a:solidFill>
              <a:srgbClr val="F4A23C"/>
            </a:solidFill>
            <a:prstDash val="solid"/>
          </a:ln>
        </p:spPr>
      </p:sp>
      <p:sp>
        <p:nvSpPr>
          <p:cNvPr id="10" name="Text 8"/>
          <p:cNvSpPr/>
          <p:nvPr/>
        </p:nvSpPr>
        <p:spPr>
          <a:xfrm>
            <a:off x="3520440" y="4572000"/>
            <a:ext cx="2606040" cy="411480"/>
          </a:xfrm>
          <a:prstGeom prst="rect">
            <a:avLst/>
          </a:prstGeom>
          <a:noFill/>
          <a:ln/>
        </p:spPr>
        <p:txBody>
          <a:bodyPr wrap="square" lIns="0" tIns="0" rIns="0" bIns="0" rtlCol="0" anchor="ctr"/>
          <a:lstStyle/>
          <a:p>
            <a:pPr algn="ctr" indent="0" marL="0">
              <a:buNone/>
            </a:pPr>
            <a:r>
              <a:rPr lang="en-US" sz="1400" b="1" dirty="0">
                <a:solidFill>
                  <a:srgbClr val="F4A23C"/>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3520440" y="4892040"/>
            <a:ext cx="260604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Segmentation</a:t>
            </a:r>
            <a:endParaRPr lang="en-US" sz="1400" dirty="0"/>
          </a:p>
        </p:txBody>
      </p:sp>
      <p:sp>
        <p:nvSpPr>
          <p:cNvPr id="12" name="Shape 10"/>
          <p:cNvSpPr/>
          <p:nvPr/>
        </p:nvSpPr>
        <p:spPr>
          <a:xfrm>
            <a:off x="6309360" y="4572000"/>
            <a:ext cx="2606040" cy="822960"/>
          </a:xfrm>
          <a:prstGeom prst="rect">
            <a:avLst/>
          </a:prstGeom>
          <a:solidFill>
            <a:srgbClr val="1E3A5F"/>
          </a:solidFill>
          <a:ln w="12700">
            <a:solidFill>
              <a:srgbClr val="F4A23C"/>
            </a:solidFill>
            <a:prstDash val="solid"/>
          </a:ln>
        </p:spPr>
      </p:sp>
      <p:sp>
        <p:nvSpPr>
          <p:cNvPr id="13" name="Text 11"/>
          <p:cNvSpPr/>
          <p:nvPr/>
        </p:nvSpPr>
        <p:spPr>
          <a:xfrm>
            <a:off x="6309360" y="4572000"/>
            <a:ext cx="2606040" cy="411480"/>
          </a:xfrm>
          <a:prstGeom prst="rect">
            <a:avLst/>
          </a:prstGeom>
          <a:noFill/>
          <a:ln/>
        </p:spPr>
        <p:txBody>
          <a:bodyPr wrap="square" lIns="0" tIns="0" rIns="0" bIns="0" rtlCol="0" anchor="ctr"/>
          <a:lstStyle/>
          <a:p>
            <a:pPr algn="ctr" indent="0" marL="0">
              <a:buNone/>
            </a:pPr>
            <a:r>
              <a:rPr lang="en-US" sz="1400" b="1" dirty="0">
                <a:solidFill>
                  <a:srgbClr val="F4A23C"/>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6309360" y="4892040"/>
            <a:ext cx="260604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Feature Extraction</a:t>
            </a:r>
            <a:endParaRPr lang="en-US" sz="1400" dirty="0"/>
          </a:p>
        </p:txBody>
      </p:sp>
      <p:sp>
        <p:nvSpPr>
          <p:cNvPr id="15" name="Shape 13"/>
          <p:cNvSpPr/>
          <p:nvPr/>
        </p:nvSpPr>
        <p:spPr>
          <a:xfrm>
            <a:off x="9098280" y="4572000"/>
            <a:ext cx="2606040" cy="822960"/>
          </a:xfrm>
          <a:prstGeom prst="rect">
            <a:avLst/>
          </a:prstGeom>
          <a:solidFill>
            <a:srgbClr val="1E3A5F"/>
          </a:solidFill>
          <a:ln w="12700">
            <a:solidFill>
              <a:srgbClr val="F4A23C"/>
            </a:solidFill>
            <a:prstDash val="solid"/>
          </a:ln>
        </p:spPr>
      </p:sp>
      <p:sp>
        <p:nvSpPr>
          <p:cNvPr id="16" name="Text 14"/>
          <p:cNvSpPr/>
          <p:nvPr/>
        </p:nvSpPr>
        <p:spPr>
          <a:xfrm>
            <a:off x="9098280" y="4572000"/>
            <a:ext cx="2606040" cy="411480"/>
          </a:xfrm>
          <a:prstGeom prst="rect">
            <a:avLst/>
          </a:prstGeom>
          <a:noFill/>
          <a:ln/>
        </p:spPr>
        <p:txBody>
          <a:bodyPr wrap="square" lIns="0" tIns="0" rIns="0" bIns="0" rtlCol="0" anchor="ctr"/>
          <a:lstStyle/>
          <a:p>
            <a:pPr algn="ctr" indent="0" marL="0">
              <a:buNone/>
            </a:pPr>
            <a:r>
              <a:rPr lang="en-US" sz="1400" b="1" dirty="0">
                <a:solidFill>
                  <a:srgbClr val="F4A23C"/>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9098280" y="4892040"/>
            <a:ext cx="260604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Classification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502920"/>
          </a:xfrm>
          <a:prstGeom prst="rect">
            <a:avLst/>
          </a:prstGeom>
          <a:solidFill>
            <a:srgbClr val="F4A23C"/>
          </a:solidFill>
          <a:ln w="12700">
            <a:solidFill>
              <a:srgbClr val="F4A23C"/>
            </a:solidFill>
            <a:prstDash val="solid"/>
          </a:ln>
        </p:spPr>
      </p:sp>
      <p:sp>
        <p:nvSpPr>
          <p:cNvPr id="3" name="Text 1"/>
          <p:cNvSpPr/>
          <p:nvPr/>
        </p:nvSpPr>
        <p:spPr>
          <a:xfrm>
            <a:off x="685800" y="320040"/>
            <a:ext cx="11018520" cy="640080"/>
          </a:xfrm>
          <a:prstGeom prst="rect">
            <a:avLst/>
          </a:prstGeom>
          <a:noFill/>
          <a:ln/>
        </p:spPr>
        <p:txBody>
          <a:bodyPr wrap="square" lIns="0" tIns="0" rIns="0" bIns="0" rtlCol="0" anchor="ctr"/>
          <a:lstStyle/>
          <a:p>
            <a:pPr indent="0" marL="0">
              <a:buNone/>
            </a:pPr>
            <a:r>
              <a:rPr lang="en-US" sz="2800" b="1" dirty="0">
                <a:solidFill>
                  <a:srgbClr val="0A2540"/>
                </a:solidFill>
                <a:latin typeface="Calibri" pitchFamily="34" charset="0"/>
                <a:ea typeface="Calibri" pitchFamily="34" charset="-122"/>
                <a:cs typeface="Calibri" pitchFamily="34" charset="-120"/>
              </a:rPr>
              <a:t>M1 — The Full Pipeline</a:t>
            </a:r>
            <a:endParaRPr lang="en-US" sz="2800" dirty="0"/>
          </a:p>
        </p:txBody>
      </p:sp>
      <p:sp>
        <p:nvSpPr>
          <p:cNvPr id="4" name="Text 2"/>
          <p:cNvSpPr/>
          <p:nvPr/>
        </p:nvSpPr>
        <p:spPr>
          <a:xfrm>
            <a:off x="685800" y="914400"/>
            <a:ext cx="11018520" cy="320040"/>
          </a:xfrm>
          <a:prstGeom prst="rect">
            <a:avLst/>
          </a:prstGeom>
          <a:noFill/>
          <a:ln/>
        </p:spPr>
        <p:txBody>
          <a:bodyPr wrap="square" lIns="0" tIns="0" rIns="0" bIns="0" rtlCol="0" anchor="ctr"/>
          <a:lstStyle/>
          <a:p>
            <a:pPr indent="0" marL="0">
              <a:buNone/>
            </a:pPr>
            <a:r>
              <a:rPr lang="en-US" sz="1400" i="1" dirty="0">
                <a:solidFill>
                  <a:srgbClr val="5A6473"/>
                </a:solidFill>
                <a:latin typeface="Calibri" pitchFamily="34" charset="0"/>
                <a:ea typeface="Calibri" pitchFamily="34" charset="-122"/>
                <a:cs typeface="Calibri" pitchFamily="34" charset="-120"/>
              </a:rPr>
              <a:t>Sequential, identical for training and test images</a:t>
            </a:r>
            <a:endParaRPr lang="en-US" sz="1400" dirty="0"/>
          </a:p>
        </p:txBody>
      </p:sp>
      <p:sp>
        <p:nvSpPr>
          <p:cNvPr id="5" name="Shape 3"/>
          <p:cNvSpPr/>
          <p:nvPr/>
        </p:nvSpPr>
        <p:spPr>
          <a:xfrm>
            <a:off x="457200" y="1828800"/>
            <a:ext cx="1417320" cy="914400"/>
          </a:xfrm>
          <a:prstGeom prst="rect">
            <a:avLst/>
          </a:prstGeom>
          <a:solidFill>
            <a:srgbClr val="F4F6F9"/>
          </a:solidFill>
          <a:ln w="12700">
            <a:solidFill>
              <a:srgbClr val="F4F6F9"/>
            </a:solidFill>
            <a:prstDash val="solid"/>
          </a:ln>
        </p:spPr>
      </p:sp>
      <p:sp>
        <p:nvSpPr>
          <p:cNvPr id="6" name="Text 4"/>
          <p:cNvSpPr/>
          <p:nvPr/>
        </p:nvSpPr>
        <p:spPr>
          <a:xfrm>
            <a:off x="457200" y="1828800"/>
            <a:ext cx="1417320" cy="914400"/>
          </a:xfrm>
          <a:prstGeom prst="rect">
            <a:avLst/>
          </a:prstGeom>
          <a:noFill/>
          <a:ln/>
        </p:spPr>
        <p:txBody>
          <a:bodyPr wrap="square" lIns="0" tIns="0" rIns="0" bIns="0" rtlCol="0" anchor="ctr"/>
          <a:lstStyle/>
          <a:p>
            <a:pPr algn="ctr" indent="0" marL="0">
              <a:buNone/>
            </a:pPr>
            <a:r>
              <a:rPr lang="en-US" sz="1100" b="1" dirty="0">
                <a:solidFill>
                  <a:srgbClr val="1A1A1A"/>
                </a:solidFill>
                <a:latin typeface="Calibri" pitchFamily="34" charset="0"/>
                <a:ea typeface="Calibri" pitchFamily="34" charset="-122"/>
                <a:cs typeface="Calibri" pitchFamily="34" charset="-120"/>
              </a:rPr>
              <a:t>Input</a:t>
            </a:r>
            <a:endParaRPr lang="en-US" sz="1100" dirty="0"/>
          </a:p>
          <a:p>
            <a:pPr algn="ctr" indent="0" marL="0">
              <a:buNone/>
            </a:pPr>
            <a:r>
              <a:rPr lang="en-US" sz="1100" b="1" dirty="0">
                <a:solidFill>
                  <a:srgbClr val="1A1A1A"/>
                </a:solidFill>
                <a:latin typeface="Calibri" pitchFamily="34" charset="0"/>
                <a:ea typeface="Calibri" pitchFamily="34" charset="-122"/>
                <a:cs typeface="Calibri" pitchFamily="34" charset="-120"/>
              </a:rPr>
              <a:t>Image</a:t>
            </a:r>
            <a:endParaRPr lang="en-US" sz="1100" dirty="0"/>
          </a:p>
        </p:txBody>
      </p:sp>
      <p:sp>
        <p:nvSpPr>
          <p:cNvPr id="7" name="Shape 5"/>
          <p:cNvSpPr/>
          <p:nvPr/>
        </p:nvSpPr>
        <p:spPr>
          <a:xfrm>
            <a:off x="1874520" y="2286000"/>
            <a:ext cx="182880" cy="0"/>
          </a:xfrm>
          <a:prstGeom prst="line">
            <a:avLst/>
          </a:prstGeom>
          <a:noFill/>
          <a:ln w="25400">
            <a:solidFill>
              <a:srgbClr val="5A6473"/>
            </a:solidFill>
            <a:prstDash val="solid"/>
            <a:tailEnd type="triangle"/>
          </a:ln>
        </p:spPr>
      </p:sp>
      <p:sp>
        <p:nvSpPr>
          <p:cNvPr id="8" name="Shape 6"/>
          <p:cNvSpPr/>
          <p:nvPr/>
        </p:nvSpPr>
        <p:spPr>
          <a:xfrm>
            <a:off x="2057400" y="1828800"/>
            <a:ext cx="1417320" cy="914400"/>
          </a:xfrm>
          <a:prstGeom prst="rect">
            <a:avLst/>
          </a:prstGeom>
          <a:solidFill>
            <a:srgbClr val="1E3A5F"/>
          </a:solidFill>
          <a:ln w="12700">
            <a:solidFill>
              <a:srgbClr val="1E3A5F"/>
            </a:solidFill>
            <a:prstDash val="solid"/>
          </a:ln>
        </p:spPr>
      </p:sp>
      <p:sp>
        <p:nvSpPr>
          <p:cNvPr id="9" name="Text 7"/>
          <p:cNvSpPr/>
          <p:nvPr/>
        </p:nvSpPr>
        <p:spPr>
          <a:xfrm>
            <a:off x="2057400" y="1828800"/>
            <a:ext cx="1417320" cy="9144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Preprocess</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(Resize · Blur · HSV)</a:t>
            </a:r>
            <a:endParaRPr lang="en-US" sz="1100" dirty="0"/>
          </a:p>
        </p:txBody>
      </p:sp>
      <p:sp>
        <p:nvSpPr>
          <p:cNvPr id="10" name="Shape 8"/>
          <p:cNvSpPr/>
          <p:nvPr/>
        </p:nvSpPr>
        <p:spPr>
          <a:xfrm>
            <a:off x="3474720" y="2286000"/>
            <a:ext cx="182880" cy="0"/>
          </a:xfrm>
          <a:prstGeom prst="line">
            <a:avLst/>
          </a:prstGeom>
          <a:noFill/>
          <a:ln w="25400">
            <a:solidFill>
              <a:srgbClr val="5A6473"/>
            </a:solidFill>
            <a:prstDash val="solid"/>
            <a:tailEnd type="triangle"/>
          </a:ln>
        </p:spPr>
      </p:sp>
      <p:sp>
        <p:nvSpPr>
          <p:cNvPr id="11" name="Shape 9"/>
          <p:cNvSpPr/>
          <p:nvPr/>
        </p:nvSpPr>
        <p:spPr>
          <a:xfrm>
            <a:off x="3657600" y="1828800"/>
            <a:ext cx="1417320" cy="914400"/>
          </a:xfrm>
          <a:prstGeom prst="rect">
            <a:avLst/>
          </a:prstGeom>
          <a:solidFill>
            <a:srgbClr val="1E3A5F"/>
          </a:solidFill>
          <a:ln w="12700">
            <a:solidFill>
              <a:srgbClr val="1E3A5F"/>
            </a:solidFill>
            <a:prstDash val="solid"/>
          </a:ln>
        </p:spPr>
      </p:sp>
      <p:sp>
        <p:nvSpPr>
          <p:cNvPr id="12" name="Text 10"/>
          <p:cNvSpPr/>
          <p:nvPr/>
        </p:nvSpPr>
        <p:spPr>
          <a:xfrm>
            <a:off x="3657600" y="1828800"/>
            <a:ext cx="1417320" cy="9144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Segment</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(HSV + Morph.)</a:t>
            </a:r>
            <a:endParaRPr lang="en-US" sz="1100" dirty="0"/>
          </a:p>
        </p:txBody>
      </p:sp>
      <p:sp>
        <p:nvSpPr>
          <p:cNvPr id="13" name="Shape 11"/>
          <p:cNvSpPr/>
          <p:nvPr/>
        </p:nvSpPr>
        <p:spPr>
          <a:xfrm>
            <a:off x="5074920" y="2286000"/>
            <a:ext cx="182880" cy="0"/>
          </a:xfrm>
          <a:prstGeom prst="line">
            <a:avLst/>
          </a:prstGeom>
          <a:noFill/>
          <a:ln w="25400">
            <a:solidFill>
              <a:srgbClr val="5A6473"/>
            </a:solidFill>
            <a:prstDash val="solid"/>
            <a:tailEnd type="triangle"/>
          </a:ln>
        </p:spPr>
      </p:sp>
      <p:sp>
        <p:nvSpPr>
          <p:cNvPr id="14" name="Shape 12"/>
          <p:cNvSpPr/>
          <p:nvPr/>
        </p:nvSpPr>
        <p:spPr>
          <a:xfrm>
            <a:off x="5257800" y="1828800"/>
            <a:ext cx="1417320" cy="914400"/>
          </a:xfrm>
          <a:prstGeom prst="rect">
            <a:avLst/>
          </a:prstGeom>
          <a:solidFill>
            <a:srgbClr val="1E3A5F"/>
          </a:solidFill>
          <a:ln w="12700">
            <a:solidFill>
              <a:srgbClr val="1E3A5F"/>
            </a:solidFill>
            <a:prstDash val="solid"/>
          </a:ln>
        </p:spPr>
      </p:sp>
      <p:sp>
        <p:nvSpPr>
          <p:cNvPr id="15" name="Text 13"/>
          <p:cNvSpPr/>
          <p:nvPr/>
        </p:nvSpPr>
        <p:spPr>
          <a:xfrm>
            <a:off x="5257800" y="1828800"/>
            <a:ext cx="1417320" cy="9144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Feature</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Extraction</a:t>
            </a:r>
            <a:endParaRPr lang="en-US" sz="1100" dirty="0"/>
          </a:p>
        </p:txBody>
      </p:sp>
      <p:sp>
        <p:nvSpPr>
          <p:cNvPr id="16" name="Shape 14"/>
          <p:cNvSpPr/>
          <p:nvPr/>
        </p:nvSpPr>
        <p:spPr>
          <a:xfrm>
            <a:off x="6675120" y="2286000"/>
            <a:ext cx="182880" cy="0"/>
          </a:xfrm>
          <a:prstGeom prst="line">
            <a:avLst/>
          </a:prstGeom>
          <a:noFill/>
          <a:ln w="25400">
            <a:solidFill>
              <a:srgbClr val="5A6473"/>
            </a:solidFill>
            <a:prstDash val="solid"/>
            <a:tailEnd type="triangle"/>
          </a:ln>
        </p:spPr>
      </p:sp>
      <p:sp>
        <p:nvSpPr>
          <p:cNvPr id="17" name="Shape 15"/>
          <p:cNvSpPr/>
          <p:nvPr/>
        </p:nvSpPr>
        <p:spPr>
          <a:xfrm>
            <a:off x="6858000" y="1828800"/>
            <a:ext cx="1417320" cy="914400"/>
          </a:xfrm>
          <a:prstGeom prst="rect">
            <a:avLst/>
          </a:prstGeom>
          <a:solidFill>
            <a:srgbClr val="1E3A5F"/>
          </a:solidFill>
          <a:ln w="12700">
            <a:solidFill>
              <a:srgbClr val="1E3A5F"/>
            </a:solidFill>
            <a:prstDash val="solid"/>
          </a:ln>
        </p:spPr>
      </p:sp>
      <p:sp>
        <p:nvSpPr>
          <p:cNvPr id="18" name="Text 16"/>
          <p:cNvSpPr/>
          <p:nvPr/>
        </p:nvSpPr>
        <p:spPr>
          <a:xfrm>
            <a:off x="6858000" y="1828800"/>
            <a:ext cx="1417320" cy="9144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Concatenate</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 L2 Norm</a:t>
            </a:r>
            <a:endParaRPr lang="en-US" sz="1100" dirty="0"/>
          </a:p>
        </p:txBody>
      </p:sp>
      <p:sp>
        <p:nvSpPr>
          <p:cNvPr id="19" name="Shape 17"/>
          <p:cNvSpPr/>
          <p:nvPr/>
        </p:nvSpPr>
        <p:spPr>
          <a:xfrm>
            <a:off x="8275320" y="2286000"/>
            <a:ext cx="182880" cy="0"/>
          </a:xfrm>
          <a:prstGeom prst="line">
            <a:avLst/>
          </a:prstGeom>
          <a:noFill/>
          <a:ln w="25400">
            <a:solidFill>
              <a:srgbClr val="5A6473"/>
            </a:solidFill>
            <a:prstDash val="solid"/>
            <a:tailEnd type="triangle"/>
          </a:ln>
        </p:spPr>
      </p:sp>
      <p:sp>
        <p:nvSpPr>
          <p:cNvPr id="20" name="Shape 18"/>
          <p:cNvSpPr/>
          <p:nvPr/>
        </p:nvSpPr>
        <p:spPr>
          <a:xfrm>
            <a:off x="8458200" y="1828800"/>
            <a:ext cx="1417320" cy="914400"/>
          </a:xfrm>
          <a:prstGeom prst="rect">
            <a:avLst/>
          </a:prstGeom>
          <a:solidFill>
            <a:srgbClr val="1AA39E"/>
          </a:solidFill>
          <a:ln w="12700">
            <a:solidFill>
              <a:srgbClr val="1AA39E"/>
            </a:solidFill>
            <a:prstDash val="solid"/>
          </a:ln>
        </p:spPr>
      </p:sp>
      <p:sp>
        <p:nvSpPr>
          <p:cNvPr id="21" name="Text 19"/>
          <p:cNvSpPr/>
          <p:nvPr/>
        </p:nvSpPr>
        <p:spPr>
          <a:xfrm>
            <a:off x="8458200" y="1828800"/>
            <a:ext cx="1417320" cy="9144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Classify</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(SVM / kNN / MLP)</a:t>
            </a:r>
            <a:endParaRPr lang="en-US" sz="1100" dirty="0"/>
          </a:p>
        </p:txBody>
      </p:sp>
      <p:sp>
        <p:nvSpPr>
          <p:cNvPr id="22" name="Shape 20"/>
          <p:cNvSpPr/>
          <p:nvPr/>
        </p:nvSpPr>
        <p:spPr>
          <a:xfrm>
            <a:off x="9875520" y="2286000"/>
            <a:ext cx="182880" cy="0"/>
          </a:xfrm>
          <a:prstGeom prst="line">
            <a:avLst/>
          </a:prstGeom>
          <a:noFill/>
          <a:ln w="25400">
            <a:solidFill>
              <a:srgbClr val="5A6473"/>
            </a:solidFill>
            <a:prstDash val="solid"/>
            <a:tailEnd type="triangle"/>
          </a:ln>
        </p:spPr>
      </p:sp>
      <p:sp>
        <p:nvSpPr>
          <p:cNvPr id="23" name="Shape 21"/>
          <p:cNvSpPr/>
          <p:nvPr/>
        </p:nvSpPr>
        <p:spPr>
          <a:xfrm>
            <a:off x="10058400" y="1828800"/>
            <a:ext cx="1417320" cy="914400"/>
          </a:xfrm>
          <a:prstGeom prst="rect">
            <a:avLst/>
          </a:prstGeom>
          <a:solidFill>
            <a:srgbClr val="0A2540"/>
          </a:solidFill>
          <a:ln w="12700">
            <a:solidFill>
              <a:srgbClr val="0A2540"/>
            </a:solidFill>
            <a:prstDash val="solid"/>
          </a:ln>
        </p:spPr>
      </p:sp>
      <p:sp>
        <p:nvSpPr>
          <p:cNvPr id="24" name="Text 22"/>
          <p:cNvSpPr/>
          <p:nvPr/>
        </p:nvSpPr>
        <p:spPr>
          <a:xfrm>
            <a:off x="10058400" y="1828800"/>
            <a:ext cx="1417320" cy="9144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Predicted</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Class</a:t>
            </a:r>
            <a:endParaRPr lang="en-US" sz="1100" dirty="0"/>
          </a:p>
        </p:txBody>
      </p:sp>
      <p:sp>
        <p:nvSpPr>
          <p:cNvPr id="25" name="Shape 23"/>
          <p:cNvSpPr/>
          <p:nvPr/>
        </p:nvSpPr>
        <p:spPr>
          <a:xfrm>
            <a:off x="457200" y="3200400"/>
            <a:ext cx="1554480" cy="411480"/>
          </a:xfrm>
          <a:prstGeom prst="rect">
            <a:avLst/>
          </a:prstGeom>
          <a:solidFill>
            <a:srgbClr val="0A2540"/>
          </a:solidFill>
          <a:ln w="12700">
            <a:solidFill>
              <a:srgbClr val="0A2540"/>
            </a:solidFill>
            <a:prstDash val="solid"/>
          </a:ln>
        </p:spPr>
      </p:sp>
      <p:sp>
        <p:nvSpPr>
          <p:cNvPr id="26" name="Text 24"/>
          <p:cNvSpPr/>
          <p:nvPr/>
        </p:nvSpPr>
        <p:spPr>
          <a:xfrm>
            <a:off x="457200" y="3200400"/>
            <a:ext cx="1554480" cy="411480"/>
          </a:xfrm>
          <a:prstGeom prst="rect">
            <a:avLst/>
          </a:prstGeom>
          <a:noFill/>
          <a:ln/>
        </p:spPr>
        <p:txBody>
          <a:bodyPr wrap="square" lIns="0" tIns="0" rIns="0" bIns="0" rtlCol="0" anchor="ctr"/>
          <a:lstStyle/>
          <a:p>
            <a:pPr algn="ctr" indent="0" marL="0">
              <a:buNone/>
            </a:pPr>
            <a:r>
              <a:rPr lang="en-US" sz="1200" b="1" dirty="0">
                <a:solidFill>
                  <a:srgbClr val="F4A23C"/>
                </a:solidFill>
                <a:latin typeface="Calibri" pitchFamily="34" charset="0"/>
                <a:ea typeface="Calibri" pitchFamily="34" charset="-122"/>
                <a:cs typeface="Calibri" pitchFamily="34" charset="-120"/>
              </a:rPr>
              <a:t>Preprocess</a:t>
            </a:r>
            <a:endParaRPr lang="en-US" sz="1200" dirty="0"/>
          </a:p>
        </p:txBody>
      </p:sp>
      <p:sp>
        <p:nvSpPr>
          <p:cNvPr id="27" name="Text 25"/>
          <p:cNvSpPr/>
          <p:nvPr/>
        </p:nvSpPr>
        <p:spPr>
          <a:xfrm>
            <a:off x="2148840" y="3200400"/>
            <a:ext cx="9601200" cy="411480"/>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Resize to 256×192 · 5×5 Gaussian (σ=1.2) · BGR→HSV — fixed length + lighting robustness</a:t>
            </a:r>
            <a:endParaRPr lang="en-US" sz="1150" dirty="0"/>
          </a:p>
        </p:txBody>
      </p:sp>
      <p:sp>
        <p:nvSpPr>
          <p:cNvPr id="28" name="Shape 26"/>
          <p:cNvSpPr/>
          <p:nvPr/>
        </p:nvSpPr>
        <p:spPr>
          <a:xfrm>
            <a:off x="457200" y="3749040"/>
            <a:ext cx="1554480" cy="411480"/>
          </a:xfrm>
          <a:prstGeom prst="rect">
            <a:avLst/>
          </a:prstGeom>
          <a:solidFill>
            <a:srgbClr val="0A2540"/>
          </a:solidFill>
          <a:ln w="12700">
            <a:solidFill>
              <a:srgbClr val="0A2540"/>
            </a:solidFill>
            <a:prstDash val="solid"/>
          </a:ln>
        </p:spPr>
      </p:sp>
      <p:sp>
        <p:nvSpPr>
          <p:cNvPr id="29" name="Text 27"/>
          <p:cNvSpPr/>
          <p:nvPr/>
        </p:nvSpPr>
        <p:spPr>
          <a:xfrm>
            <a:off x="457200" y="3749040"/>
            <a:ext cx="1554480" cy="411480"/>
          </a:xfrm>
          <a:prstGeom prst="rect">
            <a:avLst/>
          </a:prstGeom>
          <a:noFill/>
          <a:ln/>
        </p:spPr>
        <p:txBody>
          <a:bodyPr wrap="square" lIns="0" tIns="0" rIns="0" bIns="0" rtlCol="0" anchor="ctr"/>
          <a:lstStyle/>
          <a:p>
            <a:pPr algn="ctr" indent="0" marL="0">
              <a:buNone/>
            </a:pPr>
            <a:r>
              <a:rPr lang="en-US" sz="1200" b="1" dirty="0">
                <a:solidFill>
                  <a:srgbClr val="F4A23C"/>
                </a:solidFill>
                <a:latin typeface="Calibri" pitchFamily="34" charset="0"/>
                <a:ea typeface="Calibri" pitchFamily="34" charset="-122"/>
                <a:cs typeface="Calibri" pitchFamily="34" charset="-120"/>
              </a:rPr>
              <a:t>Segment</a:t>
            </a:r>
            <a:endParaRPr lang="en-US" sz="1200" dirty="0"/>
          </a:p>
        </p:txBody>
      </p:sp>
      <p:sp>
        <p:nvSpPr>
          <p:cNvPr id="30" name="Text 28"/>
          <p:cNvSpPr/>
          <p:nvPr/>
        </p:nvSpPr>
        <p:spPr>
          <a:xfrm>
            <a:off x="2148840" y="3749040"/>
            <a:ext cx="9601200" cy="411480"/>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Per-class cv2.inRange + K-means fallback · opening/closing · largest connected component</a:t>
            </a:r>
            <a:endParaRPr lang="en-US" sz="1150" dirty="0"/>
          </a:p>
        </p:txBody>
      </p:sp>
      <p:sp>
        <p:nvSpPr>
          <p:cNvPr id="31" name="Shape 29"/>
          <p:cNvSpPr/>
          <p:nvPr/>
        </p:nvSpPr>
        <p:spPr>
          <a:xfrm>
            <a:off x="457200" y="4297680"/>
            <a:ext cx="1554480" cy="411480"/>
          </a:xfrm>
          <a:prstGeom prst="rect">
            <a:avLst/>
          </a:prstGeom>
          <a:solidFill>
            <a:srgbClr val="0A2540"/>
          </a:solidFill>
          <a:ln w="12700">
            <a:solidFill>
              <a:srgbClr val="0A2540"/>
            </a:solidFill>
            <a:prstDash val="solid"/>
          </a:ln>
        </p:spPr>
      </p:sp>
      <p:sp>
        <p:nvSpPr>
          <p:cNvPr id="32" name="Text 30"/>
          <p:cNvSpPr/>
          <p:nvPr/>
        </p:nvSpPr>
        <p:spPr>
          <a:xfrm>
            <a:off x="457200" y="4297680"/>
            <a:ext cx="1554480" cy="411480"/>
          </a:xfrm>
          <a:prstGeom prst="rect">
            <a:avLst/>
          </a:prstGeom>
          <a:noFill/>
          <a:ln/>
        </p:spPr>
        <p:txBody>
          <a:bodyPr wrap="square" lIns="0" tIns="0" rIns="0" bIns="0" rtlCol="0" anchor="ctr"/>
          <a:lstStyle/>
          <a:p>
            <a:pPr algn="ctr" indent="0" marL="0">
              <a:buNone/>
            </a:pPr>
            <a:r>
              <a:rPr lang="en-US" sz="1200" b="1" dirty="0">
                <a:solidFill>
                  <a:srgbClr val="F4A23C"/>
                </a:solidFill>
                <a:latin typeface="Calibri" pitchFamily="34" charset="0"/>
                <a:ea typeface="Calibri" pitchFamily="34" charset="-122"/>
                <a:cs typeface="Calibri" pitchFamily="34" charset="-120"/>
              </a:rPr>
              <a:t>Features</a:t>
            </a:r>
            <a:endParaRPr lang="en-US" sz="1200" dirty="0"/>
          </a:p>
        </p:txBody>
      </p:sp>
      <p:sp>
        <p:nvSpPr>
          <p:cNvPr id="33" name="Text 31"/>
          <p:cNvSpPr/>
          <p:nvPr/>
        </p:nvSpPr>
        <p:spPr>
          <a:xfrm>
            <a:off x="2148840" y="4297680"/>
            <a:ext cx="9601200" cy="411480"/>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Color histogram (48) + HOG (1,764) + shape stats (8) = 1,820-d  →  L2-normalised</a:t>
            </a:r>
            <a:endParaRPr lang="en-US" sz="1150" dirty="0"/>
          </a:p>
        </p:txBody>
      </p:sp>
      <p:sp>
        <p:nvSpPr>
          <p:cNvPr id="34" name="Shape 32"/>
          <p:cNvSpPr/>
          <p:nvPr/>
        </p:nvSpPr>
        <p:spPr>
          <a:xfrm>
            <a:off x="457200" y="4846320"/>
            <a:ext cx="1554480" cy="411480"/>
          </a:xfrm>
          <a:prstGeom prst="rect">
            <a:avLst/>
          </a:prstGeom>
          <a:solidFill>
            <a:srgbClr val="0A2540"/>
          </a:solidFill>
          <a:ln w="12700">
            <a:solidFill>
              <a:srgbClr val="0A2540"/>
            </a:solidFill>
            <a:prstDash val="solid"/>
          </a:ln>
        </p:spPr>
      </p:sp>
      <p:sp>
        <p:nvSpPr>
          <p:cNvPr id="35" name="Text 33"/>
          <p:cNvSpPr/>
          <p:nvPr/>
        </p:nvSpPr>
        <p:spPr>
          <a:xfrm>
            <a:off x="457200" y="4846320"/>
            <a:ext cx="1554480" cy="411480"/>
          </a:xfrm>
          <a:prstGeom prst="rect">
            <a:avLst/>
          </a:prstGeom>
          <a:noFill/>
          <a:ln/>
        </p:spPr>
        <p:txBody>
          <a:bodyPr wrap="square" lIns="0" tIns="0" rIns="0" bIns="0" rtlCol="0" anchor="ctr"/>
          <a:lstStyle/>
          <a:p>
            <a:pPr algn="ctr" indent="0" marL="0">
              <a:buNone/>
            </a:pPr>
            <a:r>
              <a:rPr lang="en-US" sz="1200" b="1" dirty="0">
                <a:solidFill>
                  <a:srgbClr val="F4A23C"/>
                </a:solidFill>
                <a:latin typeface="Calibri" pitchFamily="34" charset="0"/>
                <a:ea typeface="Calibri" pitchFamily="34" charset="-122"/>
                <a:cs typeface="Calibri" pitchFamily="34" charset="-120"/>
              </a:rPr>
              <a:t>Classify</a:t>
            </a:r>
            <a:endParaRPr lang="en-US" sz="1200" dirty="0"/>
          </a:p>
        </p:txBody>
      </p:sp>
      <p:sp>
        <p:nvSpPr>
          <p:cNvPr id="36" name="Text 34"/>
          <p:cNvSpPr/>
          <p:nvPr/>
        </p:nvSpPr>
        <p:spPr>
          <a:xfrm>
            <a:off x="2148840" y="4846320"/>
            <a:ext cx="9601200" cy="411480"/>
          </a:xfrm>
          <a:prstGeom prst="rect">
            <a:avLst/>
          </a:prstGeom>
          <a:noFill/>
          <a:ln/>
        </p:spPr>
        <p:txBody>
          <a:bodyPr wrap="square" lIns="0" tIns="0" rIns="0" bIns="0" rtlCol="0" anchor="ctr"/>
          <a:lstStyle/>
          <a:p>
            <a:pPr indent="0" marL="0">
              <a:buNone/>
            </a:pPr>
            <a:r>
              <a:rPr lang="en-US" sz="1150" dirty="0">
                <a:solidFill>
                  <a:srgbClr val="1A1A1A"/>
                </a:solidFill>
                <a:latin typeface="Calibri" pitchFamily="34" charset="0"/>
                <a:ea typeface="Calibri" pitchFamily="34" charset="-122"/>
                <a:cs typeface="Calibri" pitchFamily="34" charset="-120"/>
              </a:rPr>
              <a:t>k-NN, Linear/RBF SVM, MLP — chosen with 5-fold CV on the training set only</a:t>
            </a:r>
            <a:endParaRPr lang="en-US" sz="1150" dirty="0"/>
          </a:p>
        </p:txBody>
      </p:sp>
      <p:sp>
        <p:nvSpPr>
          <p:cNvPr id="37" name="Shape 35"/>
          <p:cNvSpPr/>
          <p:nvPr/>
        </p:nvSpPr>
        <p:spPr>
          <a:xfrm>
            <a:off x="457200" y="5669280"/>
            <a:ext cx="11247120" cy="548640"/>
          </a:xfrm>
          <a:prstGeom prst="rect">
            <a:avLst/>
          </a:prstGeom>
          <a:solidFill>
            <a:srgbClr val="F4F6F9"/>
          </a:solidFill>
          <a:ln w="19050">
            <a:solidFill>
              <a:srgbClr val="F4A23C"/>
            </a:solidFill>
            <a:prstDash val="solid"/>
          </a:ln>
        </p:spPr>
      </p:sp>
      <p:sp>
        <p:nvSpPr>
          <p:cNvPr id="38" name="Text 36"/>
          <p:cNvSpPr/>
          <p:nvPr/>
        </p:nvSpPr>
        <p:spPr>
          <a:xfrm>
            <a:off x="640080" y="5669280"/>
            <a:ext cx="10972800" cy="548640"/>
          </a:xfrm>
          <a:prstGeom prst="rect">
            <a:avLst/>
          </a:prstGeom>
          <a:noFill/>
          <a:ln/>
        </p:spPr>
        <p:txBody>
          <a:bodyPr wrap="square" lIns="0" tIns="0" rIns="0" bIns="0" rtlCol="0" anchor="ctr"/>
          <a:lstStyle/>
          <a:p>
            <a:pPr indent="0" marL="0">
              <a:buNone/>
            </a:pPr>
            <a:r>
              <a:rPr lang="en-US" sz="1300" b="1" dirty="0">
                <a:solidFill>
                  <a:srgbClr val="0A2540"/>
                </a:solidFill>
                <a:latin typeface="Calibri" pitchFamily="34" charset="0"/>
                <a:ea typeface="Calibri" pitchFamily="34" charset="-122"/>
                <a:cs typeface="Calibri" pitchFamily="34" charset="-120"/>
              </a:rPr>
              <a:t>Key principle: </a:t>
            </a:r>
            <a:pPr indent="0" marL="0">
              <a:buNone/>
            </a:pPr>
            <a:r>
              <a:rPr lang="en-US" sz="1300" i="1" dirty="0">
                <a:solidFill>
                  <a:srgbClr val="1A1A1A"/>
                </a:solidFill>
                <a:latin typeface="Calibri" pitchFamily="34" charset="0"/>
                <a:ea typeface="Calibri" pitchFamily="34" charset="-122"/>
                <a:cs typeface="Calibri" pitchFamily="34" charset="-120"/>
              </a:rPr>
              <a:t>the same pipeline is applied to both training and test images. Only the classifier's parameters are learned from data.</a:t>
            </a:r>
            <a:endParaRPr lang="en-US" sz="1300" dirty="0"/>
          </a:p>
        </p:txBody>
      </p:sp>
      <p:sp>
        <p:nvSpPr>
          <p:cNvPr id="39" name="Text 37"/>
          <p:cNvSpPr/>
          <p:nvPr/>
        </p:nvSpPr>
        <p:spPr>
          <a:xfrm>
            <a:off x="457200" y="6537960"/>
            <a:ext cx="7315200" cy="228600"/>
          </a:xfrm>
          <a:prstGeom prst="rect">
            <a:avLst/>
          </a:prstGeom>
          <a:noFill/>
          <a:ln/>
        </p:spPr>
        <p:txBody>
          <a:bodyPr wrap="square" rtlCol="0" anchor="ctr"/>
          <a:lstStyle/>
          <a:p>
            <a:pPr indent="0" marL="0">
              <a:buNone/>
            </a:pPr>
            <a:r>
              <a:rPr lang="en-US" sz="900" dirty="0">
                <a:solidFill>
                  <a:srgbClr val="5A6473"/>
                </a:solidFill>
                <a:latin typeface="Calibri" pitchFamily="34" charset="0"/>
                <a:ea typeface="Calibri" pitchFamily="34" charset="-122"/>
                <a:cs typeface="Calibri" pitchFamily="34" charset="-120"/>
              </a:rPr>
              <a:t>ENMR602 · SIP Ball Classification · Tutorial 10</a:t>
            </a:r>
            <a:endParaRPr lang="en-US" sz="900" dirty="0"/>
          </a:p>
        </p:txBody>
      </p:sp>
      <p:sp>
        <p:nvSpPr>
          <p:cNvPr id="40" name="Text 38"/>
          <p:cNvSpPr/>
          <p:nvPr/>
        </p:nvSpPr>
        <p:spPr>
          <a:xfrm>
            <a:off x="8961120" y="6537960"/>
            <a:ext cx="2743200" cy="228600"/>
          </a:xfrm>
          <a:prstGeom prst="rect">
            <a:avLst/>
          </a:prstGeom>
          <a:noFill/>
          <a:ln/>
        </p:spPr>
        <p:txBody>
          <a:bodyPr wrap="square" rtlCol="0" anchor="ctr"/>
          <a:lstStyle/>
          <a:p>
            <a:pPr algn="r" indent="0" marL="0">
              <a:buNone/>
            </a:pPr>
            <a:r>
              <a:rPr lang="en-US" sz="900" b="1" dirty="0">
                <a:solidFill>
                  <a:srgbClr val="5A6473"/>
                </a:solidFill>
                <a:latin typeface="Calibri" pitchFamily="34" charset="0"/>
                <a:ea typeface="Calibri" pitchFamily="34" charset="-122"/>
                <a:cs typeface="Calibri" pitchFamily="34" charset="-120"/>
              </a:rPr>
              <a:t>Milestone 1</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502920"/>
          </a:xfrm>
          <a:prstGeom prst="rect">
            <a:avLst/>
          </a:prstGeom>
          <a:solidFill>
            <a:srgbClr val="F4A23C"/>
          </a:solidFill>
          <a:ln w="12700">
            <a:solidFill>
              <a:srgbClr val="F4A23C"/>
            </a:solidFill>
            <a:prstDash val="solid"/>
          </a:ln>
        </p:spPr>
      </p:sp>
      <p:sp>
        <p:nvSpPr>
          <p:cNvPr id="3" name="Text 1"/>
          <p:cNvSpPr/>
          <p:nvPr/>
        </p:nvSpPr>
        <p:spPr>
          <a:xfrm>
            <a:off x="685800" y="320040"/>
            <a:ext cx="11018520" cy="640080"/>
          </a:xfrm>
          <a:prstGeom prst="rect">
            <a:avLst/>
          </a:prstGeom>
          <a:noFill/>
          <a:ln/>
        </p:spPr>
        <p:txBody>
          <a:bodyPr wrap="square" lIns="0" tIns="0" rIns="0" bIns="0" rtlCol="0" anchor="ctr"/>
          <a:lstStyle/>
          <a:p>
            <a:pPr indent="0" marL="0">
              <a:buNone/>
            </a:pPr>
            <a:r>
              <a:rPr lang="en-US" sz="2800" b="1" dirty="0">
                <a:solidFill>
                  <a:srgbClr val="0A2540"/>
                </a:solidFill>
                <a:latin typeface="Calibri" pitchFamily="34" charset="0"/>
                <a:ea typeface="Calibri" pitchFamily="34" charset="-122"/>
                <a:cs typeface="Calibri" pitchFamily="34" charset="-120"/>
              </a:rPr>
              <a:t>M1 — Preprocessing</a:t>
            </a:r>
            <a:endParaRPr lang="en-US" sz="2800" dirty="0"/>
          </a:p>
        </p:txBody>
      </p:sp>
      <p:sp>
        <p:nvSpPr>
          <p:cNvPr id="4" name="Text 2"/>
          <p:cNvSpPr/>
          <p:nvPr/>
        </p:nvSpPr>
        <p:spPr>
          <a:xfrm>
            <a:off x="685800" y="914400"/>
            <a:ext cx="11018520" cy="320040"/>
          </a:xfrm>
          <a:prstGeom prst="rect">
            <a:avLst/>
          </a:prstGeom>
          <a:noFill/>
          <a:ln/>
        </p:spPr>
        <p:txBody>
          <a:bodyPr wrap="square" lIns="0" tIns="0" rIns="0" bIns="0" rtlCol="0" anchor="ctr"/>
          <a:lstStyle/>
          <a:p>
            <a:pPr indent="0" marL="0">
              <a:buNone/>
            </a:pPr>
            <a:r>
              <a:rPr lang="en-US" sz="1400" i="1" dirty="0">
                <a:solidFill>
                  <a:srgbClr val="5A6473"/>
                </a:solidFill>
                <a:latin typeface="Calibri" pitchFamily="34" charset="0"/>
                <a:ea typeface="Calibri" pitchFamily="34" charset="-122"/>
                <a:cs typeface="Calibri" pitchFamily="34" charset="-120"/>
              </a:rPr>
              <a:t>Three small steps that make every downstream stage easier</a:t>
            </a:r>
            <a:endParaRPr lang="en-US" sz="1400" dirty="0"/>
          </a:p>
        </p:txBody>
      </p:sp>
      <p:sp>
        <p:nvSpPr>
          <p:cNvPr id="5" name="Shape 3"/>
          <p:cNvSpPr/>
          <p:nvPr/>
        </p:nvSpPr>
        <p:spPr>
          <a:xfrm>
            <a:off x="457200" y="1554480"/>
            <a:ext cx="3749040" cy="3200400"/>
          </a:xfrm>
          <a:prstGeom prst="rect">
            <a:avLst/>
          </a:prstGeom>
          <a:solidFill>
            <a:srgbClr val="FFFFFF"/>
          </a:solidFill>
          <a:ln w="12700">
            <a:solidFill>
              <a:srgbClr val="D6DBE3"/>
            </a:solidFill>
            <a:prstDash val="solid"/>
          </a:ln>
        </p:spPr>
      </p:sp>
      <p:sp>
        <p:nvSpPr>
          <p:cNvPr id="6" name="Shape 4"/>
          <p:cNvSpPr/>
          <p:nvPr/>
        </p:nvSpPr>
        <p:spPr>
          <a:xfrm>
            <a:off x="640080" y="1737360"/>
            <a:ext cx="502920" cy="502920"/>
          </a:xfrm>
          <a:prstGeom prst="ellipse">
            <a:avLst/>
          </a:prstGeom>
          <a:solidFill>
            <a:srgbClr val="0A2540"/>
          </a:solidFill>
          <a:ln w="12700">
            <a:solidFill>
              <a:srgbClr val="0A2540"/>
            </a:solidFill>
            <a:prstDash val="solid"/>
          </a:ln>
        </p:spPr>
      </p:sp>
      <p:sp>
        <p:nvSpPr>
          <p:cNvPr id="7" name="Text 5"/>
          <p:cNvSpPr/>
          <p:nvPr/>
        </p:nvSpPr>
        <p:spPr>
          <a:xfrm>
            <a:off x="640080" y="1737360"/>
            <a:ext cx="502920" cy="502920"/>
          </a:xfrm>
          <a:prstGeom prst="rect">
            <a:avLst/>
          </a:prstGeom>
          <a:noFill/>
          <a:ln/>
        </p:spPr>
        <p:txBody>
          <a:bodyPr wrap="square" lIns="0" tIns="0" rIns="0" bIns="0" rtlCol="0" anchor="ctr"/>
          <a:lstStyle/>
          <a:p>
            <a:pPr algn="ctr" indent="0" marL="0">
              <a:buNone/>
            </a:pPr>
            <a:r>
              <a:rPr lang="en-US" sz="1800" b="1" dirty="0">
                <a:solidFill>
                  <a:srgbClr val="F4A23C"/>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1234440" y="1783080"/>
            <a:ext cx="2834640" cy="457200"/>
          </a:xfrm>
          <a:prstGeom prst="rect">
            <a:avLst/>
          </a:prstGeom>
          <a:noFill/>
          <a:ln/>
        </p:spPr>
        <p:txBody>
          <a:bodyPr wrap="square" lIns="0" tIns="0" rIns="0" bIns="0" rtlCol="0" anchor="ctr"/>
          <a:lstStyle/>
          <a:p>
            <a:pPr indent="0" marL="0">
              <a:buNone/>
            </a:pPr>
            <a:r>
              <a:rPr lang="en-US" sz="1500" b="1" dirty="0">
                <a:solidFill>
                  <a:srgbClr val="0A2540"/>
                </a:solidFill>
                <a:latin typeface="Calibri" pitchFamily="34" charset="0"/>
                <a:ea typeface="Calibri" pitchFamily="34" charset="-122"/>
                <a:cs typeface="Calibri" pitchFamily="34" charset="-120"/>
              </a:rPr>
              <a:t>Resize to 256 × 192</a:t>
            </a:r>
            <a:endParaRPr lang="en-US" sz="1500" dirty="0"/>
          </a:p>
        </p:txBody>
      </p:sp>
      <p:sp>
        <p:nvSpPr>
          <p:cNvPr id="9" name="Text 7"/>
          <p:cNvSpPr/>
          <p:nvPr/>
        </p:nvSpPr>
        <p:spPr>
          <a:xfrm>
            <a:off x="640080" y="2423160"/>
            <a:ext cx="3383280" cy="128016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A1A1A"/>
                </a:solidFill>
                <a:latin typeface="Calibri" pitchFamily="34" charset="0"/>
                <a:ea typeface="Calibri" pitchFamily="34" charset="-122"/>
                <a:cs typeface="Calibri" pitchFamily="34" charset="-120"/>
              </a:rPr>
              <a:t>Fixed size required so HOG produces fixed-length vectors</a:t>
            </a:r>
            <a:endParaRPr lang="en-US" sz="1100" dirty="0"/>
          </a:p>
          <a:p>
            <a:pPr marL="342900" indent="-342900">
              <a:spcAft>
                <a:spcPts val="400"/>
              </a:spcAft>
              <a:buSzPct val="100000"/>
              <a:buChar char="•"/>
            </a:pPr>
            <a:r>
              <a:rPr lang="en-US" sz="1100" dirty="0">
                <a:solidFill>
                  <a:srgbClr val="1A1A1A"/>
                </a:solidFill>
                <a:latin typeface="Calibri" pitchFamily="34" charset="0"/>
                <a:ea typeface="Calibri" pitchFamily="34" charset="-122"/>
                <a:cs typeface="Calibri" pitchFamily="34" charset="-120"/>
              </a:rPr>
              <a:t>cv2.INTER_AREA — correct for downscaling</a:t>
            </a:r>
            <a:endParaRPr lang="en-US" sz="1100" dirty="0"/>
          </a:p>
          <a:p>
            <a:pPr marL="342900" indent="-342900">
              <a:spcAft>
                <a:spcPts val="400"/>
              </a:spcAft>
              <a:buSzPct val="100000"/>
              <a:buChar char="•"/>
            </a:pPr>
            <a:r>
              <a:rPr lang="en-US" sz="1100" dirty="0">
                <a:solidFill>
                  <a:srgbClr val="1A1A1A"/>
                </a:solidFill>
                <a:latin typeface="Calibri" pitchFamily="34" charset="0"/>
                <a:ea typeface="Calibri" pitchFamily="34" charset="-122"/>
                <a:cs typeface="Calibri" pitchFamily="34" charset="-120"/>
              </a:rPr>
              <a:t>Bounds computational cost across the whole dataset</a:t>
            </a:r>
            <a:endParaRPr lang="en-US" sz="1100" dirty="0"/>
          </a:p>
        </p:txBody>
      </p:sp>
      <p:sp>
        <p:nvSpPr>
          <p:cNvPr id="10" name="Shape 8"/>
          <p:cNvSpPr/>
          <p:nvPr/>
        </p:nvSpPr>
        <p:spPr>
          <a:xfrm>
            <a:off x="640080" y="3794760"/>
            <a:ext cx="3383280" cy="868680"/>
          </a:xfrm>
          <a:prstGeom prst="rect">
            <a:avLst/>
          </a:prstGeom>
          <a:solidFill>
            <a:srgbClr val="0A2540"/>
          </a:solidFill>
          <a:ln w="12700">
            <a:solidFill>
              <a:srgbClr val="0A2540"/>
            </a:solidFill>
            <a:prstDash val="solid"/>
          </a:ln>
        </p:spPr>
      </p:sp>
      <p:sp>
        <p:nvSpPr>
          <p:cNvPr id="11" name="Text 9"/>
          <p:cNvSpPr/>
          <p:nvPr/>
        </p:nvSpPr>
        <p:spPr>
          <a:xfrm>
            <a:off x="731520" y="3822192"/>
            <a:ext cx="3200400" cy="228600"/>
          </a:xfrm>
          <a:prstGeom prst="rect">
            <a:avLst/>
          </a:prstGeom>
          <a:noFill/>
          <a:ln/>
        </p:spPr>
        <p:txBody>
          <a:bodyPr wrap="square" lIns="0" tIns="0" rIns="0" bIns="0" rtlCol="0" anchor="t"/>
          <a:lstStyle/>
          <a:p>
            <a:pPr indent="0" marL="0">
              <a:buNone/>
            </a:pPr>
            <a:r>
              <a:rPr lang="en-US" sz="900" b="1" dirty="0">
                <a:solidFill>
                  <a:srgbClr val="F4A23C"/>
                </a:solidFill>
                <a:latin typeface="Consolas" pitchFamily="34" charset="0"/>
                <a:ea typeface="Consolas" pitchFamily="34" charset="-122"/>
                <a:cs typeface="Consolas" pitchFamily="34" charset="-120"/>
              </a:rPr>
              <a:t>Code:</a:t>
            </a:r>
            <a:endParaRPr lang="en-US" sz="900" dirty="0"/>
          </a:p>
        </p:txBody>
      </p:sp>
      <p:sp>
        <p:nvSpPr>
          <p:cNvPr id="12" name="Text 10"/>
          <p:cNvSpPr/>
          <p:nvPr/>
        </p:nvSpPr>
        <p:spPr>
          <a:xfrm>
            <a:off x="731520" y="4050792"/>
            <a:ext cx="3200400" cy="594360"/>
          </a:xfrm>
          <a:prstGeom prst="rect">
            <a:avLst/>
          </a:prstGeom>
          <a:noFill/>
          <a:ln/>
        </p:spPr>
        <p:txBody>
          <a:bodyPr wrap="square" lIns="0" tIns="0" rIns="0" bIns="0" rtlCol="0" anchor="t"/>
          <a:lstStyle/>
          <a:p>
            <a:pPr indent="0" marL="0">
              <a:buNone/>
            </a:pPr>
            <a:r>
              <a:rPr lang="en-US" sz="950" dirty="0">
                <a:solidFill>
                  <a:srgbClr val="CADCFC"/>
                </a:solidFill>
                <a:latin typeface="Consolas" pitchFamily="34" charset="0"/>
                <a:ea typeface="Consolas" pitchFamily="34" charset="-122"/>
                <a:cs typeface="Consolas" pitchFamily="34" charset="-120"/>
              </a:rPr>
              <a:t>cv2.resize(img, (256, 192),</a:t>
            </a:r>
            <a:endParaRPr lang="en-US" sz="950" dirty="0"/>
          </a:p>
          <a:p>
            <a:pPr indent="0" marL="0">
              <a:buNone/>
            </a:pPr>
            <a:r>
              <a:rPr lang="en-US" sz="950" dirty="0">
                <a:solidFill>
                  <a:srgbClr val="CADCFC"/>
                </a:solidFill>
                <a:latin typeface="Consolas" pitchFamily="34" charset="0"/>
                <a:ea typeface="Consolas" pitchFamily="34" charset="-122"/>
                <a:cs typeface="Consolas" pitchFamily="34" charset="-120"/>
              </a:rPr>
              <a:t>             interpolation=cv2.INTER_AREA)</a:t>
            </a:r>
            <a:endParaRPr lang="en-US" sz="950" dirty="0"/>
          </a:p>
        </p:txBody>
      </p:sp>
      <p:sp>
        <p:nvSpPr>
          <p:cNvPr id="13" name="Shape 11"/>
          <p:cNvSpPr/>
          <p:nvPr/>
        </p:nvSpPr>
        <p:spPr>
          <a:xfrm>
            <a:off x="4343400" y="1554480"/>
            <a:ext cx="3749040" cy="3200400"/>
          </a:xfrm>
          <a:prstGeom prst="rect">
            <a:avLst/>
          </a:prstGeom>
          <a:solidFill>
            <a:srgbClr val="FFFFFF"/>
          </a:solidFill>
          <a:ln w="12700">
            <a:solidFill>
              <a:srgbClr val="D6DBE3"/>
            </a:solidFill>
            <a:prstDash val="solid"/>
          </a:ln>
        </p:spPr>
      </p:sp>
      <p:sp>
        <p:nvSpPr>
          <p:cNvPr id="14" name="Shape 12"/>
          <p:cNvSpPr/>
          <p:nvPr/>
        </p:nvSpPr>
        <p:spPr>
          <a:xfrm>
            <a:off x="4526280" y="1737360"/>
            <a:ext cx="502920" cy="502920"/>
          </a:xfrm>
          <a:prstGeom prst="ellipse">
            <a:avLst/>
          </a:prstGeom>
          <a:solidFill>
            <a:srgbClr val="0A2540"/>
          </a:solidFill>
          <a:ln w="12700">
            <a:solidFill>
              <a:srgbClr val="0A2540"/>
            </a:solidFill>
            <a:prstDash val="solid"/>
          </a:ln>
        </p:spPr>
      </p:sp>
      <p:sp>
        <p:nvSpPr>
          <p:cNvPr id="15" name="Text 13"/>
          <p:cNvSpPr/>
          <p:nvPr/>
        </p:nvSpPr>
        <p:spPr>
          <a:xfrm>
            <a:off x="4526280" y="1737360"/>
            <a:ext cx="502920" cy="502920"/>
          </a:xfrm>
          <a:prstGeom prst="rect">
            <a:avLst/>
          </a:prstGeom>
          <a:noFill/>
          <a:ln/>
        </p:spPr>
        <p:txBody>
          <a:bodyPr wrap="square" lIns="0" tIns="0" rIns="0" bIns="0" rtlCol="0" anchor="ctr"/>
          <a:lstStyle/>
          <a:p>
            <a:pPr algn="ctr" indent="0" marL="0">
              <a:buNone/>
            </a:pPr>
            <a:r>
              <a:rPr lang="en-US" sz="1800" b="1" dirty="0">
                <a:solidFill>
                  <a:srgbClr val="F4A23C"/>
                </a:solidFill>
                <a:latin typeface="Calibri" pitchFamily="34" charset="0"/>
                <a:ea typeface="Calibri" pitchFamily="34" charset="-122"/>
                <a:cs typeface="Calibri" pitchFamily="34" charset="-120"/>
              </a:rPr>
              <a:t>2</a:t>
            </a:r>
            <a:endParaRPr lang="en-US" sz="1800" dirty="0"/>
          </a:p>
        </p:txBody>
      </p:sp>
      <p:sp>
        <p:nvSpPr>
          <p:cNvPr id="16" name="Text 14"/>
          <p:cNvSpPr/>
          <p:nvPr/>
        </p:nvSpPr>
        <p:spPr>
          <a:xfrm>
            <a:off x="5120640" y="1783080"/>
            <a:ext cx="2834640" cy="457200"/>
          </a:xfrm>
          <a:prstGeom prst="rect">
            <a:avLst/>
          </a:prstGeom>
          <a:noFill/>
          <a:ln/>
        </p:spPr>
        <p:txBody>
          <a:bodyPr wrap="square" lIns="0" tIns="0" rIns="0" bIns="0" rtlCol="0" anchor="ctr"/>
          <a:lstStyle/>
          <a:p>
            <a:pPr indent="0" marL="0">
              <a:buNone/>
            </a:pPr>
            <a:r>
              <a:rPr lang="en-US" sz="1500" b="1" dirty="0">
                <a:solidFill>
                  <a:srgbClr val="0A2540"/>
                </a:solidFill>
                <a:latin typeface="Calibri" pitchFamily="34" charset="0"/>
                <a:ea typeface="Calibri" pitchFamily="34" charset="-122"/>
                <a:cs typeface="Calibri" pitchFamily="34" charset="-120"/>
              </a:rPr>
              <a:t>Gaussian blur (5×5, σ ≈ 1.2)</a:t>
            </a:r>
            <a:endParaRPr lang="en-US" sz="1500" dirty="0"/>
          </a:p>
        </p:txBody>
      </p:sp>
      <p:sp>
        <p:nvSpPr>
          <p:cNvPr id="17" name="Text 15"/>
          <p:cNvSpPr/>
          <p:nvPr/>
        </p:nvSpPr>
        <p:spPr>
          <a:xfrm>
            <a:off x="4526280" y="2423160"/>
            <a:ext cx="3383280" cy="128016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A1A1A"/>
                </a:solidFill>
                <a:latin typeface="Calibri" pitchFamily="34" charset="0"/>
                <a:ea typeface="Calibri" pitchFamily="34" charset="-122"/>
                <a:cs typeface="Calibri" pitchFamily="34" charset="-120"/>
              </a:rPr>
              <a:t>LSI smoothing kernel — Lectures 6–7</a:t>
            </a:r>
            <a:endParaRPr lang="en-US" sz="1100" dirty="0"/>
          </a:p>
          <a:p>
            <a:pPr marL="342900" indent="-342900">
              <a:spcAft>
                <a:spcPts val="400"/>
              </a:spcAft>
              <a:buSzPct val="100000"/>
              <a:buChar char="•"/>
            </a:pPr>
            <a:r>
              <a:rPr lang="en-US" sz="1100" dirty="0">
                <a:solidFill>
                  <a:srgbClr val="1A1A1A"/>
                </a:solidFill>
                <a:latin typeface="Calibri" pitchFamily="34" charset="0"/>
                <a:ea typeface="Calibri" pitchFamily="34" charset="-122"/>
                <a:cs typeface="Calibri" pitchFamily="34" charset="-120"/>
              </a:rPr>
              <a:t>Preserves edges better than a box filter</a:t>
            </a:r>
            <a:endParaRPr lang="en-US" sz="1100" dirty="0"/>
          </a:p>
          <a:p>
            <a:pPr marL="342900" indent="-342900">
              <a:spcAft>
                <a:spcPts val="400"/>
              </a:spcAft>
              <a:buSzPct val="100000"/>
              <a:buChar char="•"/>
            </a:pPr>
            <a:r>
              <a:rPr lang="en-US" sz="1100" dirty="0">
                <a:solidFill>
                  <a:srgbClr val="1A1A1A"/>
                </a:solidFill>
                <a:latin typeface="Calibri" pitchFamily="34" charset="0"/>
                <a:ea typeface="Calibri" pitchFamily="34" charset="-122"/>
                <a:cs typeface="Calibri" pitchFamily="34" charset="-120"/>
              </a:rPr>
              <a:t>Conservative σ — does not destroy fine texture (dimples, pebbling)</a:t>
            </a:r>
            <a:endParaRPr lang="en-US" sz="1100" dirty="0"/>
          </a:p>
        </p:txBody>
      </p:sp>
      <p:sp>
        <p:nvSpPr>
          <p:cNvPr id="18" name="Shape 16"/>
          <p:cNvSpPr/>
          <p:nvPr/>
        </p:nvSpPr>
        <p:spPr>
          <a:xfrm>
            <a:off x="4526280" y="3794760"/>
            <a:ext cx="3383280" cy="868680"/>
          </a:xfrm>
          <a:prstGeom prst="rect">
            <a:avLst/>
          </a:prstGeom>
          <a:solidFill>
            <a:srgbClr val="0A2540"/>
          </a:solidFill>
          <a:ln w="12700">
            <a:solidFill>
              <a:srgbClr val="0A2540"/>
            </a:solidFill>
            <a:prstDash val="solid"/>
          </a:ln>
        </p:spPr>
      </p:sp>
      <p:sp>
        <p:nvSpPr>
          <p:cNvPr id="19" name="Text 17"/>
          <p:cNvSpPr/>
          <p:nvPr/>
        </p:nvSpPr>
        <p:spPr>
          <a:xfrm>
            <a:off x="4617720" y="3822192"/>
            <a:ext cx="3200400" cy="228600"/>
          </a:xfrm>
          <a:prstGeom prst="rect">
            <a:avLst/>
          </a:prstGeom>
          <a:noFill/>
          <a:ln/>
        </p:spPr>
        <p:txBody>
          <a:bodyPr wrap="square" lIns="0" tIns="0" rIns="0" bIns="0" rtlCol="0" anchor="t"/>
          <a:lstStyle/>
          <a:p>
            <a:pPr indent="0" marL="0">
              <a:buNone/>
            </a:pPr>
            <a:r>
              <a:rPr lang="en-US" sz="900" b="1" dirty="0">
                <a:solidFill>
                  <a:srgbClr val="F4A23C"/>
                </a:solidFill>
                <a:latin typeface="Consolas" pitchFamily="34" charset="0"/>
                <a:ea typeface="Consolas" pitchFamily="34" charset="-122"/>
                <a:cs typeface="Consolas" pitchFamily="34" charset="-120"/>
              </a:rPr>
              <a:t>Code:</a:t>
            </a:r>
            <a:endParaRPr lang="en-US" sz="900" dirty="0"/>
          </a:p>
        </p:txBody>
      </p:sp>
      <p:sp>
        <p:nvSpPr>
          <p:cNvPr id="20" name="Text 18"/>
          <p:cNvSpPr/>
          <p:nvPr/>
        </p:nvSpPr>
        <p:spPr>
          <a:xfrm>
            <a:off x="4617720" y="4050792"/>
            <a:ext cx="3200400" cy="594360"/>
          </a:xfrm>
          <a:prstGeom prst="rect">
            <a:avLst/>
          </a:prstGeom>
          <a:noFill/>
          <a:ln/>
        </p:spPr>
        <p:txBody>
          <a:bodyPr wrap="square" lIns="0" tIns="0" rIns="0" bIns="0" rtlCol="0" anchor="t"/>
          <a:lstStyle/>
          <a:p>
            <a:pPr indent="0" marL="0">
              <a:buNone/>
            </a:pPr>
            <a:r>
              <a:rPr lang="en-US" sz="950" dirty="0">
                <a:solidFill>
                  <a:srgbClr val="CADCFC"/>
                </a:solidFill>
                <a:latin typeface="Consolas" pitchFamily="34" charset="0"/>
                <a:ea typeface="Consolas" pitchFamily="34" charset="-122"/>
                <a:cs typeface="Consolas" pitchFamily="34" charset="-120"/>
              </a:rPr>
              <a:t>cv2.GaussianBlur(img, (5, 5), 1.2)</a:t>
            </a:r>
            <a:endParaRPr lang="en-US" sz="950" dirty="0"/>
          </a:p>
        </p:txBody>
      </p:sp>
      <p:sp>
        <p:nvSpPr>
          <p:cNvPr id="21" name="Shape 19"/>
          <p:cNvSpPr/>
          <p:nvPr/>
        </p:nvSpPr>
        <p:spPr>
          <a:xfrm>
            <a:off x="8229600" y="1554480"/>
            <a:ext cx="3749040" cy="3200400"/>
          </a:xfrm>
          <a:prstGeom prst="rect">
            <a:avLst/>
          </a:prstGeom>
          <a:solidFill>
            <a:srgbClr val="FFFFFF"/>
          </a:solidFill>
          <a:ln w="12700">
            <a:solidFill>
              <a:srgbClr val="D6DBE3"/>
            </a:solidFill>
            <a:prstDash val="solid"/>
          </a:ln>
        </p:spPr>
      </p:sp>
      <p:sp>
        <p:nvSpPr>
          <p:cNvPr id="22" name="Shape 20"/>
          <p:cNvSpPr/>
          <p:nvPr/>
        </p:nvSpPr>
        <p:spPr>
          <a:xfrm>
            <a:off x="8412480" y="1737360"/>
            <a:ext cx="502920" cy="502920"/>
          </a:xfrm>
          <a:prstGeom prst="ellipse">
            <a:avLst/>
          </a:prstGeom>
          <a:solidFill>
            <a:srgbClr val="0A2540"/>
          </a:solidFill>
          <a:ln w="12700">
            <a:solidFill>
              <a:srgbClr val="0A2540"/>
            </a:solidFill>
            <a:prstDash val="solid"/>
          </a:ln>
        </p:spPr>
      </p:sp>
      <p:sp>
        <p:nvSpPr>
          <p:cNvPr id="23" name="Text 21"/>
          <p:cNvSpPr/>
          <p:nvPr/>
        </p:nvSpPr>
        <p:spPr>
          <a:xfrm>
            <a:off x="8412480" y="1737360"/>
            <a:ext cx="502920" cy="502920"/>
          </a:xfrm>
          <a:prstGeom prst="rect">
            <a:avLst/>
          </a:prstGeom>
          <a:noFill/>
          <a:ln/>
        </p:spPr>
        <p:txBody>
          <a:bodyPr wrap="square" lIns="0" tIns="0" rIns="0" bIns="0" rtlCol="0" anchor="ctr"/>
          <a:lstStyle/>
          <a:p>
            <a:pPr algn="ctr" indent="0" marL="0">
              <a:buNone/>
            </a:pPr>
            <a:r>
              <a:rPr lang="en-US" sz="1800" b="1" dirty="0">
                <a:solidFill>
                  <a:srgbClr val="F4A23C"/>
                </a:solidFill>
                <a:latin typeface="Calibri" pitchFamily="34" charset="0"/>
                <a:ea typeface="Calibri" pitchFamily="34" charset="-122"/>
                <a:cs typeface="Calibri" pitchFamily="34" charset="-120"/>
              </a:rPr>
              <a:t>3</a:t>
            </a:r>
            <a:endParaRPr lang="en-US" sz="1800" dirty="0"/>
          </a:p>
        </p:txBody>
      </p:sp>
      <p:sp>
        <p:nvSpPr>
          <p:cNvPr id="24" name="Text 22"/>
          <p:cNvSpPr/>
          <p:nvPr/>
        </p:nvSpPr>
        <p:spPr>
          <a:xfrm>
            <a:off x="9006840" y="1783080"/>
            <a:ext cx="2834640" cy="457200"/>
          </a:xfrm>
          <a:prstGeom prst="rect">
            <a:avLst/>
          </a:prstGeom>
          <a:noFill/>
          <a:ln/>
        </p:spPr>
        <p:txBody>
          <a:bodyPr wrap="square" lIns="0" tIns="0" rIns="0" bIns="0" rtlCol="0" anchor="ctr"/>
          <a:lstStyle/>
          <a:p>
            <a:pPr indent="0" marL="0">
              <a:buNone/>
            </a:pPr>
            <a:r>
              <a:rPr lang="en-US" sz="1500" b="1" dirty="0">
                <a:solidFill>
                  <a:srgbClr val="0A2540"/>
                </a:solidFill>
                <a:latin typeface="Calibri" pitchFamily="34" charset="0"/>
                <a:ea typeface="Calibri" pitchFamily="34" charset="-122"/>
                <a:cs typeface="Calibri" pitchFamily="34" charset="-120"/>
              </a:rPr>
              <a:t>BGR → HSV conversion</a:t>
            </a:r>
            <a:endParaRPr lang="en-US" sz="1500" dirty="0"/>
          </a:p>
        </p:txBody>
      </p:sp>
      <p:sp>
        <p:nvSpPr>
          <p:cNvPr id="25" name="Text 23"/>
          <p:cNvSpPr/>
          <p:nvPr/>
        </p:nvSpPr>
        <p:spPr>
          <a:xfrm>
            <a:off x="8412480" y="2423160"/>
            <a:ext cx="3383280" cy="128016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A1A1A"/>
                </a:solidFill>
                <a:latin typeface="Calibri" pitchFamily="34" charset="0"/>
                <a:ea typeface="Calibri" pitchFamily="34" charset="-122"/>
                <a:cs typeface="Calibri" pitchFamily="34" charset="-120"/>
              </a:rPr>
              <a:t>Separates pure colour (H) from brightness (V)</a:t>
            </a:r>
            <a:endParaRPr lang="en-US" sz="1100" dirty="0"/>
          </a:p>
          <a:p>
            <a:pPr marL="342900" indent="-342900">
              <a:spcAft>
                <a:spcPts val="400"/>
              </a:spcAft>
              <a:buSzPct val="100000"/>
              <a:buChar char="•"/>
            </a:pPr>
            <a:r>
              <a:rPr lang="en-US" sz="1100" dirty="0">
                <a:solidFill>
                  <a:srgbClr val="1A1A1A"/>
                </a:solidFill>
                <a:latin typeface="Calibri" pitchFamily="34" charset="0"/>
                <a:ea typeface="Calibri" pitchFamily="34" charset="-122"/>
                <a:cs typeface="Calibri" pitchFamily="34" charset="-120"/>
              </a:rPr>
              <a:t>Hue maps 1-to-1 onto our class colours</a:t>
            </a:r>
            <a:endParaRPr lang="en-US" sz="1100" dirty="0"/>
          </a:p>
          <a:p>
            <a:pPr marL="342900" indent="-342900">
              <a:spcAft>
                <a:spcPts val="400"/>
              </a:spcAft>
              <a:buSzPct val="100000"/>
              <a:buChar char="•"/>
            </a:pPr>
            <a:r>
              <a:rPr lang="en-US" sz="1100" dirty="0">
                <a:solidFill>
                  <a:srgbClr val="1A1A1A"/>
                </a:solidFill>
                <a:latin typeface="Calibri" pitchFamily="34" charset="0"/>
                <a:ea typeface="Calibri" pitchFamily="34" charset="-122"/>
                <a:cs typeface="Calibri" pitchFamily="34" charset="-120"/>
              </a:rPr>
              <a:t>Robust to shading / lighting variations</a:t>
            </a:r>
            <a:endParaRPr lang="en-US" sz="1100" dirty="0"/>
          </a:p>
        </p:txBody>
      </p:sp>
      <p:sp>
        <p:nvSpPr>
          <p:cNvPr id="26" name="Shape 24"/>
          <p:cNvSpPr/>
          <p:nvPr/>
        </p:nvSpPr>
        <p:spPr>
          <a:xfrm>
            <a:off x="8412480" y="3794760"/>
            <a:ext cx="3383280" cy="868680"/>
          </a:xfrm>
          <a:prstGeom prst="rect">
            <a:avLst/>
          </a:prstGeom>
          <a:solidFill>
            <a:srgbClr val="0A2540"/>
          </a:solidFill>
          <a:ln w="12700">
            <a:solidFill>
              <a:srgbClr val="0A2540"/>
            </a:solidFill>
            <a:prstDash val="solid"/>
          </a:ln>
        </p:spPr>
      </p:sp>
      <p:sp>
        <p:nvSpPr>
          <p:cNvPr id="27" name="Text 25"/>
          <p:cNvSpPr/>
          <p:nvPr/>
        </p:nvSpPr>
        <p:spPr>
          <a:xfrm>
            <a:off x="8503920" y="3822192"/>
            <a:ext cx="3200400" cy="228600"/>
          </a:xfrm>
          <a:prstGeom prst="rect">
            <a:avLst/>
          </a:prstGeom>
          <a:noFill/>
          <a:ln/>
        </p:spPr>
        <p:txBody>
          <a:bodyPr wrap="square" lIns="0" tIns="0" rIns="0" bIns="0" rtlCol="0" anchor="t"/>
          <a:lstStyle/>
          <a:p>
            <a:pPr indent="0" marL="0">
              <a:buNone/>
            </a:pPr>
            <a:r>
              <a:rPr lang="en-US" sz="900" b="1" dirty="0">
                <a:solidFill>
                  <a:srgbClr val="F4A23C"/>
                </a:solidFill>
                <a:latin typeface="Consolas" pitchFamily="34" charset="0"/>
                <a:ea typeface="Consolas" pitchFamily="34" charset="-122"/>
                <a:cs typeface="Consolas" pitchFamily="34" charset="-120"/>
              </a:rPr>
              <a:t>Code:</a:t>
            </a:r>
            <a:endParaRPr lang="en-US" sz="900" dirty="0"/>
          </a:p>
        </p:txBody>
      </p:sp>
      <p:sp>
        <p:nvSpPr>
          <p:cNvPr id="28" name="Text 26"/>
          <p:cNvSpPr/>
          <p:nvPr/>
        </p:nvSpPr>
        <p:spPr>
          <a:xfrm>
            <a:off x="8503920" y="4050792"/>
            <a:ext cx="3200400" cy="594360"/>
          </a:xfrm>
          <a:prstGeom prst="rect">
            <a:avLst/>
          </a:prstGeom>
          <a:noFill/>
          <a:ln/>
        </p:spPr>
        <p:txBody>
          <a:bodyPr wrap="square" lIns="0" tIns="0" rIns="0" bIns="0" rtlCol="0" anchor="t"/>
          <a:lstStyle/>
          <a:p>
            <a:pPr indent="0" marL="0">
              <a:buNone/>
            </a:pPr>
            <a:r>
              <a:rPr lang="en-US" sz="950" dirty="0">
                <a:solidFill>
                  <a:srgbClr val="CADCFC"/>
                </a:solidFill>
                <a:latin typeface="Consolas" pitchFamily="34" charset="0"/>
                <a:ea typeface="Consolas" pitchFamily="34" charset="-122"/>
                <a:cs typeface="Consolas" pitchFamily="34" charset="-120"/>
              </a:rPr>
              <a:t>hsv = cv2.cvtColor(img, cv2.COLOR_BGR2HSV)</a:t>
            </a:r>
            <a:endParaRPr lang="en-US" sz="950" dirty="0"/>
          </a:p>
        </p:txBody>
      </p:sp>
      <p:sp>
        <p:nvSpPr>
          <p:cNvPr id="29" name="Shape 27"/>
          <p:cNvSpPr/>
          <p:nvPr/>
        </p:nvSpPr>
        <p:spPr>
          <a:xfrm>
            <a:off x="457200" y="4937760"/>
            <a:ext cx="11247120" cy="1371600"/>
          </a:xfrm>
          <a:prstGeom prst="rect">
            <a:avLst/>
          </a:prstGeom>
          <a:solidFill>
            <a:srgbClr val="F4F6F9"/>
          </a:solidFill>
          <a:ln w="12700">
            <a:solidFill>
              <a:srgbClr val="D6DBE3"/>
            </a:solidFill>
            <a:prstDash val="solid"/>
          </a:ln>
        </p:spPr>
      </p:sp>
      <p:sp>
        <p:nvSpPr>
          <p:cNvPr id="30" name="Text 28"/>
          <p:cNvSpPr/>
          <p:nvPr/>
        </p:nvSpPr>
        <p:spPr>
          <a:xfrm>
            <a:off x="640080" y="5029200"/>
            <a:ext cx="10972800" cy="365760"/>
          </a:xfrm>
          <a:prstGeom prst="rect">
            <a:avLst/>
          </a:prstGeom>
          <a:noFill/>
          <a:ln/>
        </p:spPr>
        <p:txBody>
          <a:bodyPr wrap="square" lIns="0" tIns="0" rIns="0" bIns="0"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Why preprocessing matters for this project</a:t>
            </a:r>
            <a:endParaRPr lang="en-US" sz="1400" dirty="0"/>
          </a:p>
        </p:txBody>
      </p:sp>
      <p:sp>
        <p:nvSpPr>
          <p:cNvPr id="31" name="Text 29"/>
          <p:cNvSpPr/>
          <p:nvPr/>
        </p:nvSpPr>
        <p:spPr>
          <a:xfrm>
            <a:off x="640080" y="5349240"/>
            <a:ext cx="10972800" cy="914400"/>
          </a:xfrm>
          <a:prstGeom prst="rect">
            <a:avLst/>
          </a:prstGeom>
          <a:noFill/>
          <a:ln/>
        </p:spPr>
        <p:txBody>
          <a:bodyPr wrap="square" lIns="0" tIns="0" rIns="0" bIns="0" rtlCol="0" anchor="t"/>
          <a:lstStyle/>
          <a:p>
            <a:pPr indent="0" marL="0">
              <a:spcAft>
                <a:spcPts val="200"/>
              </a:spcAft>
              <a:buNone/>
            </a:pPr>
            <a:r>
              <a:rPr lang="en-US" sz="1100" b="1" dirty="0">
                <a:solidFill>
                  <a:srgbClr val="F4A23C"/>
                </a:solidFill>
                <a:latin typeface="Calibri" pitchFamily="34" charset="0"/>
                <a:ea typeface="Calibri" pitchFamily="34" charset="-122"/>
                <a:cs typeface="Calibri" pitchFamily="34" charset="-120"/>
              </a:rPr>
              <a:t>Fixed input size → </a:t>
            </a:r>
            <a:pPr indent="0" marL="0">
              <a:spcAft>
                <a:spcPts val="200"/>
              </a:spcAft>
              <a:buNone/>
            </a:pPr>
            <a:r>
              <a:rPr lang="en-US" sz="1100" dirty="0">
                <a:solidFill>
                  <a:srgbClr val="1A1A1A"/>
                </a:solidFill>
                <a:latin typeface="Calibri" pitchFamily="34" charset="0"/>
                <a:ea typeface="Calibri" pitchFamily="34" charset="-122"/>
                <a:cs typeface="Calibri" pitchFamily="34" charset="-120"/>
              </a:rPr>
              <a:t>HOG produces a vector of length 1,764 on every image, so feature vectors are comparable.   </a:t>
            </a:r>
            <a:pPr indent="0" marL="0">
              <a:spcAft>
                <a:spcPts val="200"/>
              </a:spcAft>
              <a:buNone/>
            </a:pPr>
            <a:r>
              <a:rPr lang="en-US" sz="1100" b="1" dirty="0">
                <a:solidFill>
                  <a:srgbClr val="F4A23C"/>
                </a:solidFill>
                <a:latin typeface="Calibri" pitchFamily="34" charset="0"/>
                <a:ea typeface="Calibri" pitchFamily="34" charset="-122"/>
                <a:cs typeface="Calibri" pitchFamily="34" charset="-120"/>
              </a:rPr>
              <a:t>Edge-preserving denoising → </a:t>
            </a:r>
            <a:endParaRPr lang="en-US" sz="1100" dirty="0"/>
          </a:p>
          <a:p>
            <a:pPr indent="0" marL="0">
              <a:spcAft>
                <a:spcPts val="200"/>
              </a:spcAft>
              <a:buNone/>
            </a:pPr>
            <a:r>
              <a:rPr lang="en-US" sz="1100" dirty="0">
                <a:solidFill>
                  <a:srgbClr val="1A1A1A"/>
                </a:solidFill>
                <a:latin typeface="Calibri" pitchFamily="34" charset="0"/>
                <a:ea typeface="Calibri" pitchFamily="34" charset="-122"/>
                <a:cs typeface="Calibri" pitchFamily="34" charset="-120"/>
              </a:rPr>
              <a:t>fine texture cues (golf dimples, basketball pebbling, baseball stitching) survive the smoothing pass.   </a:t>
            </a:r>
            <a:pPr indent="0" marL="0">
              <a:spcAft>
                <a:spcPts val="200"/>
              </a:spcAft>
              <a:buNone/>
            </a:pPr>
            <a:r>
              <a:rPr lang="en-US" sz="1100" b="1" dirty="0">
                <a:solidFill>
                  <a:srgbClr val="F4A23C"/>
                </a:solidFill>
                <a:latin typeface="Calibri" pitchFamily="34" charset="0"/>
                <a:ea typeface="Calibri" pitchFamily="34" charset="-122"/>
                <a:cs typeface="Calibri" pitchFamily="34" charset="-120"/>
              </a:rPr>
              <a:t>HSV space → </a:t>
            </a:r>
            <a:endParaRPr lang="en-US" sz="1100" dirty="0"/>
          </a:p>
          <a:p>
            <a:pPr indent="0" marL="0">
              <a:spcAft>
                <a:spcPts val="200"/>
              </a:spcAft>
              <a:buNone/>
            </a:pPr>
            <a:r>
              <a:rPr lang="en-US" sz="1100" dirty="0">
                <a:solidFill>
                  <a:srgbClr val="1A1A1A"/>
                </a:solidFill>
                <a:latin typeface="Calibri" pitchFamily="34" charset="0"/>
                <a:ea typeface="Calibri" pitchFamily="34" charset="-122"/>
                <a:cs typeface="Calibri" pitchFamily="34" charset="-120"/>
              </a:rPr>
              <a:t>the same hue range identifies a class regardless of brightness — robust to studio lighting vs grass field.</a:t>
            </a:r>
            <a:endParaRPr lang="en-US" sz="1100" dirty="0"/>
          </a:p>
        </p:txBody>
      </p:sp>
      <p:sp>
        <p:nvSpPr>
          <p:cNvPr id="32" name="Text 30"/>
          <p:cNvSpPr/>
          <p:nvPr/>
        </p:nvSpPr>
        <p:spPr>
          <a:xfrm>
            <a:off x="457200" y="6537960"/>
            <a:ext cx="7315200" cy="228600"/>
          </a:xfrm>
          <a:prstGeom prst="rect">
            <a:avLst/>
          </a:prstGeom>
          <a:noFill/>
          <a:ln/>
        </p:spPr>
        <p:txBody>
          <a:bodyPr wrap="square" rtlCol="0" anchor="ctr"/>
          <a:lstStyle/>
          <a:p>
            <a:pPr indent="0" marL="0">
              <a:buNone/>
            </a:pPr>
            <a:r>
              <a:rPr lang="en-US" sz="900" dirty="0">
                <a:solidFill>
                  <a:srgbClr val="5A6473"/>
                </a:solidFill>
                <a:latin typeface="Calibri" pitchFamily="34" charset="0"/>
                <a:ea typeface="Calibri" pitchFamily="34" charset="-122"/>
                <a:cs typeface="Calibri" pitchFamily="34" charset="-120"/>
              </a:rPr>
              <a:t>ENMR602 · SIP Ball Classification · Tutorial 10</a:t>
            </a:r>
            <a:endParaRPr lang="en-US" sz="900" dirty="0"/>
          </a:p>
        </p:txBody>
      </p:sp>
      <p:sp>
        <p:nvSpPr>
          <p:cNvPr id="33" name="Text 31"/>
          <p:cNvSpPr/>
          <p:nvPr/>
        </p:nvSpPr>
        <p:spPr>
          <a:xfrm>
            <a:off x="8961120" y="6537960"/>
            <a:ext cx="2743200" cy="228600"/>
          </a:xfrm>
          <a:prstGeom prst="rect">
            <a:avLst/>
          </a:prstGeom>
          <a:noFill/>
          <a:ln/>
        </p:spPr>
        <p:txBody>
          <a:bodyPr wrap="square" rtlCol="0" anchor="ctr"/>
          <a:lstStyle/>
          <a:p>
            <a:pPr algn="r" indent="0" marL="0">
              <a:buNone/>
            </a:pPr>
            <a:r>
              <a:rPr lang="en-US" sz="900" b="1" dirty="0">
                <a:solidFill>
                  <a:srgbClr val="5A6473"/>
                </a:solidFill>
                <a:latin typeface="Calibri" pitchFamily="34" charset="0"/>
                <a:ea typeface="Calibri" pitchFamily="34" charset="-122"/>
                <a:cs typeface="Calibri" pitchFamily="34" charset="-120"/>
              </a:rPr>
              <a:t>Milestone 1</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502920"/>
          </a:xfrm>
          <a:prstGeom prst="rect">
            <a:avLst/>
          </a:prstGeom>
          <a:solidFill>
            <a:srgbClr val="F4A23C"/>
          </a:solidFill>
          <a:ln w="12700">
            <a:solidFill>
              <a:srgbClr val="F4A23C"/>
            </a:solidFill>
            <a:prstDash val="solid"/>
          </a:ln>
        </p:spPr>
      </p:sp>
      <p:sp>
        <p:nvSpPr>
          <p:cNvPr id="3" name="Text 1"/>
          <p:cNvSpPr/>
          <p:nvPr/>
        </p:nvSpPr>
        <p:spPr>
          <a:xfrm>
            <a:off x="685800" y="320040"/>
            <a:ext cx="11018520" cy="640080"/>
          </a:xfrm>
          <a:prstGeom prst="rect">
            <a:avLst/>
          </a:prstGeom>
          <a:noFill/>
          <a:ln/>
        </p:spPr>
        <p:txBody>
          <a:bodyPr wrap="square" lIns="0" tIns="0" rIns="0" bIns="0" rtlCol="0" anchor="ctr"/>
          <a:lstStyle/>
          <a:p>
            <a:pPr indent="0" marL="0">
              <a:buNone/>
            </a:pPr>
            <a:r>
              <a:rPr lang="en-US" sz="2800" b="1" dirty="0">
                <a:solidFill>
                  <a:srgbClr val="0A2540"/>
                </a:solidFill>
                <a:latin typeface="Calibri" pitchFamily="34" charset="0"/>
                <a:ea typeface="Calibri" pitchFamily="34" charset="-122"/>
                <a:cs typeface="Calibri" pitchFamily="34" charset="-120"/>
              </a:rPr>
              <a:t>M1 — Segmentation &amp; Feature Vector</a:t>
            </a:r>
            <a:endParaRPr lang="en-US" sz="2800" dirty="0"/>
          </a:p>
        </p:txBody>
      </p:sp>
      <p:sp>
        <p:nvSpPr>
          <p:cNvPr id="4" name="Text 2"/>
          <p:cNvSpPr/>
          <p:nvPr/>
        </p:nvSpPr>
        <p:spPr>
          <a:xfrm>
            <a:off x="685800" y="914400"/>
            <a:ext cx="11018520" cy="320040"/>
          </a:xfrm>
          <a:prstGeom prst="rect">
            <a:avLst/>
          </a:prstGeom>
          <a:noFill/>
          <a:ln/>
        </p:spPr>
        <p:txBody>
          <a:bodyPr wrap="square" lIns="0" tIns="0" rIns="0" bIns="0" rtlCol="0" anchor="ctr"/>
          <a:lstStyle/>
          <a:p>
            <a:pPr indent="0" marL="0">
              <a:buNone/>
            </a:pPr>
            <a:r>
              <a:rPr lang="en-US" sz="1400" i="1" dirty="0">
                <a:solidFill>
                  <a:srgbClr val="5A6473"/>
                </a:solidFill>
                <a:latin typeface="Calibri" pitchFamily="34" charset="0"/>
                <a:ea typeface="Calibri" pitchFamily="34" charset="-122"/>
                <a:cs typeface="Calibri" pitchFamily="34" charset="-120"/>
              </a:rPr>
              <a:t>Two-stage segmentation feeds three feature groups</a:t>
            </a:r>
            <a:endParaRPr lang="en-US" sz="1400" dirty="0"/>
          </a:p>
        </p:txBody>
      </p:sp>
      <p:sp>
        <p:nvSpPr>
          <p:cNvPr id="5" name="Text 3"/>
          <p:cNvSpPr/>
          <p:nvPr/>
        </p:nvSpPr>
        <p:spPr>
          <a:xfrm>
            <a:off x="457200" y="1554480"/>
            <a:ext cx="5486400" cy="365760"/>
          </a:xfrm>
          <a:prstGeom prst="rect">
            <a:avLst/>
          </a:prstGeom>
          <a:noFill/>
          <a:ln/>
        </p:spPr>
        <p:txBody>
          <a:bodyPr wrap="square" lIns="0" tIns="0" rIns="0" bIns="0" rtlCol="0" anchor="ctr"/>
          <a:lstStyle/>
          <a:p>
            <a:pPr indent="0" marL="0">
              <a:buNone/>
            </a:pPr>
            <a:r>
              <a:rPr lang="en-US" sz="1700" b="1" dirty="0">
                <a:solidFill>
                  <a:srgbClr val="0A2540"/>
                </a:solidFill>
                <a:latin typeface="Calibri" pitchFamily="34" charset="0"/>
                <a:ea typeface="Calibri" pitchFamily="34" charset="-122"/>
                <a:cs typeface="Calibri" pitchFamily="34" charset="-120"/>
              </a:rPr>
              <a:t>Segmentation strategy</a:t>
            </a:r>
            <a:endParaRPr lang="en-US" sz="1700" dirty="0"/>
          </a:p>
        </p:txBody>
      </p:sp>
      <p:sp>
        <p:nvSpPr>
          <p:cNvPr id="6" name="Shape 4"/>
          <p:cNvSpPr/>
          <p:nvPr/>
        </p:nvSpPr>
        <p:spPr>
          <a:xfrm>
            <a:off x="457200" y="2011680"/>
            <a:ext cx="73152" cy="914400"/>
          </a:xfrm>
          <a:prstGeom prst="rect">
            <a:avLst/>
          </a:prstGeom>
          <a:solidFill>
            <a:srgbClr val="F4A23C"/>
          </a:solidFill>
          <a:ln w="12700">
            <a:solidFill>
              <a:srgbClr val="F4A23C"/>
            </a:solidFill>
            <a:prstDash val="solid"/>
          </a:ln>
        </p:spPr>
      </p:sp>
      <p:sp>
        <p:nvSpPr>
          <p:cNvPr id="7" name="Text 5"/>
          <p:cNvSpPr/>
          <p:nvPr/>
        </p:nvSpPr>
        <p:spPr>
          <a:xfrm>
            <a:off x="640080" y="2011680"/>
            <a:ext cx="5029200" cy="320040"/>
          </a:xfrm>
          <a:prstGeom prst="rect">
            <a:avLst/>
          </a:prstGeom>
          <a:noFill/>
          <a:ln/>
        </p:spPr>
        <p:txBody>
          <a:bodyPr wrap="square" lIns="0" tIns="0" rIns="0" bIns="0" rtlCol="0" anchor="ctr"/>
          <a:lstStyle/>
          <a:p>
            <a:pPr indent="0" marL="0">
              <a:buNone/>
            </a:pPr>
            <a:r>
              <a:rPr lang="en-US" sz="1300" b="1" dirty="0">
                <a:solidFill>
                  <a:srgbClr val="0A2540"/>
                </a:solidFill>
                <a:latin typeface="Calibri" pitchFamily="34" charset="0"/>
                <a:ea typeface="Calibri" pitchFamily="34" charset="-122"/>
                <a:cs typeface="Calibri" pitchFamily="34" charset="-120"/>
              </a:rPr>
              <a:t>Primary: HSV thresholding</a:t>
            </a:r>
            <a:endParaRPr lang="en-US" sz="1300" dirty="0"/>
          </a:p>
        </p:txBody>
      </p:sp>
      <p:sp>
        <p:nvSpPr>
          <p:cNvPr id="8" name="Text 6"/>
          <p:cNvSpPr/>
          <p:nvPr/>
        </p:nvSpPr>
        <p:spPr>
          <a:xfrm>
            <a:off x="640080" y="2304288"/>
            <a:ext cx="5029200" cy="64008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Per-class (lower, upper) hue ranges via cv2.inRange. Two ranges OR-combined for hue-wrap classes (e.g. orange basketball).</a:t>
            </a:r>
            <a:endParaRPr lang="en-US" sz="1100" dirty="0"/>
          </a:p>
        </p:txBody>
      </p:sp>
      <p:sp>
        <p:nvSpPr>
          <p:cNvPr id="9" name="Shape 7"/>
          <p:cNvSpPr/>
          <p:nvPr/>
        </p:nvSpPr>
        <p:spPr>
          <a:xfrm>
            <a:off x="457200" y="3108960"/>
            <a:ext cx="73152" cy="914400"/>
          </a:xfrm>
          <a:prstGeom prst="rect">
            <a:avLst/>
          </a:prstGeom>
          <a:solidFill>
            <a:srgbClr val="F4A23C"/>
          </a:solidFill>
          <a:ln w="12700">
            <a:solidFill>
              <a:srgbClr val="F4A23C"/>
            </a:solidFill>
            <a:prstDash val="solid"/>
          </a:ln>
        </p:spPr>
      </p:sp>
      <p:sp>
        <p:nvSpPr>
          <p:cNvPr id="10" name="Text 8"/>
          <p:cNvSpPr/>
          <p:nvPr/>
        </p:nvSpPr>
        <p:spPr>
          <a:xfrm>
            <a:off x="640080" y="3108960"/>
            <a:ext cx="5029200" cy="320040"/>
          </a:xfrm>
          <a:prstGeom prst="rect">
            <a:avLst/>
          </a:prstGeom>
          <a:noFill/>
          <a:ln/>
        </p:spPr>
        <p:txBody>
          <a:bodyPr wrap="square" lIns="0" tIns="0" rIns="0" bIns="0" rtlCol="0" anchor="ctr"/>
          <a:lstStyle/>
          <a:p>
            <a:pPr indent="0" marL="0">
              <a:buNone/>
            </a:pPr>
            <a:r>
              <a:rPr lang="en-US" sz="1300" b="1" dirty="0">
                <a:solidFill>
                  <a:srgbClr val="0A2540"/>
                </a:solidFill>
                <a:latin typeface="Calibri" pitchFamily="34" charset="0"/>
                <a:ea typeface="Calibri" pitchFamily="34" charset="-122"/>
                <a:cs typeface="Calibri" pitchFamily="34" charset="-120"/>
              </a:rPr>
              <a:t>Fallback: K-means (K=2/3)</a:t>
            </a:r>
            <a:endParaRPr lang="en-US" sz="1300" dirty="0"/>
          </a:p>
        </p:txBody>
      </p:sp>
      <p:sp>
        <p:nvSpPr>
          <p:cNvPr id="11" name="Text 9"/>
          <p:cNvSpPr/>
          <p:nvPr/>
        </p:nvSpPr>
        <p:spPr>
          <a:xfrm>
            <a:off x="640080" y="3401568"/>
            <a:ext cx="5029200" cy="64008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When the HSV mask covers &lt;1% of the image — catches white-on-white and dark backgrounds.</a:t>
            </a:r>
            <a:endParaRPr lang="en-US" sz="1100" dirty="0"/>
          </a:p>
        </p:txBody>
      </p:sp>
      <p:sp>
        <p:nvSpPr>
          <p:cNvPr id="12" name="Shape 10"/>
          <p:cNvSpPr/>
          <p:nvPr/>
        </p:nvSpPr>
        <p:spPr>
          <a:xfrm>
            <a:off x="457200" y="4206240"/>
            <a:ext cx="73152" cy="914400"/>
          </a:xfrm>
          <a:prstGeom prst="rect">
            <a:avLst/>
          </a:prstGeom>
          <a:solidFill>
            <a:srgbClr val="F4A23C"/>
          </a:solidFill>
          <a:ln w="12700">
            <a:solidFill>
              <a:srgbClr val="F4A23C"/>
            </a:solidFill>
            <a:prstDash val="solid"/>
          </a:ln>
        </p:spPr>
      </p:sp>
      <p:sp>
        <p:nvSpPr>
          <p:cNvPr id="13" name="Text 11"/>
          <p:cNvSpPr/>
          <p:nvPr/>
        </p:nvSpPr>
        <p:spPr>
          <a:xfrm>
            <a:off x="640080" y="4206240"/>
            <a:ext cx="5029200" cy="320040"/>
          </a:xfrm>
          <a:prstGeom prst="rect">
            <a:avLst/>
          </a:prstGeom>
          <a:noFill/>
          <a:ln/>
        </p:spPr>
        <p:txBody>
          <a:bodyPr wrap="square" lIns="0" tIns="0" rIns="0" bIns="0" rtlCol="0" anchor="ctr"/>
          <a:lstStyle/>
          <a:p>
            <a:pPr indent="0" marL="0">
              <a:buNone/>
            </a:pPr>
            <a:r>
              <a:rPr lang="en-US" sz="1300" b="1" dirty="0">
                <a:solidFill>
                  <a:srgbClr val="0A2540"/>
                </a:solidFill>
                <a:latin typeface="Calibri" pitchFamily="34" charset="0"/>
                <a:ea typeface="Calibri" pitchFamily="34" charset="-122"/>
                <a:cs typeface="Calibri" pitchFamily="34" charset="-120"/>
              </a:rPr>
              <a:t>Mask cleaning</a:t>
            </a:r>
            <a:endParaRPr lang="en-US" sz="1300" dirty="0"/>
          </a:p>
        </p:txBody>
      </p:sp>
      <p:sp>
        <p:nvSpPr>
          <p:cNvPr id="14" name="Text 12"/>
          <p:cNvSpPr/>
          <p:nvPr/>
        </p:nvSpPr>
        <p:spPr>
          <a:xfrm>
            <a:off x="640080" y="4498848"/>
            <a:ext cx="5029200" cy="64008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Opening removes background speckle, closing fills holes. Keep only the largest connected component.</a:t>
            </a:r>
            <a:endParaRPr lang="en-US" sz="1100" dirty="0"/>
          </a:p>
        </p:txBody>
      </p:sp>
      <p:sp>
        <p:nvSpPr>
          <p:cNvPr id="15" name="Text 13"/>
          <p:cNvSpPr/>
          <p:nvPr/>
        </p:nvSpPr>
        <p:spPr>
          <a:xfrm>
            <a:off x="6400800" y="1554480"/>
            <a:ext cx="5486400" cy="365760"/>
          </a:xfrm>
          <a:prstGeom prst="rect">
            <a:avLst/>
          </a:prstGeom>
          <a:noFill/>
          <a:ln/>
        </p:spPr>
        <p:txBody>
          <a:bodyPr wrap="square" lIns="0" tIns="0" rIns="0" bIns="0" rtlCol="0" anchor="ctr"/>
          <a:lstStyle/>
          <a:p>
            <a:pPr indent="0" marL="0">
              <a:buNone/>
            </a:pPr>
            <a:r>
              <a:rPr lang="en-US" sz="1700" b="1" dirty="0">
                <a:solidFill>
                  <a:srgbClr val="0A2540"/>
                </a:solidFill>
                <a:latin typeface="Calibri" pitchFamily="34" charset="0"/>
                <a:ea typeface="Calibri" pitchFamily="34" charset="-122"/>
                <a:cs typeface="Calibri" pitchFamily="34" charset="-120"/>
              </a:rPr>
              <a:t>Feature vector — 1,820 dims (planned)</a:t>
            </a:r>
            <a:endParaRPr lang="en-US" sz="1700" dirty="0"/>
          </a:p>
        </p:txBody>
      </p:sp>
      <p:sp>
        <p:nvSpPr>
          <p:cNvPr id="16" name="Shape 14"/>
          <p:cNvSpPr/>
          <p:nvPr/>
        </p:nvSpPr>
        <p:spPr>
          <a:xfrm>
            <a:off x="6400800" y="2103120"/>
            <a:ext cx="137160" cy="457200"/>
          </a:xfrm>
          <a:prstGeom prst="rect">
            <a:avLst/>
          </a:prstGeom>
          <a:solidFill>
            <a:srgbClr val="F4A23C"/>
          </a:solidFill>
          <a:ln w="12700">
            <a:solidFill>
              <a:srgbClr val="F4A23C"/>
            </a:solidFill>
            <a:prstDash val="solid"/>
          </a:ln>
        </p:spPr>
      </p:sp>
      <p:sp>
        <p:nvSpPr>
          <p:cNvPr id="17" name="Shape 15"/>
          <p:cNvSpPr/>
          <p:nvPr/>
        </p:nvSpPr>
        <p:spPr>
          <a:xfrm>
            <a:off x="6535850" y="2103120"/>
            <a:ext cx="4963082" cy="457200"/>
          </a:xfrm>
          <a:prstGeom prst="rect">
            <a:avLst/>
          </a:prstGeom>
          <a:solidFill>
            <a:srgbClr val="1AA39E"/>
          </a:solidFill>
          <a:ln w="12700">
            <a:solidFill>
              <a:srgbClr val="1AA39E"/>
            </a:solidFill>
            <a:prstDash val="solid"/>
          </a:ln>
        </p:spPr>
      </p:sp>
      <p:sp>
        <p:nvSpPr>
          <p:cNvPr id="18" name="Shape 16"/>
          <p:cNvSpPr/>
          <p:nvPr/>
        </p:nvSpPr>
        <p:spPr>
          <a:xfrm>
            <a:off x="11498932" y="2103120"/>
            <a:ext cx="137160" cy="457200"/>
          </a:xfrm>
          <a:prstGeom prst="rect">
            <a:avLst/>
          </a:prstGeom>
          <a:solidFill>
            <a:srgbClr val="D64545"/>
          </a:solidFill>
          <a:ln w="12700">
            <a:solidFill>
              <a:srgbClr val="D64545"/>
            </a:solidFill>
            <a:prstDash val="solid"/>
          </a:ln>
        </p:spPr>
      </p:sp>
      <p:sp>
        <p:nvSpPr>
          <p:cNvPr id="19" name="Shape 17"/>
          <p:cNvSpPr/>
          <p:nvPr/>
        </p:nvSpPr>
        <p:spPr>
          <a:xfrm>
            <a:off x="6400800" y="2743200"/>
            <a:ext cx="228600" cy="228600"/>
          </a:xfrm>
          <a:prstGeom prst="rect">
            <a:avLst/>
          </a:prstGeom>
          <a:solidFill>
            <a:srgbClr val="F4A23C"/>
          </a:solidFill>
          <a:ln w="12700">
            <a:solidFill>
              <a:srgbClr val="F4A23C"/>
            </a:solidFill>
            <a:prstDash val="solid"/>
          </a:ln>
        </p:spPr>
      </p:sp>
      <p:sp>
        <p:nvSpPr>
          <p:cNvPr id="20" name="Text 18"/>
          <p:cNvSpPr/>
          <p:nvPr/>
        </p:nvSpPr>
        <p:spPr>
          <a:xfrm>
            <a:off x="6720840" y="2743200"/>
            <a:ext cx="5029200" cy="274320"/>
          </a:xfrm>
          <a:prstGeom prst="rect">
            <a:avLst/>
          </a:prstGeom>
          <a:noFill/>
          <a:ln/>
        </p:spPr>
        <p:txBody>
          <a:bodyPr wrap="square" lIns="0" tIns="0" rIns="0" bIns="0" rtlCol="0" anchor="ctr"/>
          <a:lstStyle/>
          <a:p>
            <a:pPr indent="0" marL="0">
              <a:buNone/>
            </a:pPr>
            <a:r>
              <a:rPr lang="en-US" sz="1200" b="1" dirty="0">
                <a:solidFill>
                  <a:srgbClr val="0A2540"/>
                </a:solidFill>
                <a:latin typeface="Calibri" pitchFamily="34" charset="0"/>
                <a:ea typeface="Calibri" pitchFamily="34" charset="-122"/>
                <a:cs typeface="Calibri" pitchFamily="34" charset="-120"/>
              </a:rPr>
              <a:t>Color histogram (48 dims)</a:t>
            </a:r>
            <a:endParaRPr lang="en-US" sz="1200" dirty="0"/>
          </a:p>
        </p:txBody>
      </p:sp>
      <p:sp>
        <p:nvSpPr>
          <p:cNvPr id="21" name="Text 19"/>
          <p:cNvSpPr/>
          <p:nvPr/>
        </p:nvSpPr>
        <p:spPr>
          <a:xfrm>
            <a:off x="6720840" y="3017520"/>
            <a:ext cx="5029200" cy="411480"/>
          </a:xfrm>
          <a:prstGeom prst="rect">
            <a:avLst/>
          </a:prstGeom>
          <a:noFill/>
          <a:ln/>
        </p:spPr>
        <p:txBody>
          <a:bodyPr wrap="square" lIns="0" tIns="0" rIns="0" bIns="0" rtlCol="0" anchor="ctr"/>
          <a:lstStyle/>
          <a:p>
            <a:pPr indent="0" marL="0">
              <a:buNone/>
            </a:pPr>
            <a:r>
              <a:rPr lang="en-US" sz="1000" i="1" dirty="0">
                <a:solidFill>
                  <a:srgbClr val="5A6473"/>
                </a:solidFill>
                <a:latin typeface="Calibri" pitchFamily="34" charset="0"/>
                <a:ea typeface="Calibri" pitchFamily="34" charset="-122"/>
                <a:cs typeface="Calibri" pitchFamily="34" charset="-120"/>
              </a:rPr>
              <a:t>16 bins × 3 HSV channels, mask only, L1 norm</a:t>
            </a:r>
            <a:endParaRPr lang="en-US" sz="1000" dirty="0"/>
          </a:p>
        </p:txBody>
      </p:sp>
      <p:sp>
        <p:nvSpPr>
          <p:cNvPr id="22" name="Shape 20"/>
          <p:cNvSpPr/>
          <p:nvPr/>
        </p:nvSpPr>
        <p:spPr>
          <a:xfrm>
            <a:off x="6400800" y="3611880"/>
            <a:ext cx="228600" cy="228600"/>
          </a:xfrm>
          <a:prstGeom prst="rect">
            <a:avLst/>
          </a:prstGeom>
          <a:solidFill>
            <a:srgbClr val="1AA39E"/>
          </a:solidFill>
          <a:ln w="12700">
            <a:solidFill>
              <a:srgbClr val="1AA39E"/>
            </a:solidFill>
            <a:prstDash val="solid"/>
          </a:ln>
        </p:spPr>
      </p:sp>
      <p:sp>
        <p:nvSpPr>
          <p:cNvPr id="23" name="Text 21"/>
          <p:cNvSpPr/>
          <p:nvPr/>
        </p:nvSpPr>
        <p:spPr>
          <a:xfrm>
            <a:off x="6720840" y="3611880"/>
            <a:ext cx="5029200" cy="274320"/>
          </a:xfrm>
          <a:prstGeom prst="rect">
            <a:avLst/>
          </a:prstGeom>
          <a:noFill/>
          <a:ln/>
        </p:spPr>
        <p:txBody>
          <a:bodyPr wrap="square" lIns="0" tIns="0" rIns="0" bIns="0" rtlCol="0" anchor="ctr"/>
          <a:lstStyle/>
          <a:p>
            <a:pPr indent="0" marL="0">
              <a:buNone/>
            </a:pPr>
            <a:r>
              <a:rPr lang="en-US" sz="1200" b="1" dirty="0">
                <a:solidFill>
                  <a:srgbClr val="0A2540"/>
                </a:solidFill>
                <a:latin typeface="Calibri" pitchFamily="34" charset="0"/>
                <a:ea typeface="Calibri" pitchFamily="34" charset="-122"/>
                <a:cs typeface="Calibri" pitchFamily="34" charset="-120"/>
              </a:rPr>
              <a:t>HOG (1,764 dims)</a:t>
            </a:r>
            <a:endParaRPr lang="en-US" sz="1200" dirty="0"/>
          </a:p>
        </p:txBody>
      </p:sp>
      <p:sp>
        <p:nvSpPr>
          <p:cNvPr id="24" name="Text 22"/>
          <p:cNvSpPr/>
          <p:nvPr/>
        </p:nvSpPr>
        <p:spPr>
          <a:xfrm>
            <a:off x="6720840" y="3886200"/>
            <a:ext cx="5029200" cy="411480"/>
          </a:xfrm>
          <a:prstGeom prst="rect">
            <a:avLst/>
          </a:prstGeom>
          <a:noFill/>
          <a:ln/>
        </p:spPr>
        <p:txBody>
          <a:bodyPr wrap="square" lIns="0" tIns="0" rIns="0" bIns="0" rtlCol="0" anchor="ctr"/>
          <a:lstStyle/>
          <a:p>
            <a:pPr indent="0" marL="0">
              <a:buNone/>
            </a:pPr>
            <a:r>
              <a:rPr lang="en-US" sz="1000" i="1" dirty="0">
                <a:solidFill>
                  <a:srgbClr val="5A6473"/>
                </a:solidFill>
                <a:latin typeface="Calibri" pitchFamily="34" charset="0"/>
                <a:ea typeface="Calibri" pitchFamily="34" charset="-122"/>
                <a:cs typeface="Calibri" pitchFamily="34" charset="-120"/>
              </a:rPr>
              <a:t>128×128 grey ROI · 16×16 cells · 9 bins · L2-Hys</a:t>
            </a:r>
            <a:endParaRPr lang="en-US" sz="1000" dirty="0"/>
          </a:p>
        </p:txBody>
      </p:sp>
      <p:sp>
        <p:nvSpPr>
          <p:cNvPr id="25" name="Shape 23"/>
          <p:cNvSpPr/>
          <p:nvPr/>
        </p:nvSpPr>
        <p:spPr>
          <a:xfrm>
            <a:off x="6400800" y="4480560"/>
            <a:ext cx="228600" cy="228600"/>
          </a:xfrm>
          <a:prstGeom prst="rect">
            <a:avLst/>
          </a:prstGeom>
          <a:solidFill>
            <a:srgbClr val="D64545"/>
          </a:solidFill>
          <a:ln w="12700">
            <a:solidFill>
              <a:srgbClr val="D64545"/>
            </a:solidFill>
            <a:prstDash val="solid"/>
          </a:ln>
        </p:spPr>
      </p:sp>
      <p:sp>
        <p:nvSpPr>
          <p:cNvPr id="26" name="Text 24"/>
          <p:cNvSpPr/>
          <p:nvPr/>
        </p:nvSpPr>
        <p:spPr>
          <a:xfrm>
            <a:off x="6720840" y="4480560"/>
            <a:ext cx="5029200" cy="274320"/>
          </a:xfrm>
          <a:prstGeom prst="rect">
            <a:avLst/>
          </a:prstGeom>
          <a:noFill/>
          <a:ln/>
        </p:spPr>
        <p:txBody>
          <a:bodyPr wrap="square" lIns="0" tIns="0" rIns="0" bIns="0" rtlCol="0" anchor="ctr"/>
          <a:lstStyle/>
          <a:p>
            <a:pPr indent="0" marL="0">
              <a:buNone/>
            </a:pPr>
            <a:r>
              <a:rPr lang="en-US" sz="1200" b="1" dirty="0">
                <a:solidFill>
                  <a:srgbClr val="0A2540"/>
                </a:solidFill>
                <a:latin typeface="Calibri" pitchFamily="34" charset="0"/>
                <a:ea typeface="Calibri" pitchFamily="34" charset="-122"/>
                <a:cs typeface="Calibri" pitchFamily="34" charset="-120"/>
              </a:rPr>
              <a:t>Shape statistics (8 dims)</a:t>
            </a:r>
            <a:endParaRPr lang="en-US" sz="1200" dirty="0"/>
          </a:p>
        </p:txBody>
      </p:sp>
      <p:sp>
        <p:nvSpPr>
          <p:cNvPr id="27" name="Text 25"/>
          <p:cNvSpPr/>
          <p:nvPr/>
        </p:nvSpPr>
        <p:spPr>
          <a:xfrm>
            <a:off x="6720840" y="4754880"/>
            <a:ext cx="5029200" cy="411480"/>
          </a:xfrm>
          <a:prstGeom prst="rect">
            <a:avLst/>
          </a:prstGeom>
          <a:noFill/>
          <a:ln/>
        </p:spPr>
        <p:txBody>
          <a:bodyPr wrap="square" lIns="0" tIns="0" rIns="0" bIns="0" rtlCol="0" anchor="ctr"/>
          <a:lstStyle/>
          <a:p>
            <a:pPr indent="0" marL="0">
              <a:buNone/>
            </a:pPr>
            <a:r>
              <a:rPr lang="en-US" sz="1000" i="1" dirty="0">
                <a:solidFill>
                  <a:srgbClr val="5A6473"/>
                </a:solidFill>
                <a:latin typeface="Calibri" pitchFamily="34" charset="0"/>
                <a:ea typeface="Calibri" pitchFamily="34" charset="-122"/>
                <a:cs typeface="Calibri" pitchFamily="34" charset="-120"/>
              </a:rPr>
              <a:t>Aspect, extent, solidity, circularity, eccentricity + 3 Hu</a:t>
            </a:r>
            <a:endParaRPr lang="en-US" sz="1000" dirty="0"/>
          </a:p>
        </p:txBody>
      </p:sp>
      <p:sp>
        <p:nvSpPr>
          <p:cNvPr id="28" name="Shape 26"/>
          <p:cNvSpPr/>
          <p:nvPr/>
        </p:nvSpPr>
        <p:spPr>
          <a:xfrm>
            <a:off x="457200" y="5532120"/>
            <a:ext cx="11247120" cy="777240"/>
          </a:xfrm>
          <a:prstGeom prst="rect">
            <a:avLst/>
          </a:prstGeom>
          <a:solidFill>
            <a:srgbClr val="F4F6F9"/>
          </a:solidFill>
          <a:ln w="12700">
            <a:solidFill>
              <a:srgbClr val="D6DBE3"/>
            </a:solidFill>
            <a:prstDash val="solid"/>
          </a:ln>
        </p:spPr>
      </p:sp>
      <p:sp>
        <p:nvSpPr>
          <p:cNvPr id="29" name="Text 27"/>
          <p:cNvSpPr/>
          <p:nvPr/>
        </p:nvSpPr>
        <p:spPr>
          <a:xfrm>
            <a:off x="640080" y="5596128"/>
            <a:ext cx="3657600" cy="320040"/>
          </a:xfrm>
          <a:prstGeom prst="rect">
            <a:avLst/>
          </a:prstGeom>
          <a:noFill/>
          <a:ln/>
        </p:spPr>
        <p:txBody>
          <a:bodyPr wrap="square" lIns="0" tIns="0" rIns="0" bIns="0" rtlCol="0" anchor="ctr"/>
          <a:lstStyle/>
          <a:p>
            <a:pPr indent="0" marL="0">
              <a:buNone/>
            </a:pPr>
            <a:r>
              <a:rPr lang="en-US" sz="1200" b="1" dirty="0">
                <a:solidFill>
                  <a:srgbClr val="0A2540"/>
                </a:solidFill>
                <a:latin typeface="Calibri" pitchFamily="34" charset="0"/>
                <a:ea typeface="Calibri" pitchFamily="34" charset="-122"/>
                <a:cs typeface="Calibri" pitchFamily="34" charset="-120"/>
              </a:rPr>
              <a:t>HOG dimension derivation:</a:t>
            </a:r>
            <a:endParaRPr lang="en-US" sz="1200" dirty="0"/>
          </a:p>
        </p:txBody>
      </p:sp>
      <p:sp>
        <p:nvSpPr>
          <p:cNvPr id="30" name="Text 28"/>
          <p:cNvSpPr/>
          <p:nvPr/>
        </p:nvSpPr>
        <p:spPr>
          <a:xfrm>
            <a:off x="640080" y="5897880"/>
            <a:ext cx="10972800" cy="365760"/>
          </a:xfrm>
          <a:prstGeom prst="rect">
            <a:avLst/>
          </a:prstGeom>
          <a:noFill/>
          <a:ln/>
        </p:spPr>
        <p:txBody>
          <a:bodyPr wrap="square" lIns="0" tIns="0" rIns="0" bIns="0" rtlCol="0" anchor="ctr"/>
          <a:lstStyle/>
          <a:p>
            <a:pPr indent="0" marL="0">
              <a:buNone/>
            </a:pPr>
            <a:r>
              <a:rPr lang="en-US" sz="1200" dirty="0">
                <a:solidFill>
                  <a:srgbClr val="1A1A1A"/>
                </a:solidFill>
                <a:latin typeface="Consolas" pitchFamily="34" charset="0"/>
                <a:ea typeface="Consolas" pitchFamily="34" charset="-122"/>
                <a:cs typeface="Consolas" pitchFamily="34" charset="-120"/>
              </a:rPr>
              <a:t>(128 − 32) / 16 + 1 = 7 blocks per side    →    7 × 7 blocks × (2×2) cells × 9 bins  =  1,764  ✓</a:t>
            </a:r>
            <a:endParaRPr lang="en-US" sz="1200" dirty="0"/>
          </a:p>
        </p:txBody>
      </p:sp>
      <p:sp>
        <p:nvSpPr>
          <p:cNvPr id="31" name="Text 29"/>
          <p:cNvSpPr/>
          <p:nvPr/>
        </p:nvSpPr>
        <p:spPr>
          <a:xfrm>
            <a:off x="457200" y="6537960"/>
            <a:ext cx="7315200" cy="228600"/>
          </a:xfrm>
          <a:prstGeom prst="rect">
            <a:avLst/>
          </a:prstGeom>
          <a:noFill/>
          <a:ln/>
        </p:spPr>
        <p:txBody>
          <a:bodyPr wrap="square" rtlCol="0" anchor="ctr"/>
          <a:lstStyle/>
          <a:p>
            <a:pPr indent="0" marL="0">
              <a:buNone/>
            </a:pPr>
            <a:r>
              <a:rPr lang="en-US" sz="900" dirty="0">
                <a:solidFill>
                  <a:srgbClr val="5A6473"/>
                </a:solidFill>
                <a:latin typeface="Calibri" pitchFamily="34" charset="0"/>
                <a:ea typeface="Calibri" pitchFamily="34" charset="-122"/>
                <a:cs typeface="Calibri" pitchFamily="34" charset="-120"/>
              </a:rPr>
              <a:t>ENMR602 · SIP Ball Classification · Tutorial 10</a:t>
            </a:r>
            <a:endParaRPr lang="en-US" sz="900" dirty="0"/>
          </a:p>
        </p:txBody>
      </p:sp>
      <p:sp>
        <p:nvSpPr>
          <p:cNvPr id="32" name="Text 30"/>
          <p:cNvSpPr/>
          <p:nvPr/>
        </p:nvSpPr>
        <p:spPr>
          <a:xfrm>
            <a:off x="8961120" y="6537960"/>
            <a:ext cx="2743200" cy="228600"/>
          </a:xfrm>
          <a:prstGeom prst="rect">
            <a:avLst/>
          </a:prstGeom>
          <a:noFill/>
          <a:ln/>
        </p:spPr>
        <p:txBody>
          <a:bodyPr wrap="square" rtlCol="0" anchor="ctr"/>
          <a:lstStyle/>
          <a:p>
            <a:pPr algn="r" indent="0" marL="0">
              <a:buNone/>
            </a:pPr>
            <a:r>
              <a:rPr lang="en-US" sz="900" b="1" dirty="0">
                <a:solidFill>
                  <a:srgbClr val="5A6473"/>
                </a:solidFill>
                <a:latin typeface="Calibri" pitchFamily="34" charset="0"/>
                <a:ea typeface="Calibri" pitchFamily="34" charset="-122"/>
                <a:cs typeface="Calibri" pitchFamily="34" charset="-120"/>
              </a:rPr>
              <a:t>Milestone 1</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4A23C"/>
          </a:solidFill>
          <a:ln w="12700">
            <a:solidFill>
              <a:srgbClr val="F4A23C"/>
            </a:solidFill>
            <a:prstDash val="solid"/>
          </a:ln>
        </p:spPr>
      </p:sp>
      <p:sp>
        <p:nvSpPr>
          <p:cNvPr id="3" name="Text 1"/>
          <p:cNvSpPr/>
          <p:nvPr/>
        </p:nvSpPr>
        <p:spPr>
          <a:xfrm>
            <a:off x="731520" y="1463040"/>
            <a:ext cx="10972800" cy="548640"/>
          </a:xfrm>
          <a:prstGeom prst="rect">
            <a:avLst/>
          </a:prstGeom>
          <a:noFill/>
          <a:ln/>
        </p:spPr>
        <p:txBody>
          <a:bodyPr wrap="square" lIns="0" tIns="0" rIns="0" bIns="0" rtlCol="0" anchor="ctr"/>
          <a:lstStyle/>
          <a:p>
            <a:pPr indent="0" marL="0">
              <a:buNone/>
            </a:pPr>
            <a:r>
              <a:rPr lang="en-US" sz="2200" b="1" spc="800" kern="0" dirty="0">
                <a:solidFill>
                  <a:srgbClr val="F4A23C"/>
                </a:solidFill>
                <a:latin typeface="Calibri" pitchFamily="34" charset="0"/>
                <a:ea typeface="Calibri" pitchFamily="34" charset="-122"/>
                <a:cs typeface="Calibri" pitchFamily="34" charset="-120"/>
              </a:rPr>
              <a:t>MILESTONE 2</a:t>
            </a:r>
            <a:endParaRPr lang="en-US" sz="2200" dirty="0"/>
          </a:p>
        </p:txBody>
      </p:sp>
      <p:sp>
        <p:nvSpPr>
          <p:cNvPr id="4" name="Text 2"/>
          <p:cNvSpPr/>
          <p:nvPr/>
        </p:nvSpPr>
        <p:spPr>
          <a:xfrm>
            <a:off x="731520" y="2103120"/>
            <a:ext cx="1097280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Implementation &amp; Optimization</a:t>
            </a:r>
            <a:endParaRPr lang="en-US" sz="4400" dirty="0"/>
          </a:p>
        </p:txBody>
      </p:sp>
      <p:sp>
        <p:nvSpPr>
          <p:cNvPr id="5" name="Shape 3"/>
          <p:cNvSpPr/>
          <p:nvPr/>
        </p:nvSpPr>
        <p:spPr>
          <a:xfrm>
            <a:off x="731520" y="3291840"/>
            <a:ext cx="5486400" cy="2194560"/>
          </a:xfrm>
          <a:prstGeom prst="rect">
            <a:avLst/>
          </a:prstGeom>
          <a:solidFill>
            <a:srgbClr val="1E3A5F"/>
          </a:solidFill>
          <a:ln w="19050">
            <a:solidFill>
              <a:srgbClr val="F4A23C"/>
            </a:solidFill>
            <a:prstDash val="solid"/>
          </a:ln>
        </p:spPr>
      </p:sp>
      <p:sp>
        <p:nvSpPr>
          <p:cNvPr id="6" name="Text 4"/>
          <p:cNvSpPr/>
          <p:nvPr/>
        </p:nvSpPr>
        <p:spPr>
          <a:xfrm>
            <a:off x="914400" y="3429000"/>
            <a:ext cx="5029200" cy="320040"/>
          </a:xfrm>
          <a:prstGeom prst="rect">
            <a:avLst/>
          </a:prstGeom>
          <a:noFill/>
          <a:ln/>
        </p:spPr>
        <p:txBody>
          <a:bodyPr wrap="square" lIns="0" tIns="0" rIns="0" bIns="0" rtlCol="0" anchor="ctr"/>
          <a:lstStyle/>
          <a:p>
            <a:pPr indent="0" marL="0">
              <a:buNone/>
            </a:pPr>
            <a:r>
              <a:rPr lang="en-US" sz="1400" b="1" dirty="0">
                <a:solidFill>
                  <a:srgbClr val="F4A23C"/>
                </a:solidFill>
                <a:latin typeface="Calibri" pitchFamily="34" charset="0"/>
                <a:ea typeface="Calibri" pitchFamily="34" charset="-122"/>
                <a:cs typeface="Calibri" pitchFamily="34" charset="-120"/>
              </a:rPr>
              <a:t>Best result</a:t>
            </a:r>
            <a:endParaRPr lang="en-US" sz="1400" dirty="0"/>
          </a:p>
        </p:txBody>
      </p:sp>
      <p:sp>
        <p:nvSpPr>
          <p:cNvPr id="7" name="Text 5"/>
          <p:cNvSpPr/>
          <p:nvPr/>
        </p:nvSpPr>
        <p:spPr>
          <a:xfrm>
            <a:off x="914400" y="3703320"/>
            <a:ext cx="5029200" cy="914400"/>
          </a:xfrm>
          <a:prstGeom prst="rect">
            <a:avLst/>
          </a:prstGeom>
          <a:noFill/>
          <a:ln/>
        </p:spPr>
        <p:txBody>
          <a:bodyPr wrap="square" lIns="0" tIns="0" rIns="0" bIns="0" rtlCol="0" anchor="ctr"/>
          <a:lstStyle/>
          <a:p>
            <a:pPr indent="0" marL="0">
              <a:buNone/>
            </a:pPr>
            <a:r>
              <a:rPr lang="en-US" sz="6400" b="1" dirty="0">
                <a:solidFill>
                  <a:srgbClr val="FFFFFF"/>
                </a:solidFill>
                <a:latin typeface="Calibri" pitchFamily="34" charset="0"/>
                <a:ea typeface="Calibri" pitchFamily="34" charset="-122"/>
                <a:cs typeface="Calibri" pitchFamily="34" charset="-120"/>
              </a:rPr>
              <a:t>89.97%</a:t>
            </a:r>
            <a:endParaRPr lang="en-US" sz="6400" dirty="0"/>
          </a:p>
        </p:txBody>
      </p:sp>
      <p:sp>
        <p:nvSpPr>
          <p:cNvPr id="8" name="Text 6"/>
          <p:cNvSpPr/>
          <p:nvPr/>
        </p:nvSpPr>
        <p:spPr>
          <a:xfrm>
            <a:off x="914400" y="4709160"/>
            <a:ext cx="5120640" cy="365760"/>
          </a:xfrm>
          <a:prstGeom prst="rect">
            <a:avLst/>
          </a:prstGeom>
          <a:noFill/>
          <a:ln/>
        </p:spPr>
        <p:txBody>
          <a:bodyPr wrap="square" lIns="0" tIns="0" rIns="0" bIns="0" rtlCol="0" anchor="ctr"/>
          <a:lstStyle/>
          <a:p>
            <a:pPr indent="0" marL="0">
              <a:buNone/>
            </a:pPr>
            <a:r>
              <a:rPr lang="en-US" sz="1200" i="1" dirty="0">
                <a:solidFill>
                  <a:srgbClr val="CADCFC"/>
                </a:solidFill>
                <a:latin typeface="Calibri" pitchFamily="34" charset="0"/>
                <a:ea typeface="Calibri" pitchFamily="34" charset="-122"/>
                <a:cs typeface="Calibri" pitchFamily="34" charset="-120"/>
              </a:rPr>
              <a:t>Random Forest + LBP · 3,610-d vector · 84.72% 5-fold CV</a:t>
            </a:r>
            <a:endParaRPr lang="en-US" sz="1200" dirty="0"/>
          </a:p>
        </p:txBody>
      </p:sp>
      <p:sp>
        <p:nvSpPr>
          <p:cNvPr id="9" name="Text 7"/>
          <p:cNvSpPr/>
          <p:nvPr/>
        </p:nvSpPr>
        <p:spPr>
          <a:xfrm>
            <a:off x="914400" y="5029200"/>
            <a:ext cx="5120640" cy="36576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260 / 289 test images correct</a:t>
            </a:r>
            <a:endParaRPr lang="en-US" sz="1200" dirty="0"/>
          </a:p>
        </p:txBody>
      </p:sp>
      <p:sp>
        <p:nvSpPr>
          <p:cNvPr id="10" name="Text 8"/>
          <p:cNvSpPr/>
          <p:nvPr/>
        </p:nvSpPr>
        <p:spPr>
          <a:xfrm>
            <a:off x="6583680" y="3383280"/>
            <a:ext cx="5029200" cy="365760"/>
          </a:xfrm>
          <a:prstGeom prst="rect">
            <a:avLst/>
          </a:prstGeom>
          <a:noFill/>
          <a:ln/>
        </p:spPr>
        <p:txBody>
          <a:bodyPr wrap="square" lIns="0" tIns="0" rIns="0" bIns="0" rtlCol="0" anchor="ctr"/>
          <a:lstStyle/>
          <a:p>
            <a:pPr indent="0" marL="0">
              <a:buNone/>
            </a:pPr>
            <a:r>
              <a:rPr lang="en-US" sz="1600" b="1" dirty="0">
                <a:solidFill>
                  <a:srgbClr val="F4A23C"/>
                </a:solidFill>
                <a:latin typeface="Calibri" pitchFamily="34" charset="0"/>
                <a:ea typeface="Calibri" pitchFamily="34" charset="-122"/>
                <a:cs typeface="Calibri" pitchFamily="34" charset="-120"/>
              </a:rPr>
              <a:t>Five adjustments to the M1 plan</a:t>
            </a:r>
            <a:endParaRPr lang="en-US" sz="1600" dirty="0"/>
          </a:p>
        </p:txBody>
      </p:sp>
      <p:sp>
        <p:nvSpPr>
          <p:cNvPr id="11" name="Text 9"/>
          <p:cNvSpPr/>
          <p:nvPr/>
        </p:nvSpPr>
        <p:spPr>
          <a:xfrm>
            <a:off x="6583680" y="3749040"/>
            <a:ext cx="5029200" cy="22860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GrabCut replaces K-means as the segmentation fallback</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Dual HOG: bbox-cropped + mask-independent central crop</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StandardScaler + PCA-256 before RBF SVM / MLP</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PyTorch MLP added with BN, Dropout, ReduceLROnPlateau</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LBP texture descriptor added (+1.4% for RF)</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502920"/>
          </a:xfrm>
          <a:prstGeom prst="rect">
            <a:avLst/>
          </a:prstGeom>
          <a:solidFill>
            <a:srgbClr val="F4A23C"/>
          </a:solidFill>
          <a:ln w="12700">
            <a:solidFill>
              <a:srgbClr val="F4A23C"/>
            </a:solidFill>
            <a:prstDash val="solid"/>
          </a:ln>
        </p:spPr>
      </p:sp>
      <p:sp>
        <p:nvSpPr>
          <p:cNvPr id="3" name="Text 1"/>
          <p:cNvSpPr/>
          <p:nvPr/>
        </p:nvSpPr>
        <p:spPr>
          <a:xfrm>
            <a:off x="685800" y="320040"/>
            <a:ext cx="11018520" cy="640080"/>
          </a:xfrm>
          <a:prstGeom prst="rect">
            <a:avLst/>
          </a:prstGeom>
          <a:noFill/>
          <a:ln/>
        </p:spPr>
        <p:txBody>
          <a:bodyPr wrap="square" lIns="0" tIns="0" rIns="0" bIns="0" rtlCol="0" anchor="ctr"/>
          <a:lstStyle/>
          <a:p>
            <a:pPr indent="0" marL="0">
              <a:buNone/>
            </a:pPr>
            <a:r>
              <a:rPr lang="en-US" sz="2800" b="1" dirty="0">
                <a:solidFill>
                  <a:srgbClr val="0A2540"/>
                </a:solidFill>
                <a:latin typeface="Calibri" pitchFamily="34" charset="0"/>
                <a:ea typeface="Calibri" pitchFamily="34" charset="-122"/>
                <a:cs typeface="Calibri" pitchFamily="34" charset="-120"/>
              </a:rPr>
              <a:t>M2 — Multi-Strategy Segmenter</a:t>
            </a:r>
            <a:endParaRPr lang="en-US" sz="2800" dirty="0"/>
          </a:p>
        </p:txBody>
      </p:sp>
      <p:sp>
        <p:nvSpPr>
          <p:cNvPr id="4" name="Text 2"/>
          <p:cNvSpPr/>
          <p:nvPr/>
        </p:nvSpPr>
        <p:spPr>
          <a:xfrm>
            <a:off x="685800" y="914400"/>
            <a:ext cx="11018520" cy="320040"/>
          </a:xfrm>
          <a:prstGeom prst="rect">
            <a:avLst/>
          </a:prstGeom>
          <a:noFill/>
          <a:ln/>
        </p:spPr>
        <p:txBody>
          <a:bodyPr wrap="square" lIns="0" tIns="0" rIns="0" bIns="0" rtlCol="0" anchor="ctr"/>
          <a:lstStyle/>
          <a:p>
            <a:pPr indent="0" marL="0">
              <a:buNone/>
            </a:pPr>
            <a:r>
              <a:rPr lang="en-US" sz="1400" i="1" dirty="0">
                <a:solidFill>
                  <a:srgbClr val="5A6473"/>
                </a:solidFill>
                <a:latin typeface="Calibri" pitchFamily="34" charset="0"/>
                <a:ea typeface="Calibri" pitchFamily="34" charset="-122"/>
                <a:cs typeface="Calibri" pitchFamily="34" charset="-120"/>
              </a:rPr>
              <a:t>Why a single HSV threshold fails on this dataset</a:t>
            </a:r>
            <a:endParaRPr lang="en-US" sz="1400" dirty="0"/>
          </a:p>
        </p:txBody>
      </p:sp>
      <p:sp>
        <p:nvSpPr>
          <p:cNvPr id="5" name="Shape 3"/>
          <p:cNvSpPr/>
          <p:nvPr/>
        </p:nvSpPr>
        <p:spPr>
          <a:xfrm>
            <a:off x="457200" y="1508760"/>
            <a:ext cx="11247120" cy="640080"/>
          </a:xfrm>
          <a:prstGeom prst="rect">
            <a:avLst/>
          </a:prstGeom>
          <a:solidFill>
            <a:srgbClr val="F4F6F9"/>
          </a:solidFill>
          <a:ln w="12700">
            <a:solidFill>
              <a:srgbClr val="D6DBE3"/>
            </a:solidFill>
            <a:prstDash val="solid"/>
          </a:ln>
        </p:spPr>
      </p:sp>
      <p:sp>
        <p:nvSpPr>
          <p:cNvPr id="6" name="Text 4"/>
          <p:cNvSpPr/>
          <p:nvPr/>
        </p:nvSpPr>
        <p:spPr>
          <a:xfrm>
            <a:off x="640080" y="1508760"/>
            <a:ext cx="10972800" cy="640080"/>
          </a:xfrm>
          <a:prstGeom prst="rect">
            <a:avLst/>
          </a:prstGeom>
          <a:noFill/>
          <a:ln/>
        </p:spPr>
        <p:txBody>
          <a:bodyPr wrap="square" lIns="0" tIns="0" rIns="0" bIns="0" rtlCol="0" anchor="ctr"/>
          <a:lstStyle/>
          <a:p>
            <a:pPr indent="0" marL="0">
              <a:buNone/>
            </a:pPr>
            <a:r>
              <a:rPr lang="en-US" sz="1150" b="1" dirty="0">
                <a:solidFill>
                  <a:srgbClr val="0A2540"/>
                </a:solidFill>
                <a:latin typeface="Calibri" pitchFamily="34" charset="0"/>
                <a:ea typeface="Calibri" pitchFamily="34" charset="-122"/>
                <a:cs typeface="Calibri" pitchFamily="34" charset="-120"/>
              </a:rPr>
              <a:t>Per-class HSV diagnostic showed: </a:t>
            </a:r>
            <a:pPr indent="0" marL="0">
              <a:buNone/>
            </a:pPr>
            <a:r>
              <a:rPr lang="en-US" sz="1150" dirty="0">
                <a:solidFill>
                  <a:srgbClr val="1A1A1A"/>
                </a:solidFill>
                <a:latin typeface="Calibri" pitchFamily="34" charset="0"/>
                <a:ea typeface="Calibri" pitchFamily="34" charset="-122"/>
                <a:cs typeface="Calibri" pitchFamily="34" charset="-120"/>
              </a:rPr>
              <a:t>only tennis &amp; basketball have a tight hue band. Golf, baseball, football and (often) american_football are white, mixed-panel or vary widely with background. </a:t>
            </a:r>
            <a:pPr indent="0" marL="0">
              <a:buNone/>
            </a:pPr>
            <a:r>
              <a:rPr lang="en-US" sz="1150" b="1" i="1" dirty="0">
                <a:solidFill>
                  <a:srgbClr val="F4A23C"/>
                </a:solidFill>
                <a:latin typeface="Calibri" pitchFamily="34" charset="0"/>
                <a:ea typeface="Calibri" pitchFamily="34" charset="-122"/>
                <a:cs typeface="Calibri" pitchFamily="34" charset="-120"/>
              </a:rPr>
              <a:t>→ Four paths needed, plus a scoring function to pick the winner.</a:t>
            </a:r>
            <a:endParaRPr lang="en-US" sz="1150" dirty="0"/>
          </a:p>
        </p:txBody>
      </p:sp>
      <p:sp>
        <p:nvSpPr>
          <p:cNvPr id="7" name="Shape 5"/>
          <p:cNvSpPr/>
          <p:nvPr/>
        </p:nvSpPr>
        <p:spPr>
          <a:xfrm>
            <a:off x="457200" y="2331720"/>
            <a:ext cx="5532120" cy="1691640"/>
          </a:xfrm>
          <a:prstGeom prst="rect">
            <a:avLst/>
          </a:prstGeom>
          <a:solidFill>
            <a:srgbClr val="FFFFFF"/>
          </a:solidFill>
          <a:ln w="12700">
            <a:solidFill>
              <a:srgbClr val="D6DBE3"/>
            </a:solidFill>
            <a:prstDash val="solid"/>
          </a:ln>
        </p:spPr>
      </p:sp>
      <p:sp>
        <p:nvSpPr>
          <p:cNvPr id="8" name="Shape 6"/>
          <p:cNvSpPr/>
          <p:nvPr/>
        </p:nvSpPr>
        <p:spPr>
          <a:xfrm>
            <a:off x="457200" y="2331720"/>
            <a:ext cx="91440" cy="1691640"/>
          </a:xfrm>
          <a:prstGeom prst="rect">
            <a:avLst/>
          </a:prstGeom>
          <a:solidFill>
            <a:srgbClr val="F4A23C"/>
          </a:solidFill>
          <a:ln w="12700">
            <a:solidFill>
              <a:srgbClr val="F4A23C"/>
            </a:solidFill>
            <a:prstDash val="solid"/>
          </a:ln>
        </p:spPr>
      </p:sp>
      <p:sp>
        <p:nvSpPr>
          <p:cNvPr id="9" name="Shape 7"/>
          <p:cNvSpPr/>
          <p:nvPr/>
        </p:nvSpPr>
        <p:spPr>
          <a:xfrm>
            <a:off x="731520" y="2560320"/>
            <a:ext cx="457200" cy="457200"/>
          </a:xfrm>
          <a:prstGeom prst="ellipse">
            <a:avLst/>
          </a:prstGeom>
          <a:solidFill>
            <a:srgbClr val="F4A23C"/>
          </a:solidFill>
          <a:ln w="12700">
            <a:solidFill>
              <a:srgbClr val="F4A23C"/>
            </a:solidFill>
            <a:prstDash val="solid"/>
          </a:ln>
        </p:spPr>
      </p:sp>
      <p:sp>
        <p:nvSpPr>
          <p:cNvPr id="10" name="Text 8"/>
          <p:cNvSpPr/>
          <p:nvPr/>
        </p:nvSpPr>
        <p:spPr>
          <a:xfrm>
            <a:off x="731520" y="25603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1" name="Text 9"/>
          <p:cNvSpPr/>
          <p:nvPr/>
        </p:nvSpPr>
        <p:spPr>
          <a:xfrm>
            <a:off x="1280160" y="2560320"/>
            <a:ext cx="4617720" cy="411480"/>
          </a:xfrm>
          <a:prstGeom prst="rect">
            <a:avLst/>
          </a:prstGeom>
          <a:noFill/>
          <a:ln/>
        </p:spPr>
        <p:txBody>
          <a:bodyPr wrap="square" lIns="0" tIns="0" rIns="0" bIns="0" rtlCol="0" anchor="ctr"/>
          <a:lstStyle/>
          <a:p>
            <a:pPr indent="0" marL="0">
              <a:buNone/>
            </a:pPr>
            <a:r>
              <a:rPr lang="en-US" sz="1600" b="1" dirty="0">
                <a:solidFill>
                  <a:srgbClr val="0A2540"/>
                </a:solidFill>
                <a:latin typeface="Calibri" pitchFamily="34" charset="0"/>
                <a:ea typeface="Calibri" pitchFamily="34" charset="-122"/>
                <a:cs typeface="Calibri" pitchFamily="34" charset="-120"/>
              </a:rPr>
              <a:t>HSV inRange</a:t>
            </a:r>
            <a:endParaRPr lang="en-US" sz="1600" dirty="0"/>
          </a:p>
        </p:txBody>
      </p:sp>
      <p:sp>
        <p:nvSpPr>
          <p:cNvPr id="12" name="Text 10"/>
          <p:cNvSpPr/>
          <p:nvPr/>
        </p:nvSpPr>
        <p:spPr>
          <a:xfrm>
            <a:off x="731520" y="3108960"/>
            <a:ext cx="5074920" cy="41148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Class-specific (lower, upper) bounds with hue-wrap handling</a:t>
            </a:r>
            <a:endParaRPr lang="en-US" sz="1100" dirty="0"/>
          </a:p>
        </p:txBody>
      </p:sp>
      <p:sp>
        <p:nvSpPr>
          <p:cNvPr id="13" name="Text 11"/>
          <p:cNvSpPr/>
          <p:nvPr/>
        </p:nvSpPr>
        <p:spPr>
          <a:xfrm>
            <a:off x="731520" y="3566160"/>
            <a:ext cx="5074920" cy="365760"/>
          </a:xfrm>
          <a:prstGeom prst="rect">
            <a:avLst/>
          </a:prstGeom>
          <a:noFill/>
          <a:ln/>
        </p:spPr>
        <p:txBody>
          <a:bodyPr wrap="square" lIns="0" tIns="0" rIns="0" bIns="0" rtlCol="0" anchor="ctr"/>
          <a:lstStyle/>
          <a:p>
            <a:pPr indent="0" marL="0">
              <a:buNone/>
            </a:pPr>
            <a:r>
              <a:rPr lang="en-US" sz="1050" b="1" dirty="0">
                <a:solidFill>
                  <a:srgbClr val="5A6473"/>
                </a:solidFill>
                <a:latin typeface="Calibri" pitchFamily="34" charset="0"/>
                <a:ea typeface="Calibri" pitchFamily="34" charset="-122"/>
                <a:cs typeface="Calibri" pitchFamily="34" charset="-120"/>
              </a:rPr>
              <a:t>Works on: </a:t>
            </a:r>
            <a:pPr indent="0" marL="0">
              <a:buNone/>
            </a:pPr>
            <a:r>
              <a:rPr lang="en-US" sz="1050" i="1" dirty="0">
                <a:solidFill>
                  <a:srgbClr val="5A6473"/>
                </a:solidFill>
                <a:latin typeface="Calibri" pitchFamily="34" charset="0"/>
                <a:ea typeface="Calibri" pitchFamily="34" charset="-122"/>
                <a:cs typeface="Calibri" pitchFamily="34" charset="-120"/>
              </a:rPr>
              <a:t>Tennis, basketball, brown american football</a:t>
            </a:r>
            <a:endParaRPr lang="en-US" sz="1050" dirty="0"/>
          </a:p>
        </p:txBody>
      </p:sp>
      <p:sp>
        <p:nvSpPr>
          <p:cNvPr id="14" name="Shape 12"/>
          <p:cNvSpPr/>
          <p:nvPr/>
        </p:nvSpPr>
        <p:spPr>
          <a:xfrm>
            <a:off x="6172200" y="2331720"/>
            <a:ext cx="5532120" cy="1691640"/>
          </a:xfrm>
          <a:prstGeom prst="rect">
            <a:avLst/>
          </a:prstGeom>
          <a:solidFill>
            <a:srgbClr val="FFFFFF"/>
          </a:solidFill>
          <a:ln w="12700">
            <a:solidFill>
              <a:srgbClr val="D6DBE3"/>
            </a:solidFill>
            <a:prstDash val="solid"/>
          </a:ln>
        </p:spPr>
      </p:sp>
      <p:sp>
        <p:nvSpPr>
          <p:cNvPr id="15" name="Shape 13"/>
          <p:cNvSpPr/>
          <p:nvPr/>
        </p:nvSpPr>
        <p:spPr>
          <a:xfrm>
            <a:off x="6172200" y="2331720"/>
            <a:ext cx="91440" cy="1691640"/>
          </a:xfrm>
          <a:prstGeom prst="rect">
            <a:avLst/>
          </a:prstGeom>
          <a:solidFill>
            <a:srgbClr val="1AA39E"/>
          </a:solidFill>
          <a:ln w="12700">
            <a:solidFill>
              <a:srgbClr val="1AA39E"/>
            </a:solidFill>
            <a:prstDash val="solid"/>
          </a:ln>
        </p:spPr>
      </p:sp>
      <p:sp>
        <p:nvSpPr>
          <p:cNvPr id="16" name="Shape 14"/>
          <p:cNvSpPr/>
          <p:nvPr/>
        </p:nvSpPr>
        <p:spPr>
          <a:xfrm>
            <a:off x="6446520" y="2560320"/>
            <a:ext cx="457200" cy="457200"/>
          </a:xfrm>
          <a:prstGeom prst="ellipse">
            <a:avLst/>
          </a:prstGeom>
          <a:solidFill>
            <a:srgbClr val="1AA39E"/>
          </a:solidFill>
          <a:ln w="12700">
            <a:solidFill>
              <a:srgbClr val="1AA39E"/>
            </a:solidFill>
            <a:prstDash val="solid"/>
          </a:ln>
        </p:spPr>
      </p:sp>
      <p:sp>
        <p:nvSpPr>
          <p:cNvPr id="17" name="Text 15"/>
          <p:cNvSpPr/>
          <p:nvPr/>
        </p:nvSpPr>
        <p:spPr>
          <a:xfrm>
            <a:off x="6446520" y="25603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8" name="Text 16"/>
          <p:cNvSpPr/>
          <p:nvPr/>
        </p:nvSpPr>
        <p:spPr>
          <a:xfrm>
            <a:off x="6995160" y="2560320"/>
            <a:ext cx="4617720" cy="411480"/>
          </a:xfrm>
          <a:prstGeom prst="rect">
            <a:avLst/>
          </a:prstGeom>
          <a:noFill/>
          <a:ln/>
        </p:spPr>
        <p:txBody>
          <a:bodyPr wrap="square" lIns="0" tIns="0" rIns="0" bIns="0" rtlCol="0" anchor="ctr"/>
          <a:lstStyle/>
          <a:p>
            <a:pPr indent="0" marL="0">
              <a:buNone/>
            </a:pPr>
            <a:r>
              <a:rPr lang="en-US" sz="1600" b="1" dirty="0">
                <a:solidFill>
                  <a:srgbClr val="0A2540"/>
                </a:solidFill>
                <a:latin typeface="Calibri" pitchFamily="34" charset="0"/>
                <a:ea typeface="Calibri" pitchFamily="34" charset="-122"/>
                <a:cs typeface="Calibri" pitchFamily="34" charset="-120"/>
              </a:rPr>
              <a:t>Otsu thresholding</a:t>
            </a:r>
            <a:endParaRPr lang="en-US" sz="1600" dirty="0"/>
          </a:p>
        </p:txBody>
      </p:sp>
      <p:sp>
        <p:nvSpPr>
          <p:cNvPr id="19" name="Text 17"/>
          <p:cNvSpPr/>
          <p:nvPr/>
        </p:nvSpPr>
        <p:spPr>
          <a:xfrm>
            <a:off x="6446520" y="3108960"/>
            <a:ext cx="5074920" cy="41148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Three variants: gray, inverted gray, inverted saturation</a:t>
            </a:r>
            <a:endParaRPr lang="en-US" sz="1100" dirty="0"/>
          </a:p>
        </p:txBody>
      </p:sp>
      <p:sp>
        <p:nvSpPr>
          <p:cNvPr id="20" name="Text 18"/>
          <p:cNvSpPr/>
          <p:nvPr/>
        </p:nvSpPr>
        <p:spPr>
          <a:xfrm>
            <a:off x="6446520" y="3566160"/>
            <a:ext cx="5074920" cy="365760"/>
          </a:xfrm>
          <a:prstGeom prst="rect">
            <a:avLst/>
          </a:prstGeom>
          <a:noFill/>
          <a:ln/>
        </p:spPr>
        <p:txBody>
          <a:bodyPr wrap="square" lIns="0" tIns="0" rIns="0" bIns="0" rtlCol="0" anchor="ctr"/>
          <a:lstStyle/>
          <a:p>
            <a:pPr indent="0" marL="0">
              <a:buNone/>
            </a:pPr>
            <a:r>
              <a:rPr lang="en-US" sz="1050" b="1" dirty="0">
                <a:solidFill>
                  <a:srgbClr val="5A6473"/>
                </a:solidFill>
                <a:latin typeface="Calibri" pitchFamily="34" charset="0"/>
                <a:ea typeface="Calibri" pitchFamily="34" charset="-122"/>
                <a:cs typeface="Calibri" pitchFamily="34" charset="-120"/>
              </a:rPr>
              <a:t>Works on: </a:t>
            </a:r>
            <a:pPr indent="0" marL="0">
              <a:buNone/>
            </a:pPr>
            <a:r>
              <a:rPr lang="en-US" sz="1050" i="1" dirty="0">
                <a:solidFill>
                  <a:srgbClr val="5A6473"/>
                </a:solidFill>
                <a:latin typeface="Calibri" pitchFamily="34" charset="0"/>
                <a:ea typeface="Calibri" pitchFamily="34" charset="-122"/>
                <a:cs typeface="Calibri" pitchFamily="34" charset="-120"/>
              </a:rPr>
              <a:t>Studio shots, white balls (golf, baseball)</a:t>
            </a:r>
            <a:endParaRPr lang="en-US" sz="1050" dirty="0"/>
          </a:p>
        </p:txBody>
      </p:sp>
      <p:sp>
        <p:nvSpPr>
          <p:cNvPr id="21" name="Shape 19"/>
          <p:cNvSpPr/>
          <p:nvPr/>
        </p:nvSpPr>
        <p:spPr>
          <a:xfrm>
            <a:off x="457200" y="4206240"/>
            <a:ext cx="5532120" cy="1691640"/>
          </a:xfrm>
          <a:prstGeom prst="rect">
            <a:avLst/>
          </a:prstGeom>
          <a:solidFill>
            <a:srgbClr val="FFFFFF"/>
          </a:solidFill>
          <a:ln w="12700">
            <a:solidFill>
              <a:srgbClr val="D6DBE3"/>
            </a:solidFill>
            <a:prstDash val="solid"/>
          </a:ln>
        </p:spPr>
      </p:sp>
      <p:sp>
        <p:nvSpPr>
          <p:cNvPr id="22" name="Shape 20"/>
          <p:cNvSpPr/>
          <p:nvPr/>
        </p:nvSpPr>
        <p:spPr>
          <a:xfrm>
            <a:off x="457200" y="4206240"/>
            <a:ext cx="91440" cy="1691640"/>
          </a:xfrm>
          <a:prstGeom prst="rect">
            <a:avLst/>
          </a:prstGeom>
          <a:solidFill>
            <a:srgbClr val="8B5CF6"/>
          </a:solidFill>
          <a:ln w="12700">
            <a:solidFill>
              <a:srgbClr val="8B5CF6"/>
            </a:solidFill>
            <a:prstDash val="solid"/>
          </a:ln>
        </p:spPr>
      </p:sp>
      <p:sp>
        <p:nvSpPr>
          <p:cNvPr id="23" name="Shape 21"/>
          <p:cNvSpPr/>
          <p:nvPr/>
        </p:nvSpPr>
        <p:spPr>
          <a:xfrm>
            <a:off x="731520" y="4434840"/>
            <a:ext cx="457200" cy="457200"/>
          </a:xfrm>
          <a:prstGeom prst="ellipse">
            <a:avLst/>
          </a:prstGeom>
          <a:solidFill>
            <a:srgbClr val="8B5CF6"/>
          </a:solidFill>
          <a:ln w="12700">
            <a:solidFill>
              <a:srgbClr val="8B5CF6"/>
            </a:solidFill>
            <a:prstDash val="solid"/>
          </a:ln>
        </p:spPr>
      </p:sp>
      <p:sp>
        <p:nvSpPr>
          <p:cNvPr id="24" name="Text 22"/>
          <p:cNvSpPr/>
          <p:nvPr/>
        </p:nvSpPr>
        <p:spPr>
          <a:xfrm>
            <a:off x="731520" y="44348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5" name="Text 23"/>
          <p:cNvSpPr/>
          <p:nvPr/>
        </p:nvSpPr>
        <p:spPr>
          <a:xfrm>
            <a:off x="1280160" y="4434840"/>
            <a:ext cx="4617720" cy="411480"/>
          </a:xfrm>
          <a:prstGeom prst="rect">
            <a:avLst/>
          </a:prstGeom>
          <a:noFill/>
          <a:ln/>
        </p:spPr>
        <p:txBody>
          <a:bodyPr wrap="square" lIns="0" tIns="0" rIns="0" bIns="0" rtlCol="0" anchor="ctr"/>
          <a:lstStyle/>
          <a:p>
            <a:pPr indent="0" marL="0">
              <a:buNone/>
            </a:pPr>
            <a:r>
              <a:rPr lang="en-US" sz="1600" b="1" dirty="0">
                <a:solidFill>
                  <a:srgbClr val="0A2540"/>
                </a:solidFill>
                <a:latin typeface="Calibri" pitchFamily="34" charset="0"/>
                <a:ea typeface="Calibri" pitchFamily="34" charset="-122"/>
                <a:cs typeface="Calibri" pitchFamily="34" charset="-120"/>
              </a:rPr>
              <a:t>GrabCut</a:t>
            </a:r>
            <a:endParaRPr lang="en-US" sz="1600" dirty="0"/>
          </a:p>
        </p:txBody>
      </p:sp>
      <p:sp>
        <p:nvSpPr>
          <p:cNvPr id="26" name="Text 24"/>
          <p:cNvSpPr/>
          <p:nvPr/>
        </p:nvSpPr>
        <p:spPr>
          <a:xfrm>
            <a:off x="731520" y="4983480"/>
            <a:ext cx="5074920" cy="41148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Central 80% rect as foreground prior, runs only when others &lt; 0.55</a:t>
            </a:r>
            <a:endParaRPr lang="en-US" sz="1100" dirty="0"/>
          </a:p>
        </p:txBody>
      </p:sp>
      <p:sp>
        <p:nvSpPr>
          <p:cNvPr id="27" name="Text 25"/>
          <p:cNvSpPr/>
          <p:nvPr/>
        </p:nvSpPr>
        <p:spPr>
          <a:xfrm>
            <a:off x="731520" y="5440680"/>
            <a:ext cx="5074920" cy="365760"/>
          </a:xfrm>
          <a:prstGeom prst="rect">
            <a:avLst/>
          </a:prstGeom>
          <a:noFill/>
          <a:ln/>
        </p:spPr>
        <p:txBody>
          <a:bodyPr wrap="square" lIns="0" tIns="0" rIns="0" bIns="0" rtlCol="0" anchor="ctr"/>
          <a:lstStyle/>
          <a:p>
            <a:pPr indent="0" marL="0">
              <a:buNone/>
            </a:pPr>
            <a:r>
              <a:rPr lang="en-US" sz="1050" b="1" dirty="0">
                <a:solidFill>
                  <a:srgbClr val="5A6473"/>
                </a:solidFill>
                <a:latin typeface="Calibri" pitchFamily="34" charset="0"/>
                <a:ea typeface="Calibri" pitchFamily="34" charset="-122"/>
                <a:cs typeface="Calibri" pitchFamily="34" charset="-120"/>
              </a:rPr>
              <a:t>Works on: </a:t>
            </a:r>
            <a:pPr indent="0" marL="0">
              <a:buNone/>
            </a:pPr>
            <a:r>
              <a:rPr lang="en-US" sz="1050" i="1" dirty="0">
                <a:solidFill>
                  <a:srgbClr val="5A6473"/>
                </a:solidFill>
                <a:latin typeface="Calibri" pitchFamily="34" charset="0"/>
                <a:ea typeface="Calibri" pitchFamily="34" charset="-122"/>
                <a:cs typeface="Calibri" pitchFamily="34" charset="-120"/>
              </a:rPr>
              <a:t>Complex backgrounds, no clear colour cue</a:t>
            </a:r>
            <a:endParaRPr lang="en-US" sz="1050" dirty="0"/>
          </a:p>
        </p:txBody>
      </p:sp>
      <p:sp>
        <p:nvSpPr>
          <p:cNvPr id="28" name="Shape 26"/>
          <p:cNvSpPr/>
          <p:nvPr/>
        </p:nvSpPr>
        <p:spPr>
          <a:xfrm>
            <a:off x="6172200" y="4206240"/>
            <a:ext cx="5532120" cy="1691640"/>
          </a:xfrm>
          <a:prstGeom prst="rect">
            <a:avLst/>
          </a:prstGeom>
          <a:solidFill>
            <a:srgbClr val="FFFFFF"/>
          </a:solidFill>
          <a:ln w="12700">
            <a:solidFill>
              <a:srgbClr val="D6DBE3"/>
            </a:solidFill>
            <a:prstDash val="solid"/>
          </a:ln>
        </p:spPr>
      </p:sp>
      <p:sp>
        <p:nvSpPr>
          <p:cNvPr id="29" name="Shape 27"/>
          <p:cNvSpPr/>
          <p:nvPr/>
        </p:nvSpPr>
        <p:spPr>
          <a:xfrm>
            <a:off x="6172200" y="4206240"/>
            <a:ext cx="91440" cy="1691640"/>
          </a:xfrm>
          <a:prstGeom prst="rect">
            <a:avLst/>
          </a:prstGeom>
          <a:solidFill>
            <a:srgbClr val="5A6473"/>
          </a:solidFill>
          <a:ln w="12700">
            <a:solidFill>
              <a:srgbClr val="5A6473"/>
            </a:solidFill>
            <a:prstDash val="solid"/>
          </a:ln>
        </p:spPr>
      </p:sp>
      <p:sp>
        <p:nvSpPr>
          <p:cNvPr id="30" name="Shape 28"/>
          <p:cNvSpPr/>
          <p:nvPr/>
        </p:nvSpPr>
        <p:spPr>
          <a:xfrm>
            <a:off x="6446520" y="4434840"/>
            <a:ext cx="457200" cy="457200"/>
          </a:xfrm>
          <a:prstGeom prst="ellipse">
            <a:avLst/>
          </a:prstGeom>
          <a:solidFill>
            <a:srgbClr val="5A6473"/>
          </a:solidFill>
          <a:ln w="12700">
            <a:solidFill>
              <a:srgbClr val="5A6473"/>
            </a:solidFill>
            <a:prstDash val="solid"/>
          </a:ln>
        </p:spPr>
      </p:sp>
      <p:sp>
        <p:nvSpPr>
          <p:cNvPr id="31" name="Text 29"/>
          <p:cNvSpPr/>
          <p:nvPr/>
        </p:nvSpPr>
        <p:spPr>
          <a:xfrm>
            <a:off x="6446520" y="44348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32" name="Text 30"/>
          <p:cNvSpPr/>
          <p:nvPr/>
        </p:nvSpPr>
        <p:spPr>
          <a:xfrm>
            <a:off x="6995160" y="4434840"/>
            <a:ext cx="4617720" cy="411480"/>
          </a:xfrm>
          <a:prstGeom prst="rect">
            <a:avLst/>
          </a:prstGeom>
          <a:noFill/>
          <a:ln/>
        </p:spPr>
        <p:txBody>
          <a:bodyPr wrap="square" lIns="0" tIns="0" rIns="0" bIns="0" rtlCol="0" anchor="ctr"/>
          <a:lstStyle/>
          <a:p>
            <a:pPr indent="0" marL="0">
              <a:buNone/>
            </a:pPr>
            <a:r>
              <a:rPr lang="en-US" sz="1600" b="1" dirty="0">
                <a:solidFill>
                  <a:srgbClr val="0A2540"/>
                </a:solidFill>
                <a:latin typeface="Calibri" pitchFamily="34" charset="0"/>
                <a:ea typeface="Calibri" pitchFamily="34" charset="-122"/>
                <a:cs typeface="Calibri" pitchFamily="34" charset="-120"/>
              </a:rPr>
              <a:t>Central crop</a:t>
            </a:r>
            <a:endParaRPr lang="en-US" sz="1600" dirty="0"/>
          </a:p>
        </p:txBody>
      </p:sp>
      <p:sp>
        <p:nvSpPr>
          <p:cNvPr id="33" name="Text 31"/>
          <p:cNvSpPr/>
          <p:nvPr/>
        </p:nvSpPr>
        <p:spPr>
          <a:xfrm>
            <a:off x="6446520" y="4983480"/>
            <a:ext cx="5074920" cy="41148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Fixed 60% central rectangle, score = 0.01</a:t>
            </a:r>
            <a:endParaRPr lang="en-US" sz="1100" dirty="0"/>
          </a:p>
        </p:txBody>
      </p:sp>
      <p:sp>
        <p:nvSpPr>
          <p:cNvPr id="34" name="Text 32"/>
          <p:cNvSpPr/>
          <p:nvPr/>
        </p:nvSpPr>
        <p:spPr>
          <a:xfrm>
            <a:off x="6446520" y="5440680"/>
            <a:ext cx="5074920" cy="365760"/>
          </a:xfrm>
          <a:prstGeom prst="rect">
            <a:avLst/>
          </a:prstGeom>
          <a:noFill/>
          <a:ln/>
        </p:spPr>
        <p:txBody>
          <a:bodyPr wrap="square" lIns="0" tIns="0" rIns="0" bIns="0" rtlCol="0" anchor="ctr"/>
          <a:lstStyle/>
          <a:p>
            <a:pPr indent="0" marL="0">
              <a:buNone/>
            </a:pPr>
            <a:r>
              <a:rPr lang="en-US" sz="1050" b="1" dirty="0">
                <a:solidFill>
                  <a:srgbClr val="5A6473"/>
                </a:solidFill>
                <a:latin typeface="Calibri" pitchFamily="34" charset="0"/>
                <a:ea typeface="Calibri" pitchFamily="34" charset="-122"/>
                <a:cs typeface="Calibri" pitchFamily="34" charset="-120"/>
              </a:rPr>
              <a:t>Works on: </a:t>
            </a:r>
            <a:pPr indent="0" marL="0">
              <a:buNone/>
            </a:pPr>
            <a:r>
              <a:rPr lang="en-US" sz="1050" i="1" dirty="0">
                <a:solidFill>
                  <a:srgbClr val="5A6473"/>
                </a:solidFill>
                <a:latin typeface="Calibri" pitchFamily="34" charset="0"/>
                <a:ea typeface="Calibri" pitchFamily="34" charset="-122"/>
                <a:cs typeface="Calibri" pitchFamily="34" charset="-120"/>
              </a:rPr>
              <a:t>Last-resort fallback (always non-empty)</a:t>
            </a:r>
            <a:endParaRPr lang="en-US" sz="1050" dirty="0"/>
          </a:p>
        </p:txBody>
      </p:sp>
      <p:sp>
        <p:nvSpPr>
          <p:cNvPr id="35" name="Shape 33"/>
          <p:cNvSpPr/>
          <p:nvPr/>
        </p:nvSpPr>
        <p:spPr>
          <a:xfrm>
            <a:off x="457200" y="5989320"/>
            <a:ext cx="11247120" cy="457200"/>
          </a:xfrm>
          <a:prstGeom prst="rect">
            <a:avLst/>
          </a:prstGeom>
          <a:solidFill>
            <a:srgbClr val="0A2540"/>
          </a:solidFill>
          <a:ln w="12700">
            <a:solidFill>
              <a:srgbClr val="0A2540"/>
            </a:solidFill>
            <a:prstDash val="solid"/>
          </a:ln>
        </p:spPr>
      </p:sp>
      <p:sp>
        <p:nvSpPr>
          <p:cNvPr id="36" name="Text 34"/>
          <p:cNvSpPr/>
          <p:nvPr/>
        </p:nvSpPr>
        <p:spPr>
          <a:xfrm>
            <a:off x="457200" y="5989320"/>
            <a:ext cx="11247120" cy="457200"/>
          </a:xfrm>
          <a:prstGeom prst="rect">
            <a:avLst/>
          </a:prstGeom>
          <a:noFill/>
          <a:ln/>
        </p:spPr>
        <p:txBody>
          <a:bodyPr wrap="square" lIns="0" tIns="0" rIns="0" bIns="0" rtlCol="0" anchor="ctr"/>
          <a:lstStyle/>
          <a:p>
            <a:pPr algn="ctr" indent="0" marL="0">
              <a:buNone/>
            </a:pPr>
            <a:r>
              <a:rPr lang="en-US" sz="1100" b="1" dirty="0">
                <a:solidFill>
                  <a:srgbClr val="F4A23C"/>
                </a:solidFill>
                <a:latin typeface="Calibri" pitchFamily="34" charset="0"/>
                <a:ea typeface="Calibri" pitchFamily="34" charset="-122"/>
                <a:cs typeface="Calibri" pitchFamily="34" charset="-120"/>
              </a:rPr>
              <a:t>Path usage (1,407 train images):  </a:t>
            </a:r>
            <a:pPr algn="ctr" indent="0" marL="0">
              <a:buNone/>
            </a:pPr>
            <a:r>
              <a:rPr lang="en-US" sz="1100" dirty="0">
                <a:solidFill>
                  <a:srgbClr val="FFFFFF"/>
                </a:solidFill>
                <a:latin typeface="Calibri" pitchFamily="34" charset="0"/>
                <a:ea typeface="Calibri" pitchFamily="34" charset="-122"/>
                <a:cs typeface="Calibri" pitchFamily="34" charset="-120"/>
              </a:rPr>
              <a:t>Otsu 56.8% · HSV 30.8% · GrabCut 11.5% · Central 0.9%   </a:t>
            </a:r>
            <a:pPr algn="ctr" indent="0" marL="0">
              <a:buNone/>
            </a:pPr>
            <a:r>
              <a:rPr lang="en-US" sz="1100" b="1" dirty="0">
                <a:solidFill>
                  <a:srgbClr val="F4A23C"/>
                </a:solidFill>
                <a:latin typeface="Calibri" pitchFamily="34" charset="0"/>
                <a:ea typeface="Calibri" pitchFamily="34" charset="-122"/>
                <a:cs typeface="Calibri" pitchFamily="34" charset="-120"/>
              </a:rPr>
              <a:t>│  Mean mask score 0.720 │  Catastrophic &lt;0.30: 0.9%</a:t>
            </a:r>
            <a:endParaRPr lang="en-US" sz="1100" dirty="0"/>
          </a:p>
        </p:txBody>
      </p:sp>
      <p:sp>
        <p:nvSpPr>
          <p:cNvPr id="37" name="Text 35"/>
          <p:cNvSpPr/>
          <p:nvPr/>
        </p:nvSpPr>
        <p:spPr>
          <a:xfrm>
            <a:off x="457200" y="6537960"/>
            <a:ext cx="7315200" cy="228600"/>
          </a:xfrm>
          <a:prstGeom prst="rect">
            <a:avLst/>
          </a:prstGeom>
          <a:noFill/>
          <a:ln/>
        </p:spPr>
        <p:txBody>
          <a:bodyPr wrap="square" rtlCol="0" anchor="ctr"/>
          <a:lstStyle/>
          <a:p>
            <a:pPr indent="0" marL="0">
              <a:buNone/>
            </a:pPr>
            <a:r>
              <a:rPr lang="en-US" sz="900" dirty="0">
                <a:solidFill>
                  <a:srgbClr val="5A6473"/>
                </a:solidFill>
                <a:latin typeface="Calibri" pitchFamily="34" charset="0"/>
                <a:ea typeface="Calibri" pitchFamily="34" charset="-122"/>
                <a:cs typeface="Calibri" pitchFamily="34" charset="-120"/>
              </a:rPr>
              <a:t>ENMR602 · SIP Ball Classification · Tutorial 10</a:t>
            </a:r>
            <a:endParaRPr lang="en-US" sz="900" dirty="0"/>
          </a:p>
        </p:txBody>
      </p:sp>
      <p:sp>
        <p:nvSpPr>
          <p:cNvPr id="38" name="Text 36"/>
          <p:cNvSpPr/>
          <p:nvPr/>
        </p:nvSpPr>
        <p:spPr>
          <a:xfrm>
            <a:off x="8961120" y="6537960"/>
            <a:ext cx="2743200" cy="228600"/>
          </a:xfrm>
          <a:prstGeom prst="rect">
            <a:avLst/>
          </a:prstGeom>
          <a:noFill/>
          <a:ln/>
        </p:spPr>
        <p:txBody>
          <a:bodyPr wrap="square" rtlCol="0" anchor="ctr"/>
          <a:lstStyle/>
          <a:p>
            <a:pPr algn="r" indent="0" marL="0">
              <a:buNone/>
            </a:pPr>
            <a:r>
              <a:rPr lang="en-US" sz="900" b="1" dirty="0">
                <a:solidFill>
                  <a:srgbClr val="5A6473"/>
                </a:solidFill>
                <a:latin typeface="Calibri" pitchFamily="34" charset="0"/>
                <a:ea typeface="Calibri" pitchFamily="34" charset="-122"/>
                <a:cs typeface="Calibri" pitchFamily="34" charset="-120"/>
              </a:rPr>
              <a:t>Milestone 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502920"/>
          </a:xfrm>
          <a:prstGeom prst="rect">
            <a:avLst/>
          </a:prstGeom>
          <a:solidFill>
            <a:srgbClr val="F4A23C"/>
          </a:solidFill>
          <a:ln w="12700">
            <a:solidFill>
              <a:srgbClr val="F4A23C"/>
            </a:solidFill>
            <a:prstDash val="solid"/>
          </a:ln>
        </p:spPr>
      </p:sp>
      <p:sp>
        <p:nvSpPr>
          <p:cNvPr id="3" name="Text 1"/>
          <p:cNvSpPr/>
          <p:nvPr/>
        </p:nvSpPr>
        <p:spPr>
          <a:xfrm>
            <a:off x="685800" y="320040"/>
            <a:ext cx="11018520" cy="640080"/>
          </a:xfrm>
          <a:prstGeom prst="rect">
            <a:avLst/>
          </a:prstGeom>
          <a:noFill/>
          <a:ln/>
        </p:spPr>
        <p:txBody>
          <a:bodyPr wrap="square" lIns="0" tIns="0" rIns="0" bIns="0" rtlCol="0" anchor="ctr"/>
          <a:lstStyle/>
          <a:p>
            <a:pPr indent="0" marL="0">
              <a:buNone/>
            </a:pPr>
            <a:r>
              <a:rPr lang="en-US" sz="2800" b="1" dirty="0">
                <a:solidFill>
                  <a:srgbClr val="0A2540"/>
                </a:solidFill>
                <a:latin typeface="Calibri" pitchFamily="34" charset="0"/>
                <a:ea typeface="Calibri" pitchFamily="34" charset="-122"/>
                <a:cs typeface="Calibri" pitchFamily="34" charset="-120"/>
              </a:rPr>
              <a:t>M2 — Feature Vector (3,610 dims)</a:t>
            </a:r>
            <a:endParaRPr lang="en-US" sz="2800" dirty="0"/>
          </a:p>
        </p:txBody>
      </p:sp>
      <p:sp>
        <p:nvSpPr>
          <p:cNvPr id="4" name="Text 2"/>
          <p:cNvSpPr/>
          <p:nvPr/>
        </p:nvSpPr>
        <p:spPr>
          <a:xfrm>
            <a:off x="685800" y="914400"/>
            <a:ext cx="11018520" cy="320040"/>
          </a:xfrm>
          <a:prstGeom prst="rect">
            <a:avLst/>
          </a:prstGeom>
          <a:noFill/>
          <a:ln/>
        </p:spPr>
        <p:txBody>
          <a:bodyPr wrap="square" lIns="0" tIns="0" rIns="0" bIns="0" rtlCol="0" anchor="ctr"/>
          <a:lstStyle/>
          <a:p>
            <a:pPr indent="0" marL="0">
              <a:buNone/>
            </a:pPr>
            <a:r>
              <a:rPr lang="en-US" sz="1400" i="1" dirty="0">
                <a:solidFill>
                  <a:srgbClr val="5A6473"/>
                </a:solidFill>
                <a:latin typeface="Calibri" pitchFamily="34" charset="0"/>
                <a:ea typeface="Calibri" pitchFamily="34" charset="-122"/>
                <a:cs typeface="Calibri" pitchFamily="34" charset="-120"/>
              </a:rPr>
              <a:t>Five complementary blocks · globally L2-normalised</a:t>
            </a:r>
            <a:endParaRPr lang="en-US" sz="1400" dirty="0"/>
          </a:p>
        </p:txBody>
      </p:sp>
      <p:sp>
        <p:nvSpPr>
          <p:cNvPr id="5" name="Shape 3"/>
          <p:cNvSpPr/>
          <p:nvPr/>
        </p:nvSpPr>
        <p:spPr>
          <a:xfrm>
            <a:off x="457200" y="1600200"/>
            <a:ext cx="149546" cy="548640"/>
          </a:xfrm>
          <a:prstGeom prst="rect">
            <a:avLst/>
          </a:prstGeom>
          <a:solidFill>
            <a:srgbClr val="F4A23C"/>
          </a:solidFill>
          <a:ln w="6350">
            <a:solidFill>
              <a:srgbClr val="FFFFFF"/>
            </a:solidFill>
            <a:prstDash val="solid"/>
          </a:ln>
        </p:spPr>
      </p:sp>
      <p:sp>
        <p:nvSpPr>
          <p:cNvPr id="6" name="Shape 4"/>
          <p:cNvSpPr/>
          <p:nvPr/>
        </p:nvSpPr>
        <p:spPr>
          <a:xfrm>
            <a:off x="606746" y="1600200"/>
            <a:ext cx="5495823" cy="548640"/>
          </a:xfrm>
          <a:prstGeom prst="rect">
            <a:avLst/>
          </a:prstGeom>
          <a:solidFill>
            <a:srgbClr val="1AA39E"/>
          </a:solidFill>
          <a:ln w="6350">
            <a:solidFill>
              <a:srgbClr val="FFFFFF"/>
            </a:solidFill>
            <a:prstDash val="solid"/>
          </a:ln>
        </p:spPr>
      </p:sp>
      <p:sp>
        <p:nvSpPr>
          <p:cNvPr id="7" name="Shape 5"/>
          <p:cNvSpPr/>
          <p:nvPr/>
        </p:nvSpPr>
        <p:spPr>
          <a:xfrm>
            <a:off x="6102569" y="1600200"/>
            <a:ext cx="5495823" cy="548640"/>
          </a:xfrm>
          <a:prstGeom prst="rect">
            <a:avLst/>
          </a:prstGeom>
          <a:solidFill>
            <a:srgbClr val="5EEAD4"/>
          </a:solidFill>
          <a:ln w="6350">
            <a:solidFill>
              <a:srgbClr val="FFFFFF"/>
            </a:solidFill>
            <a:prstDash val="solid"/>
          </a:ln>
        </p:spPr>
      </p:sp>
      <p:sp>
        <p:nvSpPr>
          <p:cNvPr id="8" name="Shape 6"/>
          <p:cNvSpPr/>
          <p:nvPr/>
        </p:nvSpPr>
        <p:spPr>
          <a:xfrm>
            <a:off x="11598391" y="1600200"/>
            <a:ext cx="137160" cy="548640"/>
          </a:xfrm>
          <a:prstGeom prst="rect">
            <a:avLst/>
          </a:prstGeom>
          <a:solidFill>
            <a:srgbClr val="D64545"/>
          </a:solidFill>
          <a:ln w="6350">
            <a:solidFill>
              <a:srgbClr val="FFFFFF"/>
            </a:solidFill>
            <a:prstDash val="solid"/>
          </a:ln>
        </p:spPr>
      </p:sp>
      <p:sp>
        <p:nvSpPr>
          <p:cNvPr id="9" name="Shape 7"/>
          <p:cNvSpPr/>
          <p:nvPr/>
        </p:nvSpPr>
        <p:spPr>
          <a:xfrm>
            <a:off x="11623316" y="1600200"/>
            <a:ext cx="137160" cy="548640"/>
          </a:xfrm>
          <a:prstGeom prst="rect">
            <a:avLst/>
          </a:prstGeom>
          <a:solidFill>
            <a:srgbClr val="8B5CF6"/>
          </a:solidFill>
          <a:ln w="6350">
            <a:solidFill>
              <a:srgbClr val="FFFFFF"/>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2331720"/>
          <a:ext cx="11247120" cy="914400"/>
        </p:xfrm>
        <a:graphic>
          <a:graphicData uri="http://schemas.openxmlformats.org/drawingml/2006/table">
            <a:tbl>
              <a:tblPr/>
              <a:tblGrid>
                <a:gridCol w="457200"/>
                <a:gridCol w="2743200"/>
                <a:gridCol w="914400"/>
                <a:gridCol w="3291840"/>
                <a:gridCol w="3840480"/>
              </a:tblGrid>
              <a:tr h="384048">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0A2540"/>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Block</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0A25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Dims</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0A2540"/>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What it captures</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0A2540"/>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Implementation note</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0A2540"/>
                    </a:solidFill>
                  </a:tcPr>
                </a:tc>
              </a:tr>
              <a:tr h="384048">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Color histogram (HSV, masked)</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48</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Dominant ball colour, isolated from background</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16 bins × 3 channels · L1-norm per channel · mask only</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r>
              <a:tr h="384048">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HOG (mask bounding box)</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1,764</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Local shape &amp; texture inside the ball</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128×128 grey · 16×16 cells · 9 bins · L2-Hys</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r>
              <a:tr h="384048">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HOG (central crop)</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1,764</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Mask-independent backup descriptor</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Same HOG config, central square crop</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r>
              <a:tr h="384048">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Shape statistics</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Circular vs elongated (american football)</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Aspect · extent · solidity · circularity · eccentricity · Hu</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r>
              <a:tr h="384048">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LBP texture histogram</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26</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Fine surface texture (dimples, stitching)</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P=24 neighbours · R=3 · uniform · 26 bins · masked</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r>
              <a:tr h="384048">
                <a:tc>
                  <a:txBody>
                    <a:bodyPr/>
                    <a:lstStyle/>
                    <a:p>
                      <a:pPr algn="l" indent="0" marL="0">
                        <a:buNone/>
                      </a:pP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9"/>
                    </a:solidFill>
                  </a:tcPr>
                </a:tc>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TOTAL (then global L2 norm)</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9"/>
                    </a:solidFill>
                  </a:tcPr>
                </a:tc>
                <a:tc>
                  <a:txBody>
                    <a:bodyPr/>
                    <a:lstStyle/>
                    <a:p>
                      <a:pPr algn="ctr" indent="0" marL="0">
                        <a:buNone/>
                      </a:pPr>
                      <a:r>
                        <a:rPr lang="en-US" sz="1050" b="1" dirty="0">
                          <a:solidFill>
                            <a:srgbClr val="1A1A1A"/>
                          </a:solidFill>
                          <a:latin typeface="Calibri" pitchFamily="34" charset="0"/>
                          <a:ea typeface="Calibri" pitchFamily="34" charset="-122"/>
                          <a:cs typeface="Calibri" pitchFamily="34" charset="-120"/>
                        </a:rPr>
                        <a:t>3,610</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9"/>
                    </a:solidFill>
                  </a:tcPr>
                </a:tc>
                <a:tc>
                  <a:txBody>
                    <a:bodyPr/>
                    <a:lstStyle/>
                    <a:p>
                      <a:pPr algn="l" indent="0" marL="0">
                        <a:buNone/>
                      </a:pP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9"/>
                    </a:solidFill>
                  </a:tcPr>
                </a:tc>
                <a:tc>
                  <a:txBody>
                    <a:bodyPr/>
                    <a:lstStyle/>
                    <a:p>
                      <a:pPr algn="l" indent="0" marL="0">
                        <a:buNone/>
                      </a:pP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9"/>
                    </a:solidFill>
                  </a:tcPr>
                </a:tc>
              </a:tr>
            </a:tbl>
          </a:graphicData>
        </a:graphic>
      </p:graphicFrame>
      <p:sp>
        <p:nvSpPr>
          <p:cNvPr id="11" name="Shape 8"/>
          <p:cNvSpPr/>
          <p:nvPr/>
        </p:nvSpPr>
        <p:spPr>
          <a:xfrm>
            <a:off x="457200" y="5486400"/>
            <a:ext cx="11247120" cy="868680"/>
          </a:xfrm>
          <a:prstGeom prst="rect">
            <a:avLst/>
          </a:prstGeom>
          <a:solidFill>
            <a:srgbClr val="F4F6F9"/>
          </a:solidFill>
          <a:ln w="19050">
            <a:solidFill>
              <a:srgbClr val="8B5CF6"/>
            </a:solidFill>
            <a:prstDash val="solid"/>
          </a:ln>
        </p:spPr>
      </p:sp>
      <p:sp>
        <p:nvSpPr>
          <p:cNvPr id="12" name="Text 9"/>
          <p:cNvSpPr/>
          <p:nvPr/>
        </p:nvSpPr>
        <p:spPr>
          <a:xfrm>
            <a:off x="640080" y="5577840"/>
            <a:ext cx="2743200" cy="320040"/>
          </a:xfrm>
          <a:prstGeom prst="rect">
            <a:avLst/>
          </a:prstGeom>
          <a:noFill/>
          <a:ln/>
        </p:spPr>
        <p:txBody>
          <a:bodyPr wrap="square" lIns="0" tIns="0" rIns="0" bIns="0" rtlCol="0" anchor="ctr"/>
          <a:lstStyle/>
          <a:p>
            <a:pPr indent="0" marL="0">
              <a:buNone/>
            </a:pPr>
            <a:r>
              <a:rPr lang="en-US" sz="1300" b="1" dirty="0">
                <a:solidFill>
                  <a:srgbClr val="8B5CF6"/>
                </a:solidFill>
                <a:latin typeface="Calibri" pitchFamily="34" charset="0"/>
                <a:ea typeface="Calibri" pitchFamily="34" charset="-122"/>
                <a:cs typeface="Calibri" pitchFamily="34" charset="-120"/>
              </a:rPr>
              <a:t>Why add LBP?</a:t>
            </a:r>
            <a:endParaRPr lang="en-US" sz="1300" dirty="0"/>
          </a:p>
        </p:txBody>
      </p:sp>
      <p:sp>
        <p:nvSpPr>
          <p:cNvPr id="13" name="Text 10"/>
          <p:cNvSpPr/>
          <p:nvPr/>
        </p:nvSpPr>
        <p:spPr>
          <a:xfrm>
            <a:off x="640080" y="5852160"/>
            <a:ext cx="10972800" cy="502920"/>
          </a:xfrm>
          <a:prstGeom prst="rect">
            <a:avLst/>
          </a:prstGeom>
          <a:noFill/>
          <a:ln/>
        </p:spPr>
        <p:txBody>
          <a:bodyPr wrap="square" lIns="0" tIns="0" rIns="0" bIns="0" rtlCol="0" anchor="ctr"/>
          <a:lstStyle/>
          <a:p>
            <a:pPr indent="0" marL="0">
              <a:buNone/>
            </a:pPr>
            <a:r>
              <a:rPr lang="en-US" sz="1100" dirty="0">
                <a:solidFill>
                  <a:srgbClr val="1A1A1A"/>
                </a:solidFill>
                <a:latin typeface="Calibri" pitchFamily="34" charset="0"/>
                <a:ea typeface="Calibri" pitchFamily="34" charset="-122"/>
                <a:cs typeface="Calibri" pitchFamily="34" charset="-120"/>
              </a:rPr>
              <a:t>HOG averages gradients over 16×16-pixel cells, smoothing away golf dimples and baseball stitching. LBP operates at pixel-neighbourhood resolution (P=24, R=3) → captures the micro-textures HOG misses. Ablation confirms +1.39% accuracy gain on Random Forest.</a:t>
            </a:r>
            <a:endParaRPr lang="en-US" sz="1100" dirty="0"/>
          </a:p>
        </p:txBody>
      </p:sp>
      <p:sp>
        <p:nvSpPr>
          <p:cNvPr id="14" name="Text 11"/>
          <p:cNvSpPr/>
          <p:nvPr/>
        </p:nvSpPr>
        <p:spPr>
          <a:xfrm>
            <a:off x="457200" y="6537960"/>
            <a:ext cx="7315200" cy="228600"/>
          </a:xfrm>
          <a:prstGeom prst="rect">
            <a:avLst/>
          </a:prstGeom>
          <a:noFill/>
          <a:ln/>
        </p:spPr>
        <p:txBody>
          <a:bodyPr wrap="square" rtlCol="0" anchor="ctr"/>
          <a:lstStyle/>
          <a:p>
            <a:pPr indent="0" marL="0">
              <a:buNone/>
            </a:pPr>
            <a:r>
              <a:rPr lang="en-US" sz="900" dirty="0">
                <a:solidFill>
                  <a:srgbClr val="5A6473"/>
                </a:solidFill>
                <a:latin typeface="Calibri" pitchFamily="34" charset="0"/>
                <a:ea typeface="Calibri" pitchFamily="34" charset="-122"/>
                <a:cs typeface="Calibri" pitchFamily="34" charset="-120"/>
              </a:rPr>
              <a:t>ENMR602 · SIP Ball Classification · Tutorial 10</a:t>
            </a:r>
            <a:endParaRPr lang="en-US" sz="900" dirty="0"/>
          </a:p>
        </p:txBody>
      </p:sp>
      <p:sp>
        <p:nvSpPr>
          <p:cNvPr id="15" name="Text 12"/>
          <p:cNvSpPr/>
          <p:nvPr/>
        </p:nvSpPr>
        <p:spPr>
          <a:xfrm>
            <a:off x="8961120" y="6537960"/>
            <a:ext cx="2743200" cy="228600"/>
          </a:xfrm>
          <a:prstGeom prst="rect">
            <a:avLst/>
          </a:prstGeom>
          <a:noFill/>
          <a:ln/>
        </p:spPr>
        <p:txBody>
          <a:bodyPr wrap="square" rtlCol="0" anchor="ctr"/>
          <a:lstStyle/>
          <a:p>
            <a:pPr algn="r" indent="0" marL="0">
              <a:buNone/>
            </a:pPr>
            <a:r>
              <a:rPr lang="en-US" sz="900" b="1" dirty="0">
                <a:solidFill>
                  <a:srgbClr val="5A6473"/>
                </a:solidFill>
                <a:latin typeface="Calibri" pitchFamily="34" charset="0"/>
                <a:ea typeface="Calibri" pitchFamily="34" charset="-122"/>
                <a:cs typeface="Calibri" pitchFamily="34" charset="-120"/>
              </a:rPr>
              <a:t>Milestone 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502920"/>
          </a:xfrm>
          <a:prstGeom prst="rect">
            <a:avLst/>
          </a:prstGeom>
          <a:solidFill>
            <a:srgbClr val="F4A23C"/>
          </a:solidFill>
          <a:ln w="12700">
            <a:solidFill>
              <a:srgbClr val="F4A23C"/>
            </a:solidFill>
            <a:prstDash val="solid"/>
          </a:ln>
        </p:spPr>
      </p:sp>
      <p:sp>
        <p:nvSpPr>
          <p:cNvPr id="3" name="Text 1"/>
          <p:cNvSpPr/>
          <p:nvPr/>
        </p:nvSpPr>
        <p:spPr>
          <a:xfrm>
            <a:off x="685800" y="320040"/>
            <a:ext cx="11018520" cy="640080"/>
          </a:xfrm>
          <a:prstGeom prst="rect">
            <a:avLst/>
          </a:prstGeom>
          <a:noFill/>
          <a:ln/>
        </p:spPr>
        <p:txBody>
          <a:bodyPr wrap="square" lIns="0" tIns="0" rIns="0" bIns="0" rtlCol="0" anchor="ctr"/>
          <a:lstStyle/>
          <a:p>
            <a:pPr indent="0" marL="0">
              <a:buNone/>
            </a:pPr>
            <a:r>
              <a:rPr lang="en-US" sz="2800" b="1" dirty="0">
                <a:solidFill>
                  <a:srgbClr val="0A2540"/>
                </a:solidFill>
                <a:latin typeface="Calibri" pitchFamily="34" charset="0"/>
                <a:ea typeface="Calibri" pitchFamily="34" charset="-122"/>
                <a:cs typeface="Calibri" pitchFamily="34" charset="-120"/>
              </a:rPr>
              <a:t>M2 — Classifier Progression</a:t>
            </a:r>
            <a:endParaRPr lang="en-US" sz="2800" dirty="0"/>
          </a:p>
        </p:txBody>
      </p:sp>
      <p:sp>
        <p:nvSpPr>
          <p:cNvPr id="4" name="Text 2"/>
          <p:cNvSpPr/>
          <p:nvPr/>
        </p:nvSpPr>
        <p:spPr>
          <a:xfrm>
            <a:off x="685800" y="914400"/>
            <a:ext cx="11018520" cy="320040"/>
          </a:xfrm>
          <a:prstGeom prst="rect">
            <a:avLst/>
          </a:prstGeom>
          <a:noFill/>
          <a:ln/>
        </p:spPr>
        <p:txBody>
          <a:bodyPr wrap="square" lIns="0" tIns="0" rIns="0" bIns="0" rtlCol="0" anchor="ctr"/>
          <a:lstStyle/>
          <a:p>
            <a:pPr indent="0" marL="0">
              <a:buNone/>
            </a:pPr>
            <a:r>
              <a:rPr lang="en-US" sz="1400" i="1" dirty="0">
                <a:solidFill>
                  <a:srgbClr val="5A6473"/>
                </a:solidFill>
                <a:latin typeface="Calibri" pitchFamily="34" charset="0"/>
                <a:ea typeface="Calibri" pitchFamily="34" charset="-122"/>
                <a:cs typeface="Calibri" pitchFamily="34" charset="-120"/>
              </a:rPr>
              <a:t>Six classifiers tuned by 5-fold CV — test set held sealed</a:t>
            </a:r>
            <a:endParaRPr lang="en-US" sz="1400" dirty="0"/>
          </a:p>
        </p:txBody>
      </p:sp>
      <p:graphicFrame>
        <p:nvGraphicFramePr>
          <p:cNvPr id="5" name="Chart 0" descr=""/>
          <p:cNvGraphicFramePr/>
          <p:nvPr/>
        </p:nvGraphicFramePr>
        <p:xfrm>
          <a:off x="457200" y="1554480"/>
          <a:ext cx="7589520" cy="38404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229600" y="1554480"/>
            <a:ext cx="3474720" cy="3840480"/>
          </a:xfrm>
          <a:prstGeom prst="rect">
            <a:avLst/>
          </a:prstGeom>
          <a:solidFill>
            <a:srgbClr val="F4F6F9"/>
          </a:solidFill>
          <a:ln w="12700">
            <a:solidFill>
              <a:srgbClr val="D6DBE3"/>
            </a:solidFill>
            <a:prstDash val="solid"/>
          </a:ln>
        </p:spPr>
      </p:sp>
      <p:sp>
        <p:nvSpPr>
          <p:cNvPr id="7" name="Text 4"/>
          <p:cNvSpPr/>
          <p:nvPr/>
        </p:nvSpPr>
        <p:spPr>
          <a:xfrm>
            <a:off x="8412480" y="1691640"/>
            <a:ext cx="3200400" cy="365760"/>
          </a:xfrm>
          <a:prstGeom prst="rect">
            <a:avLst/>
          </a:prstGeom>
          <a:noFill/>
          <a:ln/>
        </p:spPr>
        <p:txBody>
          <a:bodyPr wrap="square" lIns="0" tIns="0" rIns="0" bIns="0" rtlCol="0" anchor="ctr"/>
          <a:lstStyle/>
          <a:p>
            <a:pPr indent="0" marL="0">
              <a:buNone/>
            </a:pPr>
            <a:r>
              <a:rPr lang="en-US" sz="1500" b="1" dirty="0">
                <a:solidFill>
                  <a:srgbClr val="0A2540"/>
                </a:solidFill>
                <a:latin typeface="Calibri" pitchFamily="34" charset="0"/>
                <a:ea typeface="Calibri" pitchFamily="34" charset="-122"/>
                <a:cs typeface="Calibri" pitchFamily="34" charset="-120"/>
              </a:rPr>
              <a:t>Why RF wins</a:t>
            </a:r>
            <a:endParaRPr lang="en-US" sz="1500" dirty="0"/>
          </a:p>
        </p:txBody>
      </p:sp>
      <p:sp>
        <p:nvSpPr>
          <p:cNvPr id="8" name="Text 5"/>
          <p:cNvSpPr/>
          <p:nvPr/>
        </p:nvSpPr>
        <p:spPr>
          <a:xfrm>
            <a:off x="8412480" y="2103120"/>
            <a:ext cx="3200400" cy="320040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1A1A1A"/>
                </a:solidFill>
                <a:latin typeface="Calibri" pitchFamily="34" charset="0"/>
                <a:ea typeface="Calibri" pitchFamily="34" charset="-122"/>
                <a:cs typeface="Calibri" pitchFamily="34" charset="-120"/>
              </a:rPr>
              <a:t>Scale-invariant — no StandardScaler needed</a:t>
            </a:r>
            <a:endParaRPr lang="en-US" sz="1100" dirty="0"/>
          </a:p>
          <a:p>
            <a:pPr marL="342900" indent="-342900">
              <a:spcAft>
                <a:spcPts val="500"/>
              </a:spcAft>
              <a:buSzPct val="100000"/>
              <a:buChar char="•"/>
            </a:pPr>
            <a:r>
              <a:rPr lang="en-US" sz="1100" dirty="0">
                <a:solidFill>
                  <a:srgbClr val="1A1A1A"/>
                </a:solidFill>
                <a:latin typeface="Calibri" pitchFamily="34" charset="0"/>
                <a:ea typeface="Calibri" pitchFamily="34" charset="-122"/>
                <a:cs typeface="Calibri" pitchFamily="34" charset="-120"/>
              </a:rPr>
              <a:t>Models non-linear feature interactions (white + smooth → golf)</a:t>
            </a:r>
            <a:endParaRPr lang="en-US" sz="1100" dirty="0"/>
          </a:p>
          <a:p>
            <a:pPr marL="342900" indent="-342900">
              <a:spcAft>
                <a:spcPts val="500"/>
              </a:spcAft>
              <a:buSzPct val="100000"/>
              <a:buChar char="•"/>
            </a:pPr>
            <a:r>
              <a:rPr lang="en-US" sz="1100" dirty="0">
                <a:solidFill>
                  <a:srgbClr val="1A1A1A"/>
                </a:solidFill>
                <a:latin typeface="Calibri" pitchFamily="34" charset="0"/>
                <a:ea typeface="Calibri" pitchFamily="34" charset="-122"/>
                <a:cs typeface="Calibri" pitchFamily="34" charset="-120"/>
              </a:rPr>
              <a:t>Random feature subsets → implicit regularisation</a:t>
            </a:r>
            <a:endParaRPr lang="en-US" sz="1100" dirty="0"/>
          </a:p>
          <a:p>
            <a:pPr marL="342900" indent="-342900">
              <a:spcAft>
                <a:spcPts val="500"/>
              </a:spcAft>
              <a:buSzPct val="100000"/>
              <a:buChar char="•"/>
            </a:pPr>
            <a:r>
              <a:rPr lang="en-US" sz="1100" dirty="0">
                <a:solidFill>
                  <a:srgbClr val="1A1A1A"/>
                </a:solidFill>
                <a:latin typeface="Calibri" pitchFamily="34" charset="0"/>
                <a:ea typeface="Calibri" pitchFamily="34" charset="-122"/>
                <a:cs typeface="Calibri" pitchFamily="34" charset="-120"/>
              </a:rPr>
              <a:t>+2.4% over Linear SVM on the same feature vector</a:t>
            </a:r>
            <a:endParaRPr lang="en-US" sz="1100" dirty="0"/>
          </a:p>
          <a:p>
            <a:pPr marL="342900" indent="-342900">
              <a:spcAft>
                <a:spcPts val="500"/>
              </a:spcAft>
              <a:buSzPct val="100000"/>
              <a:buChar char="•"/>
            </a:pPr>
            <a:r>
              <a:rPr lang="en-US" sz="1100" dirty="0">
                <a:solidFill>
                  <a:srgbClr val="1A1A1A"/>
                </a:solidFill>
                <a:latin typeface="Calibri" pitchFamily="34" charset="0"/>
                <a:ea typeface="Calibri" pitchFamily="34" charset="-122"/>
                <a:cs typeface="Calibri" pitchFamily="34" charset="-120"/>
              </a:rPr>
              <a:t>Strong even with 10% of data (76.8%)</a:t>
            </a:r>
            <a:endParaRPr lang="en-US" sz="1100" dirty="0"/>
          </a:p>
        </p:txBody>
      </p:sp>
      <p:sp>
        <p:nvSpPr>
          <p:cNvPr id="9" name="Text 6"/>
          <p:cNvSpPr/>
          <p:nvPr/>
        </p:nvSpPr>
        <p:spPr>
          <a:xfrm>
            <a:off x="457200" y="5532120"/>
            <a:ext cx="5486400" cy="320040"/>
          </a:xfrm>
          <a:prstGeom prst="rect">
            <a:avLst/>
          </a:prstGeom>
          <a:noFill/>
          <a:ln/>
        </p:spPr>
        <p:txBody>
          <a:bodyPr wrap="square" lIns="0" tIns="0" rIns="0" bIns="0" rtlCol="0" anchor="ctr"/>
          <a:lstStyle/>
          <a:p>
            <a:pPr indent="0" marL="0">
              <a:buNone/>
            </a:pPr>
            <a:r>
              <a:rPr lang="en-US" sz="1300" b="1" dirty="0">
                <a:solidFill>
                  <a:srgbClr val="0A2540"/>
                </a:solidFill>
                <a:latin typeface="Calibri" pitchFamily="34" charset="0"/>
                <a:ea typeface="Calibri" pitchFamily="34" charset="-122"/>
                <a:cs typeface="Calibri" pitchFamily="34" charset="-120"/>
              </a:rPr>
              <a:t>Winning hyperparameters</a:t>
            </a:r>
            <a:endParaRPr lang="en-US" sz="1300" dirty="0"/>
          </a:p>
        </p:txBody>
      </p:sp>
      <p:sp>
        <p:nvSpPr>
          <p:cNvPr id="10" name="Text 7"/>
          <p:cNvSpPr/>
          <p:nvPr/>
        </p:nvSpPr>
        <p:spPr>
          <a:xfrm>
            <a:off x="457200" y="5852160"/>
            <a:ext cx="11247120" cy="457200"/>
          </a:xfrm>
          <a:prstGeom prst="rect">
            <a:avLst/>
          </a:prstGeom>
          <a:noFill/>
          <a:ln/>
        </p:spPr>
        <p:txBody>
          <a:bodyPr wrap="square" lIns="0" tIns="0" rIns="0" bIns="0" rtlCol="0" anchor="ctr"/>
          <a:lstStyle/>
          <a:p>
            <a:pPr indent="0" marL="0">
              <a:buNone/>
            </a:pPr>
            <a:r>
              <a:rPr lang="en-US" sz="1100" b="1" dirty="0">
                <a:solidFill>
                  <a:srgbClr val="0A2540"/>
                </a:solidFill>
                <a:latin typeface="Calibri" pitchFamily="34" charset="0"/>
                <a:ea typeface="Calibri" pitchFamily="34" charset="-122"/>
                <a:cs typeface="Calibri" pitchFamily="34" charset="-120"/>
              </a:rPr>
              <a:t>k-NN: </a:t>
            </a:r>
            <a:pPr indent="0" marL="0">
              <a:buNone/>
            </a:pPr>
            <a:r>
              <a:rPr lang="en-US" sz="1100" dirty="0">
                <a:solidFill>
                  <a:srgbClr val="1A1A1A"/>
                </a:solidFill>
                <a:latin typeface="Calibri" pitchFamily="34" charset="0"/>
                <a:ea typeface="Calibri" pitchFamily="34" charset="-122"/>
                <a:cs typeface="Calibri" pitchFamily="34" charset="-120"/>
              </a:rPr>
              <a:t>k = 1 (Euclidean)        </a:t>
            </a:r>
            <a:pPr indent="0" marL="0">
              <a:buNone/>
            </a:pPr>
            <a:r>
              <a:rPr lang="en-US" sz="1100" b="1" dirty="0">
                <a:solidFill>
                  <a:srgbClr val="0A2540"/>
                </a:solidFill>
                <a:latin typeface="Calibri" pitchFamily="34" charset="0"/>
                <a:ea typeface="Calibri" pitchFamily="34" charset="-122"/>
                <a:cs typeface="Calibri" pitchFamily="34" charset="-120"/>
              </a:rPr>
              <a:t>Linear SVM: </a:t>
            </a:r>
            <a:pPr indent="0" marL="0">
              <a:buNone/>
            </a:pPr>
            <a:r>
              <a:rPr lang="en-US" sz="1100" dirty="0">
                <a:solidFill>
                  <a:srgbClr val="1A1A1A"/>
                </a:solidFill>
                <a:latin typeface="Calibri" pitchFamily="34" charset="0"/>
                <a:ea typeface="Calibri" pitchFamily="34" charset="-122"/>
                <a:cs typeface="Calibri" pitchFamily="34" charset="-120"/>
              </a:rPr>
              <a:t>C = 0.01 (very heavy regularisation)        </a:t>
            </a:r>
            <a:pPr indent="0" marL="0">
              <a:buNone/>
            </a:pPr>
            <a:r>
              <a:rPr lang="en-US" sz="1100" b="1" dirty="0">
                <a:solidFill>
                  <a:srgbClr val="0A2540"/>
                </a:solidFill>
                <a:latin typeface="Calibri" pitchFamily="34" charset="0"/>
                <a:ea typeface="Calibri" pitchFamily="34" charset="-122"/>
                <a:cs typeface="Calibri" pitchFamily="34" charset="-120"/>
              </a:rPr>
              <a:t>RBF SVM: </a:t>
            </a:r>
            <a:pPr indent="0" marL="0">
              <a:buNone/>
            </a:pPr>
            <a:r>
              <a:rPr lang="en-US" sz="1100" dirty="0">
                <a:solidFill>
                  <a:srgbClr val="1A1A1A"/>
                </a:solidFill>
                <a:latin typeface="Calibri" pitchFamily="34" charset="0"/>
                <a:ea typeface="Calibri" pitchFamily="34" charset="-122"/>
                <a:cs typeface="Calibri" pitchFamily="34" charset="-120"/>
              </a:rPr>
              <a:t>C = 10, γ = scale, PCA-256        </a:t>
            </a:r>
            <a:pPr indent="0" marL="0">
              <a:buNone/>
            </a:pPr>
            <a:r>
              <a:rPr lang="en-US" sz="1100" b="1" dirty="0">
                <a:solidFill>
                  <a:srgbClr val="0A2540"/>
                </a:solidFill>
                <a:latin typeface="Calibri" pitchFamily="34" charset="0"/>
                <a:ea typeface="Calibri" pitchFamily="34" charset="-122"/>
                <a:cs typeface="Calibri" pitchFamily="34" charset="-120"/>
              </a:rPr>
              <a:t>RF: </a:t>
            </a:r>
            <a:pPr indent="0" marL="0">
              <a:buNone/>
            </a:pPr>
            <a:r>
              <a:rPr lang="en-US" sz="1100" dirty="0">
                <a:solidFill>
                  <a:srgbClr val="1A1A1A"/>
                </a:solidFill>
                <a:latin typeface="Calibri" pitchFamily="34" charset="0"/>
                <a:ea typeface="Calibri" pitchFamily="34" charset="-122"/>
                <a:cs typeface="Calibri" pitchFamily="34" charset="-120"/>
              </a:rPr>
              <a:t>300 trees, no PCA</a:t>
            </a:r>
            <a:endParaRPr lang="en-US" sz="1100" dirty="0"/>
          </a:p>
        </p:txBody>
      </p:sp>
      <p:sp>
        <p:nvSpPr>
          <p:cNvPr id="11" name="Text 8"/>
          <p:cNvSpPr/>
          <p:nvPr/>
        </p:nvSpPr>
        <p:spPr>
          <a:xfrm>
            <a:off x="457200" y="6537960"/>
            <a:ext cx="7315200" cy="228600"/>
          </a:xfrm>
          <a:prstGeom prst="rect">
            <a:avLst/>
          </a:prstGeom>
          <a:noFill/>
          <a:ln/>
        </p:spPr>
        <p:txBody>
          <a:bodyPr wrap="square" rtlCol="0" anchor="ctr"/>
          <a:lstStyle/>
          <a:p>
            <a:pPr indent="0" marL="0">
              <a:buNone/>
            </a:pPr>
            <a:r>
              <a:rPr lang="en-US" sz="900" dirty="0">
                <a:solidFill>
                  <a:srgbClr val="5A6473"/>
                </a:solidFill>
                <a:latin typeface="Calibri" pitchFamily="34" charset="0"/>
                <a:ea typeface="Calibri" pitchFamily="34" charset="-122"/>
                <a:cs typeface="Calibri" pitchFamily="34" charset="-120"/>
              </a:rPr>
              <a:t>ENMR602 · SIP Ball Classification · Tutorial 10</a:t>
            </a:r>
            <a:endParaRPr lang="en-US" sz="900" dirty="0"/>
          </a:p>
        </p:txBody>
      </p:sp>
      <p:sp>
        <p:nvSpPr>
          <p:cNvPr id="12" name="Text 9"/>
          <p:cNvSpPr/>
          <p:nvPr/>
        </p:nvSpPr>
        <p:spPr>
          <a:xfrm>
            <a:off x="8961120" y="6537960"/>
            <a:ext cx="2743200" cy="228600"/>
          </a:xfrm>
          <a:prstGeom prst="rect">
            <a:avLst/>
          </a:prstGeom>
          <a:noFill/>
          <a:ln/>
        </p:spPr>
        <p:txBody>
          <a:bodyPr wrap="square" rtlCol="0" anchor="ctr"/>
          <a:lstStyle/>
          <a:p>
            <a:pPr algn="r" indent="0" marL="0">
              <a:buNone/>
            </a:pPr>
            <a:r>
              <a:rPr lang="en-US" sz="900" b="1" dirty="0">
                <a:solidFill>
                  <a:srgbClr val="5A6473"/>
                </a:solidFill>
                <a:latin typeface="Calibri" pitchFamily="34" charset="0"/>
                <a:ea typeface="Calibri" pitchFamily="34" charset="-122"/>
                <a:cs typeface="Calibri" pitchFamily="34" charset="-120"/>
              </a:rPr>
              <a:t>Milestone 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502920"/>
          </a:xfrm>
          <a:prstGeom prst="rect">
            <a:avLst/>
          </a:prstGeom>
          <a:solidFill>
            <a:srgbClr val="F4A23C"/>
          </a:solidFill>
          <a:ln w="12700">
            <a:solidFill>
              <a:srgbClr val="F4A23C"/>
            </a:solidFill>
            <a:prstDash val="solid"/>
          </a:ln>
        </p:spPr>
      </p:sp>
      <p:sp>
        <p:nvSpPr>
          <p:cNvPr id="3" name="Text 1"/>
          <p:cNvSpPr/>
          <p:nvPr/>
        </p:nvSpPr>
        <p:spPr>
          <a:xfrm>
            <a:off x="685800" y="320040"/>
            <a:ext cx="11018520" cy="640080"/>
          </a:xfrm>
          <a:prstGeom prst="rect">
            <a:avLst/>
          </a:prstGeom>
          <a:noFill/>
          <a:ln/>
        </p:spPr>
        <p:txBody>
          <a:bodyPr wrap="square" lIns="0" tIns="0" rIns="0" bIns="0" rtlCol="0" anchor="ctr"/>
          <a:lstStyle/>
          <a:p>
            <a:pPr indent="0" marL="0">
              <a:buNone/>
            </a:pPr>
            <a:r>
              <a:rPr lang="en-US" sz="2800" b="1" dirty="0">
                <a:solidFill>
                  <a:srgbClr val="0A2540"/>
                </a:solidFill>
                <a:latin typeface="Calibri" pitchFamily="34" charset="0"/>
                <a:ea typeface="Calibri" pitchFamily="34" charset="-122"/>
                <a:cs typeface="Calibri" pitchFamily="34" charset="-120"/>
              </a:rPr>
              <a:t>M2 — Ablation &amp; Per-Class Results</a:t>
            </a:r>
            <a:endParaRPr lang="en-US" sz="2800" dirty="0"/>
          </a:p>
        </p:txBody>
      </p:sp>
      <p:sp>
        <p:nvSpPr>
          <p:cNvPr id="4" name="Text 2"/>
          <p:cNvSpPr/>
          <p:nvPr/>
        </p:nvSpPr>
        <p:spPr>
          <a:xfrm>
            <a:off x="685800" y="914400"/>
            <a:ext cx="11018520" cy="320040"/>
          </a:xfrm>
          <a:prstGeom prst="rect">
            <a:avLst/>
          </a:prstGeom>
          <a:noFill/>
          <a:ln/>
        </p:spPr>
        <p:txBody>
          <a:bodyPr wrap="square" lIns="0" tIns="0" rIns="0" bIns="0" rtlCol="0" anchor="ctr"/>
          <a:lstStyle/>
          <a:p>
            <a:pPr indent="0" marL="0">
              <a:buNone/>
            </a:pPr>
            <a:r>
              <a:rPr lang="en-US" sz="1400" i="1" dirty="0">
                <a:solidFill>
                  <a:srgbClr val="5A6473"/>
                </a:solidFill>
                <a:latin typeface="Calibri" pitchFamily="34" charset="0"/>
                <a:ea typeface="Calibri" pitchFamily="34" charset="-122"/>
                <a:cs typeface="Calibri" pitchFamily="34" charset="-120"/>
              </a:rPr>
              <a:t>What each feature group contributes · where the model struggles</a:t>
            </a:r>
            <a:endParaRPr lang="en-US" sz="1400" dirty="0"/>
          </a:p>
        </p:txBody>
      </p:sp>
      <p:graphicFrame>
        <p:nvGraphicFramePr>
          <p:cNvPr id="5" name="Chart 0" descr=""/>
          <p:cNvGraphicFramePr/>
          <p:nvPr/>
        </p:nvGraphicFramePr>
        <p:xfrm>
          <a:off x="457200" y="1554480"/>
          <a:ext cx="5943600" cy="42976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583680" y="1554480"/>
            <a:ext cx="5486400" cy="320040"/>
          </a:xfrm>
          <a:prstGeom prst="rect">
            <a:avLst/>
          </a:prstGeom>
          <a:noFill/>
          <a:ln/>
        </p:spPr>
        <p:txBody>
          <a:bodyPr wrap="square" lIns="0" tIns="0" rIns="0" bIns="0"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Per-class performance (RF + LBP)</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583680" y="1920240"/>
          <a:ext cx="5120640" cy="914400"/>
        </p:xfrm>
        <a:graphic>
          <a:graphicData uri="http://schemas.openxmlformats.org/drawingml/2006/table">
            <a:tbl>
              <a:tblPr/>
              <a:tblGrid>
                <a:gridCol w="2011680"/>
                <a:gridCol w="1033272"/>
                <a:gridCol w="1033272"/>
                <a:gridCol w="1042416"/>
              </a:tblGrid>
              <a:tr h="329184">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Class</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0A25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Prec.</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0A25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Recall</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0A25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F1</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0A2540"/>
                    </a:solidFill>
                  </a:tcPr>
                </a:tc>
              </a:tr>
              <a:tr h="329184">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american_football</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0.796</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0.860</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0.827</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r>
              <a:tr h="329184">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baseball</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0.849</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0.918</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0.882</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r>
              <a:tr h="329184">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basketball</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0.975</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ctr" indent="0" marL="0">
                        <a:buNone/>
                      </a:pPr>
                      <a:r>
                        <a:rPr lang="en-US" sz="1050" b="1" dirty="0">
                          <a:solidFill>
                            <a:srgbClr val="D64545"/>
                          </a:solidFill>
                          <a:latin typeface="Calibri" pitchFamily="34" charset="0"/>
                          <a:ea typeface="Calibri" pitchFamily="34" charset="-122"/>
                          <a:cs typeface="Calibri" pitchFamily="34" charset="-120"/>
                        </a:rPr>
                        <a:t>0.780</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0.867</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r>
              <a:tr h="329184">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football</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0.891</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0.911</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0.901</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r>
              <a:tr h="329184">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golf_ball</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ctr" indent="0" marL="0">
                        <a:buNone/>
                      </a:pPr>
                      <a:r>
                        <a:rPr lang="en-US" sz="1050" b="1" dirty="0">
                          <a:solidFill>
                            <a:srgbClr val="2E8B57"/>
                          </a:solidFill>
                          <a:latin typeface="Calibri" pitchFamily="34" charset="0"/>
                          <a:ea typeface="Calibri" pitchFamily="34" charset="-122"/>
                          <a:cs typeface="Calibri" pitchFamily="34" charset="-120"/>
                        </a:rPr>
                        <a:t>1.000</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0.933</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0.966</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r>
              <a:tr h="329184">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tennis_ball</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0.926</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ctr" indent="0" marL="0">
                        <a:buNone/>
                      </a:pPr>
                      <a:r>
                        <a:rPr lang="en-US" sz="1050" b="1" dirty="0">
                          <a:solidFill>
                            <a:srgbClr val="2E8B57"/>
                          </a:solidFill>
                          <a:latin typeface="Calibri" pitchFamily="34" charset="0"/>
                          <a:ea typeface="Calibri" pitchFamily="34" charset="-122"/>
                          <a:cs typeface="Calibri" pitchFamily="34" charset="-120"/>
                        </a:rPr>
                        <a:t>1.000</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0.962</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r>
              <a:tr h="329184">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Macro avg</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9"/>
                    </a:solidFill>
                  </a:tcPr>
                </a:tc>
                <a:tc>
                  <a:txBody>
                    <a:bodyPr/>
                    <a:lstStyle/>
                    <a:p>
                      <a:pPr algn="ctr" indent="0" marL="0">
                        <a:buNone/>
                      </a:pPr>
                      <a:r>
                        <a:rPr lang="en-US" sz="1050" b="1" dirty="0">
                          <a:solidFill>
                            <a:srgbClr val="1A1A1A"/>
                          </a:solidFill>
                          <a:latin typeface="Calibri" pitchFamily="34" charset="0"/>
                          <a:ea typeface="Calibri" pitchFamily="34" charset="-122"/>
                          <a:cs typeface="Calibri" pitchFamily="34" charset="-120"/>
                        </a:rPr>
                        <a:t>0.906</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9"/>
                    </a:solidFill>
                  </a:tcPr>
                </a:tc>
                <a:tc>
                  <a:txBody>
                    <a:bodyPr/>
                    <a:lstStyle/>
                    <a:p>
                      <a:pPr algn="ctr" indent="0" marL="0">
                        <a:buNone/>
                      </a:pPr>
                      <a:r>
                        <a:rPr lang="en-US" sz="1050" b="1" dirty="0">
                          <a:solidFill>
                            <a:srgbClr val="1A1A1A"/>
                          </a:solidFill>
                          <a:latin typeface="Calibri" pitchFamily="34" charset="0"/>
                          <a:ea typeface="Calibri" pitchFamily="34" charset="-122"/>
                          <a:cs typeface="Calibri" pitchFamily="34" charset="-120"/>
                        </a:rPr>
                        <a:t>0.901</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9"/>
                    </a:solidFill>
                  </a:tcPr>
                </a:tc>
                <a:tc>
                  <a:txBody>
                    <a:bodyPr/>
                    <a:lstStyle/>
                    <a:p>
                      <a:pPr algn="ctr" indent="0" marL="0">
                        <a:buNone/>
                      </a:pPr>
                      <a:r>
                        <a:rPr lang="en-US" sz="1050" b="1" dirty="0">
                          <a:solidFill>
                            <a:srgbClr val="1A1A1A"/>
                          </a:solidFill>
                          <a:latin typeface="Calibri" pitchFamily="34" charset="0"/>
                          <a:ea typeface="Calibri" pitchFamily="34" charset="-122"/>
                          <a:cs typeface="Calibri" pitchFamily="34" charset="-120"/>
                        </a:rPr>
                        <a:t>0.901</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9"/>
                    </a:solidFill>
                  </a:tcPr>
                </a:tc>
              </a:tr>
            </a:tbl>
          </a:graphicData>
        </a:graphic>
      </p:graphicFrame>
      <p:sp>
        <p:nvSpPr>
          <p:cNvPr id="8" name="Shape 4"/>
          <p:cNvSpPr/>
          <p:nvPr/>
        </p:nvSpPr>
        <p:spPr>
          <a:xfrm>
            <a:off x="6583680" y="4846320"/>
            <a:ext cx="5120640" cy="1005840"/>
          </a:xfrm>
          <a:prstGeom prst="rect">
            <a:avLst/>
          </a:prstGeom>
          <a:solidFill>
            <a:srgbClr val="FFF4E6"/>
          </a:solidFill>
          <a:ln w="12700">
            <a:solidFill>
              <a:srgbClr val="F4A23C"/>
            </a:solidFill>
            <a:prstDash val="solid"/>
          </a:ln>
        </p:spPr>
      </p:sp>
      <p:sp>
        <p:nvSpPr>
          <p:cNvPr id="9" name="Text 5"/>
          <p:cNvSpPr/>
          <p:nvPr/>
        </p:nvSpPr>
        <p:spPr>
          <a:xfrm>
            <a:off x="6766560" y="4937760"/>
            <a:ext cx="4846320" cy="822960"/>
          </a:xfrm>
          <a:prstGeom prst="rect">
            <a:avLst/>
          </a:prstGeom>
          <a:noFill/>
          <a:ln/>
        </p:spPr>
        <p:txBody>
          <a:bodyPr wrap="square" lIns="0" tIns="0" rIns="0" bIns="0" rtlCol="0" anchor="ctr"/>
          <a:lstStyle/>
          <a:p>
            <a:pPr indent="0" marL="0">
              <a:buNone/>
            </a:pPr>
            <a:r>
              <a:rPr lang="en-US" sz="1050" b="1" dirty="0">
                <a:solidFill>
                  <a:srgbClr val="0A2540"/>
                </a:solidFill>
                <a:latin typeface="Calibri" pitchFamily="34" charset="0"/>
                <a:ea typeface="Calibri" pitchFamily="34" charset="-122"/>
                <a:cs typeface="Calibri" pitchFamily="34" charset="-120"/>
              </a:rPr>
              <a:t>Hardest confusion: </a:t>
            </a:r>
            <a:pPr indent="0" marL="0">
              <a:buNone/>
            </a:pPr>
            <a:r>
              <a:rPr lang="en-US" sz="1050" dirty="0">
                <a:solidFill>
                  <a:srgbClr val="1A1A1A"/>
                </a:solidFill>
                <a:latin typeface="Calibri" pitchFamily="34" charset="0"/>
                <a:ea typeface="Calibri" pitchFamily="34" charset="-122"/>
                <a:cs typeface="Calibri" pitchFamily="34" charset="-120"/>
              </a:rPr>
              <a:t>basketball → american_football (7 errors, 14% of basketball test). </a:t>
            </a:r>
            <a:pPr indent="0" marL="0">
              <a:buNone/>
            </a:pPr>
            <a:r>
              <a:rPr lang="en-US" sz="1050" i="1" dirty="0">
                <a:solidFill>
                  <a:srgbClr val="5A6473"/>
                </a:solidFill>
                <a:latin typeface="Calibri" pitchFamily="34" charset="0"/>
                <a:ea typeface="Calibri" pitchFamily="34" charset="-122"/>
                <a:cs typeface="Calibri" pitchFamily="34" charset="-120"/>
              </a:rPr>
              <a:t>Brown leather + orange rubber + similar pebbling at low resolution.</a:t>
            </a:r>
            <a:endParaRPr lang="en-US" sz="1050" dirty="0"/>
          </a:p>
        </p:txBody>
      </p:sp>
      <p:sp>
        <p:nvSpPr>
          <p:cNvPr id="10" name="Shape 6"/>
          <p:cNvSpPr/>
          <p:nvPr/>
        </p:nvSpPr>
        <p:spPr>
          <a:xfrm>
            <a:off x="457200" y="5943600"/>
            <a:ext cx="5943600" cy="457200"/>
          </a:xfrm>
          <a:prstGeom prst="rect">
            <a:avLst/>
          </a:prstGeom>
          <a:solidFill>
            <a:srgbClr val="E6F7F4"/>
          </a:solidFill>
          <a:ln w="12700">
            <a:solidFill>
              <a:srgbClr val="1AA39E"/>
            </a:solidFill>
            <a:prstDash val="solid"/>
          </a:ln>
        </p:spPr>
      </p:sp>
      <p:sp>
        <p:nvSpPr>
          <p:cNvPr id="11" name="Text 7"/>
          <p:cNvSpPr/>
          <p:nvPr/>
        </p:nvSpPr>
        <p:spPr>
          <a:xfrm>
            <a:off x="640080" y="5943600"/>
            <a:ext cx="5760720" cy="457200"/>
          </a:xfrm>
          <a:prstGeom prst="rect">
            <a:avLst/>
          </a:prstGeom>
          <a:noFill/>
          <a:ln/>
        </p:spPr>
        <p:txBody>
          <a:bodyPr wrap="square" lIns="0" tIns="0" rIns="0" bIns="0" rtlCol="0" anchor="ctr"/>
          <a:lstStyle/>
          <a:p>
            <a:pPr indent="0" marL="0">
              <a:buNone/>
            </a:pPr>
            <a:r>
              <a:rPr lang="en-US" sz="1050" b="1" dirty="0">
                <a:solidFill>
                  <a:srgbClr val="1AA39E"/>
                </a:solidFill>
                <a:latin typeface="Calibri" pitchFamily="34" charset="0"/>
                <a:ea typeface="Calibri" pitchFamily="34" charset="-122"/>
                <a:cs typeface="Calibri" pitchFamily="34" charset="-120"/>
              </a:rPr>
              <a:t>Insight: </a:t>
            </a:r>
            <a:pPr indent="0" marL="0">
              <a:buNone/>
            </a:pPr>
            <a:r>
              <a:rPr lang="en-US" sz="1050" dirty="0">
                <a:solidFill>
                  <a:srgbClr val="1A1A1A"/>
                </a:solidFill>
                <a:latin typeface="Calibri" pitchFamily="34" charset="0"/>
                <a:ea typeface="Calibri" pitchFamily="34" charset="-122"/>
                <a:cs typeface="Calibri" pitchFamily="34" charset="-120"/>
              </a:rPr>
              <a:t>the masked color histogram alone reaches 88.93% — within 1 pp of the full 3,610-d vector.</a:t>
            </a:r>
            <a:endParaRPr lang="en-US" sz="1050" dirty="0"/>
          </a:p>
        </p:txBody>
      </p:sp>
      <p:sp>
        <p:nvSpPr>
          <p:cNvPr id="12" name="Text 8"/>
          <p:cNvSpPr/>
          <p:nvPr/>
        </p:nvSpPr>
        <p:spPr>
          <a:xfrm>
            <a:off x="457200" y="6537960"/>
            <a:ext cx="7315200" cy="228600"/>
          </a:xfrm>
          <a:prstGeom prst="rect">
            <a:avLst/>
          </a:prstGeom>
          <a:noFill/>
          <a:ln/>
        </p:spPr>
        <p:txBody>
          <a:bodyPr wrap="square" rtlCol="0" anchor="ctr"/>
          <a:lstStyle/>
          <a:p>
            <a:pPr indent="0" marL="0">
              <a:buNone/>
            </a:pPr>
            <a:r>
              <a:rPr lang="en-US" sz="900" dirty="0">
                <a:solidFill>
                  <a:srgbClr val="5A6473"/>
                </a:solidFill>
                <a:latin typeface="Calibri" pitchFamily="34" charset="0"/>
                <a:ea typeface="Calibri" pitchFamily="34" charset="-122"/>
                <a:cs typeface="Calibri" pitchFamily="34" charset="-120"/>
              </a:rPr>
              <a:t>ENMR602 · SIP Ball Classification · Tutorial 10</a:t>
            </a:r>
            <a:endParaRPr lang="en-US" sz="900" dirty="0"/>
          </a:p>
        </p:txBody>
      </p:sp>
      <p:sp>
        <p:nvSpPr>
          <p:cNvPr id="13" name="Text 9"/>
          <p:cNvSpPr/>
          <p:nvPr/>
        </p:nvSpPr>
        <p:spPr>
          <a:xfrm>
            <a:off x="8961120" y="6537960"/>
            <a:ext cx="2743200" cy="228600"/>
          </a:xfrm>
          <a:prstGeom prst="rect">
            <a:avLst/>
          </a:prstGeom>
          <a:noFill/>
          <a:ln/>
        </p:spPr>
        <p:txBody>
          <a:bodyPr wrap="square" rtlCol="0" anchor="ctr"/>
          <a:lstStyle/>
          <a:p>
            <a:pPr algn="r" indent="0" marL="0">
              <a:buNone/>
            </a:pPr>
            <a:r>
              <a:rPr lang="en-US" sz="900" b="1" dirty="0">
                <a:solidFill>
                  <a:srgbClr val="5A6473"/>
                </a:solidFill>
                <a:latin typeface="Calibri" pitchFamily="34" charset="0"/>
                <a:ea typeface="Calibri" pitchFamily="34" charset="-122"/>
                <a:cs typeface="Calibri" pitchFamily="34" charset="-120"/>
              </a:rPr>
              <a:t>Milestone 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1AA39E"/>
          </a:solidFill>
          <a:ln w="12700">
            <a:solidFill>
              <a:srgbClr val="1AA39E"/>
            </a:solidFill>
            <a:prstDash val="solid"/>
          </a:ln>
        </p:spPr>
      </p:sp>
      <p:sp>
        <p:nvSpPr>
          <p:cNvPr id="3" name="Text 1"/>
          <p:cNvSpPr/>
          <p:nvPr/>
        </p:nvSpPr>
        <p:spPr>
          <a:xfrm>
            <a:off x="731520" y="1463040"/>
            <a:ext cx="10972800" cy="548640"/>
          </a:xfrm>
          <a:prstGeom prst="rect">
            <a:avLst/>
          </a:prstGeom>
          <a:noFill/>
          <a:ln/>
        </p:spPr>
        <p:txBody>
          <a:bodyPr wrap="square" lIns="0" tIns="0" rIns="0" bIns="0" rtlCol="0" anchor="ctr"/>
          <a:lstStyle/>
          <a:p>
            <a:pPr indent="0" marL="0">
              <a:buNone/>
            </a:pPr>
            <a:r>
              <a:rPr lang="en-US" sz="2200" b="1" spc="800" kern="0" dirty="0">
                <a:solidFill>
                  <a:srgbClr val="1AA39E"/>
                </a:solidFill>
                <a:latin typeface="Calibri" pitchFamily="34" charset="0"/>
                <a:ea typeface="Calibri" pitchFamily="34" charset="-122"/>
                <a:cs typeface="Calibri" pitchFamily="34" charset="-120"/>
              </a:rPr>
              <a:t>MILESTONE 3</a:t>
            </a:r>
            <a:endParaRPr lang="en-US" sz="2200" dirty="0"/>
          </a:p>
        </p:txBody>
      </p:sp>
      <p:sp>
        <p:nvSpPr>
          <p:cNvPr id="4" name="Text 2"/>
          <p:cNvSpPr/>
          <p:nvPr/>
        </p:nvSpPr>
        <p:spPr>
          <a:xfrm>
            <a:off x="731520" y="2103120"/>
            <a:ext cx="1097280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Custom CNN — From Scratch</a:t>
            </a:r>
            <a:endParaRPr lang="en-US" sz="4400" dirty="0"/>
          </a:p>
        </p:txBody>
      </p:sp>
      <p:sp>
        <p:nvSpPr>
          <p:cNvPr id="5" name="Shape 3"/>
          <p:cNvSpPr/>
          <p:nvPr/>
        </p:nvSpPr>
        <p:spPr>
          <a:xfrm>
            <a:off x="731520" y="3291840"/>
            <a:ext cx="5486400" cy="2194560"/>
          </a:xfrm>
          <a:prstGeom prst="rect">
            <a:avLst/>
          </a:prstGeom>
          <a:solidFill>
            <a:srgbClr val="1E3A5F"/>
          </a:solidFill>
          <a:ln w="19050">
            <a:solidFill>
              <a:srgbClr val="1AA39E"/>
            </a:solidFill>
            <a:prstDash val="solid"/>
          </a:ln>
        </p:spPr>
      </p:sp>
      <p:sp>
        <p:nvSpPr>
          <p:cNvPr id="6" name="Text 4"/>
          <p:cNvSpPr/>
          <p:nvPr/>
        </p:nvSpPr>
        <p:spPr>
          <a:xfrm>
            <a:off x="914400" y="3429000"/>
            <a:ext cx="5029200" cy="320040"/>
          </a:xfrm>
          <a:prstGeom prst="rect">
            <a:avLst/>
          </a:prstGeom>
          <a:noFill/>
          <a:ln/>
        </p:spPr>
        <p:txBody>
          <a:bodyPr wrap="square" lIns="0" tIns="0" rIns="0" bIns="0" rtlCol="0" anchor="ctr"/>
          <a:lstStyle/>
          <a:p>
            <a:pPr indent="0" marL="0">
              <a:buNone/>
            </a:pPr>
            <a:r>
              <a:rPr lang="en-US" sz="1400" b="1" dirty="0">
                <a:solidFill>
                  <a:srgbClr val="1AA39E"/>
                </a:solidFill>
                <a:latin typeface="Calibri" pitchFamily="34" charset="0"/>
                <a:ea typeface="Calibri" pitchFamily="34" charset="-122"/>
                <a:cs typeface="Calibri" pitchFamily="34" charset="-120"/>
              </a:rPr>
              <a:t>Final test accuracy</a:t>
            </a:r>
            <a:endParaRPr lang="en-US" sz="1400" dirty="0"/>
          </a:p>
        </p:txBody>
      </p:sp>
      <p:sp>
        <p:nvSpPr>
          <p:cNvPr id="7" name="Text 5"/>
          <p:cNvSpPr/>
          <p:nvPr/>
        </p:nvSpPr>
        <p:spPr>
          <a:xfrm>
            <a:off x="914400" y="3703320"/>
            <a:ext cx="5029200" cy="914400"/>
          </a:xfrm>
          <a:prstGeom prst="rect">
            <a:avLst/>
          </a:prstGeom>
          <a:noFill/>
          <a:ln/>
        </p:spPr>
        <p:txBody>
          <a:bodyPr wrap="square" lIns="0" tIns="0" rIns="0" bIns="0" rtlCol="0" anchor="ctr"/>
          <a:lstStyle/>
          <a:p>
            <a:pPr indent="0" marL="0">
              <a:buNone/>
            </a:pPr>
            <a:r>
              <a:rPr lang="en-US" sz="6400" b="1" dirty="0">
                <a:solidFill>
                  <a:srgbClr val="FFFFFF"/>
                </a:solidFill>
                <a:latin typeface="Calibri" pitchFamily="34" charset="0"/>
                <a:ea typeface="Calibri" pitchFamily="34" charset="-122"/>
                <a:cs typeface="Calibri" pitchFamily="34" charset="-120"/>
              </a:rPr>
              <a:t>97.58%</a:t>
            </a:r>
            <a:endParaRPr lang="en-US" sz="6400" dirty="0"/>
          </a:p>
        </p:txBody>
      </p:sp>
      <p:sp>
        <p:nvSpPr>
          <p:cNvPr id="8" name="Text 6"/>
          <p:cNvSpPr/>
          <p:nvPr/>
        </p:nvSpPr>
        <p:spPr>
          <a:xfrm>
            <a:off x="914400" y="4709160"/>
            <a:ext cx="5120640" cy="365760"/>
          </a:xfrm>
          <a:prstGeom prst="rect">
            <a:avLst/>
          </a:prstGeom>
          <a:noFill/>
          <a:ln/>
        </p:spPr>
        <p:txBody>
          <a:bodyPr wrap="square" lIns="0" tIns="0" rIns="0" bIns="0" rtlCol="0" anchor="ctr"/>
          <a:lstStyle/>
          <a:p>
            <a:pPr indent="0" marL="0">
              <a:buNone/>
            </a:pPr>
            <a:r>
              <a:rPr lang="en-US" sz="1200" i="1" dirty="0">
                <a:solidFill>
                  <a:srgbClr val="CADCFC"/>
                </a:solidFill>
                <a:latin typeface="Calibri" pitchFamily="34" charset="0"/>
                <a:ea typeface="Calibri" pitchFamily="34" charset="-122"/>
                <a:cs typeface="Calibri" pitchFamily="34" charset="-120"/>
              </a:rPr>
              <a:t>Custom CNN V4 SE HighRes · 6.93 M parameters</a:t>
            </a:r>
            <a:endParaRPr lang="en-US" sz="1200" dirty="0"/>
          </a:p>
        </p:txBody>
      </p:sp>
      <p:sp>
        <p:nvSpPr>
          <p:cNvPr id="9" name="Text 7"/>
          <p:cNvSpPr/>
          <p:nvPr/>
        </p:nvSpPr>
        <p:spPr>
          <a:xfrm>
            <a:off x="914400" y="5029200"/>
            <a:ext cx="5120640" cy="365760"/>
          </a:xfrm>
          <a:prstGeom prst="rect">
            <a:avLst/>
          </a:prstGeom>
          <a:noFill/>
          <a:ln/>
        </p:spPr>
        <p:txBody>
          <a:bodyPr wrap="square" lIns="0" tIns="0" rIns="0" bIns="0" rtlCol="0" anchor="ctr"/>
          <a:lstStyle/>
          <a:p>
            <a:pPr indent="0" marL="0">
              <a:buNone/>
            </a:pPr>
            <a:r>
              <a:rPr lang="en-US" sz="1200" b="1" dirty="0">
                <a:solidFill>
                  <a:srgbClr val="1AA39E"/>
                </a:solidFill>
                <a:latin typeface="Calibri" pitchFamily="34" charset="0"/>
                <a:ea typeface="Calibri" pitchFamily="34" charset="-122"/>
                <a:cs typeface="Calibri" pitchFamily="34" charset="-120"/>
              </a:rPr>
              <a:t>+7.61 percentage points over Milestone 2</a:t>
            </a:r>
            <a:endParaRPr lang="en-US" sz="1200" dirty="0"/>
          </a:p>
        </p:txBody>
      </p:sp>
      <p:sp>
        <p:nvSpPr>
          <p:cNvPr id="10" name="Text 8"/>
          <p:cNvSpPr/>
          <p:nvPr/>
        </p:nvSpPr>
        <p:spPr>
          <a:xfrm>
            <a:off x="6583680" y="3383280"/>
            <a:ext cx="5029200" cy="365760"/>
          </a:xfrm>
          <a:prstGeom prst="rect">
            <a:avLst/>
          </a:prstGeom>
          <a:noFill/>
          <a:ln/>
        </p:spPr>
        <p:txBody>
          <a:bodyPr wrap="square" lIns="0" tIns="0" rIns="0" bIns="0" rtlCol="0" anchor="ctr"/>
          <a:lstStyle/>
          <a:p>
            <a:pPr indent="0" marL="0">
              <a:buNone/>
            </a:pPr>
            <a:r>
              <a:rPr lang="en-US" sz="1600" b="1" dirty="0">
                <a:solidFill>
                  <a:srgbClr val="1AA39E"/>
                </a:solidFill>
                <a:latin typeface="Calibri" pitchFamily="34" charset="0"/>
                <a:ea typeface="Calibri" pitchFamily="34" charset="-122"/>
                <a:cs typeface="Calibri" pitchFamily="34" charset="-120"/>
              </a:rPr>
              <a:t>Rules respected</a:t>
            </a:r>
            <a:endParaRPr lang="en-US" sz="1600" dirty="0"/>
          </a:p>
        </p:txBody>
      </p:sp>
      <p:sp>
        <p:nvSpPr>
          <p:cNvPr id="11" name="Text 9"/>
          <p:cNvSpPr/>
          <p:nvPr/>
        </p:nvSpPr>
        <p:spPr>
          <a:xfrm>
            <a:off x="6583680" y="3749040"/>
            <a:ext cx="5029200" cy="22860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No predefined deep learning architectures</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No pretrained / ImageNet weights</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No tf.keras.applications models</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Built only from Conv2D, BN, Dropout, Dense layers</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Manual Residual + Squeeze-Excitation modules</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502920"/>
          </a:xfrm>
          <a:prstGeom prst="rect">
            <a:avLst/>
          </a:prstGeom>
          <a:solidFill>
            <a:srgbClr val="F4A23C"/>
          </a:solidFill>
          <a:ln w="12700">
            <a:solidFill>
              <a:srgbClr val="F4A23C"/>
            </a:solidFill>
            <a:prstDash val="solid"/>
          </a:ln>
        </p:spPr>
      </p:sp>
      <p:sp>
        <p:nvSpPr>
          <p:cNvPr id="3" name="Text 1"/>
          <p:cNvSpPr/>
          <p:nvPr/>
        </p:nvSpPr>
        <p:spPr>
          <a:xfrm>
            <a:off x="685800" y="320040"/>
            <a:ext cx="11018520" cy="640080"/>
          </a:xfrm>
          <a:prstGeom prst="rect">
            <a:avLst/>
          </a:prstGeom>
          <a:noFill/>
          <a:ln/>
        </p:spPr>
        <p:txBody>
          <a:bodyPr wrap="square" lIns="0" tIns="0" rIns="0" bIns="0" rtlCol="0" anchor="ctr"/>
          <a:lstStyle/>
          <a:p>
            <a:pPr indent="0" marL="0">
              <a:buNone/>
            </a:pPr>
            <a:r>
              <a:rPr lang="en-US" sz="2800" b="1" dirty="0">
                <a:solidFill>
                  <a:srgbClr val="0A2540"/>
                </a:solidFill>
                <a:latin typeface="Calibri" pitchFamily="34" charset="0"/>
                <a:ea typeface="Calibri" pitchFamily="34" charset="-122"/>
                <a:cs typeface="Calibri" pitchFamily="34" charset="-120"/>
              </a:rPr>
              <a:t>M3 — Custom CNN V4 Architecture</a:t>
            </a:r>
            <a:endParaRPr lang="en-US" sz="2800" dirty="0"/>
          </a:p>
        </p:txBody>
      </p:sp>
      <p:sp>
        <p:nvSpPr>
          <p:cNvPr id="4" name="Text 2"/>
          <p:cNvSpPr/>
          <p:nvPr/>
        </p:nvSpPr>
        <p:spPr>
          <a:xfrm>
            <a:off x="685800" y="914400"/>
            <a:ext cx="11018520" cy="320040"/>
          </a:xfrm>
          <a:prstGeom prst="rect">
            <a:avLst/>
          </a:prstGeom>
          <a:noFill/>
          <a:ln/>
        </p:spPr>
        <p:txBody>
          <a:bodyPr wrap="square" lIns="0" tIns="0" rIns="0" bIns="0" rtlCol="0" anchor="ctr"/>
          <a:lstStyle/>
          <a:p>
            <a:pPr indent="0" marL="0">
              <a:buNone/>
            </a:pPr>
            <a:r>
              <a:rPr lang="en-US" sz="1400" i="1" dirty="0">
                <a:solidFill>
                  <a:srgbClr val="5A6473"/>
                </a:solidFill>
                <a:latin typeface="Calibri" pitchFamily="34" charset="0"/>
                <a:ea typeface="Calibri" pitchFamily="34" charset="-122"/>
                <a:cs typeface="Calibri" pitchFamily="34" charset="-120"/>
              </a:rPr>
              <a:t>5 stages of Residual-SE blocks · 6.93 M parameters</a:t>
            </a:r>
            <a:endParaRPr lang="en-US" sz="1400" dirty="0"/>
          </a:p>
        </p:txBody>
      </p:sp>
      <p:sp>
        <p:nvSpPr>
          <p:cNvPr id="5" name="Shape 3"/>
          <p:cNvSpPr/>
          <p:nvPr/>
        </p:nvSpPr>
        <p:spPr>
          <a:xfrm>
            <a:off x="457200" y="1554480"/>
            <a:ext cx="1168400" cy="868680"/>
          </a:xfrm>
          <a:prstGeom prst="rect">
            <a:avLst/>
          </a:prstGeom>
          <a:solidFill>
            <a:srgbClr val="F4F6F9"/>
          </a:solidFill>
          <a:ln w="12700">
            <a:solidFill>
              <a:srgbClr val="F4F6F9"/>
            </a:solidFill>
            <a:prstDash val="solid"/>
          </a:ln>
        </p:spPr>
      </p:sp>
      <p:sp>
        <p:nvSpPr>
          <p:cNvPr id="6" name="Text 4"/>
          <p:cNvSpPr/>
          <p:nvPr/>
        </p:nvSpPr>
        <p:spPr>
          <a:xfrm>
            <a:off x="457200" y="1645920"/>
            <a:ext cx="1168400" cy="320040"/>
          </a:xfrm>
          <a:prstGeom prst="rect">
            <a:avLst/>
          </a:prstGeom>
          <a:noFill/>
          <a:ln/>
        </p:spPr>
        <p:txBody>
          <a:bodyPr wrap="square" lIns="0" tIns="0" rIns="0" bIns="0" rtlCol="0" anchor="ctr"/>
          <a:lstStyle/>
          <a:p>
            <a:pPr algn="ctr" indent="0" marL="0">
              <a:buNone/>
            </a:pPr>
            <a:r>
              <a:rPr lang="en-US" sz="1100" b="1" dirty="0">
                <a:solidFill>
                  <a:srgbClr val="1A1A1A"/>
                </a:solidFill>
                <a:latin typeface="Calibri" pitchFamily="34" charset="0"/>
                <a:ea typeface="Calibri" pitchFamily="34" charset="-122"/>
                <a:cs typeface="Calibri" pitchFamily="34" charset="-120"/>
              </a:rPr>
              <a:t>Input</a:t>
            </a:r>
            <a:endParaRPr lang="en-US" sz="1100" dirty="0"/>
          </a:p>
        </p:txBody>
      </p:sp>
      <p:sp>
        <p:nvSpPr>
          <p:cNvPr id="7" name="Text 5"/>
          <p:cNvSpPr/>
          <p:nvPr/>
        </p:nvSpPr>
        <p:spPr>
          <a:xfrm>
            <a:off x="457200" y="1965960"/>
            <a:ext cx="1168400" cy="411480"/>
          </a:xfrm>
          <a:prstGeom prst="rect">
            <a:avLst/>
          </a:prstGeom>
          <a:noFill/>
          <a:ln/>
        </p:spPr>
        <p:txBody>
          <a:bodyPr wrap="square" lIns="0" tIns="0" rIns="0" bIns="0" rtlCol="0" anchor="ctr"/>
          <a:lstStyle/>
          <a:p>
            <a:pPr algn="ctr" indent="0" marL="0">
              <a:buNone/>
            </a:pPr>
            <a:r>
              <a:rPr lang="en-US" sz="950" dirty="0">
                <a:solidFill>
                  <a:srgbClr val="1A1A1A"/>
                </a:solidFill>
                <a:latin typeface="Consolas" pitchFamily="34" charset="0"/>
                <a:ea typeface="Consolas" pitchFamily="34" charset="-122"/>
                <a:cs typeface="Consolas" pitchFamily="34" charset="-120"/>
              </a:rPr>
              <a:t>256×256×3</a:t>
            </a:r>
            <a:endParaRPr lang="en-US" sz="950" dirty="0"/>
          </a:p>
        </p:txBody>
      </p:sp>
      <p:sp>
        <p:nvSpPr>
          <p:cNvPr id="8" name="Shape 6"/>
          <p:cNvSpPr/>
          <p:nvPr/>
        </p:nvSpPr>
        <p:spPr>
          <a:xfrm>
            <a:off x="1717040" y="1554480"/>
            <a:ext cx="1168400" cy="868680"/>
          </a:xfrm>
          <a:prstGeom prst="rect">
            <a:avLst/>
          </a:prstGeom>
          <a:solidFill>
            <a:srgbClr val="1E3A5F"/>
          </a:solidFill>
          <a:ln w="12700">
            <a:solidFill>
              <a:srgbClr val="1E3A5F"/>
            </a:solidFill>
            <a:prstDash val="solid"/>
          </a:ln>
        </p:spPr>
      </p:sp>
      <p:sp>
        <p:nvSpPr>
          <p:cNvPr id="9" name="Text 7"/>
          <p:cNvSpPr/>
          <p:nvPr/>
        </p:nvSpPr>
        <p:spPr>
          <a:xfrm>
            <a:off x="1717040" y="1645920"/>
            <a:ext cx="116840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Stem</a:t>
            </a:r>
            <a:endParaRPr lang="en-US" sz="1100" dirty="0"/>
          </a:p>
        </p:txBody>
      </p:sp>
      <p:sp>
        <p:nvSpPr>
          <p:cNvPr id="10" name="Text 8"/>
          <p:cNvSpPr/>
          <p:nvPr/>
        </p:nvSpPr>
        <p:spPr>
          <a:xfrm>
            <a:off x="1717040" y="1965960"/>
            <a:ext cx="1168400" cy="411480"/>
          </a:xfrm>
          <a:prstGeom prst="rect">
            <a:avLst/>
          </a:prstGeom>
          <a:noFill/>
          <a:ln/>
        </p:spPr>
        <p:txBody>
          <a:bodyPr wrap="square" lIns="0" tIns="0" rIns="0" bIns="0" rtlCol="0" anchor="ctr"/>
          <a:lstStyle/>
          <a:p>
            <a:pPr algn="ctr" indent="0" marL="0">
              <a:buNone/>
            </a:pPr>
            <a:r>
              <a:rPr lang="en-US" sz="950" dirty="0">
                <a:solidFill>
                  <a:srgbClr val="FFFFFF"/>
                </a:solidFill>
                <a:latin typeface="Consolas" pitchFamily="34" charset="0"/>
                <a:ea typeface="Consolas" pitchFamily="34" charset="-122"/>
                <a:cs typeface="Consolas" pitchFamily="34" charset="-120"/>
              </a:rPr>
              <a:t>32 filters</a:t>
            </a:r>
            <a:endParaRPr lang="en-US" sz="950" dirty="0"/>
          </a:p>
        </p:txBody>
      </p:sp>
      <p:sp>
        <p:nvSpPr>
          <p:cNvPr id="11" name="Shape 9"/>
          <p:cNvSpPr/>
          <p:nvPr/>
        </p:nvSpPr>
        <p:spPr>
          <a:xfrm>
            <a:off x="2976880" y="1554480"/>
            <a:ext cx="1168400" cy="868680"/>
          </a:xfrm>
          <a:prstGeom prst="rect">
            <a:avLst/>
          </a:prstGeom>
          <a:solidFill>
            <a:srgbClr val="1AA39E"/>
          </a:solidFill>
          <a:ln w="12700">
            <a:solidFill>
              <a:srgbClr val="1AA39E"/>
            </a:solidFill>
            <a:prstDash val="solid"/>
          </a:ln>
        </p:spPr>
      </p:sp>
      <p:sp>
        <p:nvSpPr>
          <p:cNvPr id="12" name="Text 10"/>
          <p:cNvSpPr/>
          <p:nvPr/>
        </p:nvSpPr>
        <p:spPr>
          <a:xfrm>
            <a:off x="2976880" y="1645920"/>
            <a:ext cx="116840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Stage 1</a:t>
            </a:r>
            <a:endParaRPr lang="en-US" sz="1100" dirty="0"/>
          </a:p>
        </p:txBody>
      </p:sp>
      <p:sp>
        <p:nvSpPr>
          <p:cNvPr id="13" name="Text 11"/>
          <p:cNvSpPr/>
          <p:nvPr/>
        </p:nvSpPr>
        <p:spPr>
          <a:xfrm>
            <a:off x="2976880" y="1965960"/>
            <a:ext cx="1168400" cy="411480"/>
          </a:xfrm>
          <a:prstGeom prst="rect">
            <a:avLst/>
          </a:prstGeom>
          <a:noFill/>
          <a:ln/>
        </p:spPr>
        <p:txBody>
          <a:bodyPr wrap="square" lIns="0" tIns="0" rIns="0" bIns="0" rtlCol="0" anchor="ctr"/>
          <a:lstStyle/>
          <a:p>
            <a:pPr algn="ctr" indent="0" marL="0">
              <a:buNone/>
            </a:pPr>
            <a:r>
              <a:rPr lang="en-US" sz="950" dirty="0">
                <a:solidFill>
                  <a:srgbClr val="FFFFFF"/>
                </a:solidFill>
                <a:latin typeface="Consolas" pitchFamily="34" charset="0"/>
                <a:ea typeface="Consolas" pitchFamily="34" charset="-122"/>
                <a:cs typeface="Consolas" pitchFamily="34" charset="-120"/>
              </a:rPr>
              <a:t>64 × 2</a:t>
            </a:r>
            <a:endParaRPr lang="en-US" sz="950" dirty="0"/>
          </a:p>
        </p:txBody>
      </p:sp>
      <p:sp>
        <p:nvSpPr>
          <p:cNvPr id="14" name="Shape 12"/>
          <p:cNvSpPr/>
          <p:nvPr/>
        </p:nvSpPr>
        <p:spPr>
          <a:xfrm>
            <a:off x="4236720" y="1554480"/>
            <a:ext cx="1168400" cy="868680"/>
          </a:xfrm>
          <a:prstGeom prst="rect">
            <a:avLst/>
          </a:prstGeom>
          <a:solidFill>
            <a:srgbClr val="1AA39E"/>
          </a:solidFill>
          <a:ln w="12700">
            <a:solidFill>
              <a:srgbClr val="1AA39E"/>
            </a:solidFill>
            <a:prstDash val="solid"/>
          </a:ln>
        </p:spPr>
      </p:sp>
      <p:sp>
        <p:nvSpPr>
          <p:cNvPr id="15" name="Text 13"/>
          <p:cNvSpPr/>
          <p:nvPr/>
        </p:nvSpPr>
        <p:spPr>
          <a:xfrm>
            <a:off x="4236720" y="1645920"/>
            <a:ext cx="116840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Stage 2</a:t>
            </a:r>
            <a:endParaRPr lang="en-US" sz="1100" dirty="0"/>
          </a:p>
        </p:txBody>
      </p:sp>
      <p:sp>
        <p:nvSpPr>
          <p:cNvPr id="16" name="Text 14"/>
          <p:cNvSpPr/>
          <p:nvPr/>
        </p:nvSpPr>
        <p:spPr>
          <a:xfrm>
            <a:off x="4236720" y="1965960"/>
            <a:ext cx="1168400" cy="411480"/>
          </a:xfrm>
          <a:prstGeom prst="rect">
            <a:avLst/>
          </a:prstGeom>
          <a:noFill/>
          <a:ln/>
        </p:spPr>
        <p:txBody>
          <a:bodyPr wrap="square" lIns="0" tIns="0" rIns="0" bIns="0" rtlCol="0" anchor="ctr"/>
          <a:lstStyle/>
          <a:p>
            <a:pPr algn="ctr" indent="0" marL="0">
              <a:buNone/>
            </a:pPr>
            <a:r>
              <a:rPr lang="en-US" sz="950" dirty="0">
                <a:solidFill>
                  <a:srgbClr val="FFFFFF"/>
                </a:solidFill>
                <a:latin typeface="Consolas" pitchFamily="34" charset="0"/>
                <a:ea typeface="Consolas" pitchFamily="34" charset="-122"/>
                <a:cs typeface="Consolas" pitchFamily="34" charset="-120"/>
              </a:rPr>
              <a:t>128 × 2</a:t>
            </a:r>
            <a:endParaRPr lang="en-US" sz="950" dirty="0"/>
          </a:p>
        </p:txBody>
      </p:sp>
      <p:sp>
        <p:nvSpPr>
          <p:cNvPr id="17" name="Shape 15"/>
          <p:cNvSpPr/>
          <p:nvPr/>
        </p:nvSpPr>
        <p:spPr>
          <a:xfrm>
            <a:off x="5496560" y="1554480"/>
            <a:ext cx="1168400" cy="868680"/>
          </a:xfrm>
          <a:prstGeom prst="rect">
            <a:avLst/>
          </a:prstGeom>
          <a:solidFill>
            <a:srgbClr val="1AA39E"/>
          </a:solidFill>
          <a:ln w="12700">
            <a:solidFill>
              <a:srgbClr val="1AA39E"/>
            </a:solidFill>
            <a:prstDash val="solid"/>
          </a:ln>
        </p:spPr>
      </p:sp>
      <p:sp>
        <p:nvSpPr>
          <p:cNvPr id="18" name="Text 16"/>
          <p:cNvSpPr/>
          <p:nvPr/>
        </p:nvSpPr>
        <p:spPr>
          <a:xfrm>
            <a:off x="5496560" y="1645920"/>
            <a:ext cx="116840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Stage 3</a:t>
            </a:r>
            <a:endParaRPr lang="en-US" sz="1100" dirty="0"/>
          </a:p>
        </p:txBody>
      </p:sp>
      <p:sp>
        <p:nvSpPr>
          <p:cNvPr id="19" name="Text 17"/>
          <p:cNvSpPr/>
          <p:nvPr/>
        </p:nvSpPr>
        <p:spPr>
          <a:xfrm>
            <a:off x="5496560" y="1965960"/>
            <a:ext cx="1168400" cy="411480"/>
          </a:xfrm>
          <a:prstGeom prst="rect">
            <a:avLst/>
          </a:prstGeom>
          <a:noFill/>
          <a:ln/>
        </p:spPr>
        <p:txBody>
          <a:bodyPr wrap="square" lIns="0" tIns="0" rIns="0" bIns="0" rtlCol="0" anchor="ctr"/>
          <a:lstStyle/>
          <a:p>
            <a:pPr algn="ctr" indent="0" marL="0">
              <a:buNone/>
            </a:pPr>
            <a:r>
              <a:rPr lang="en-US" sz="950" dirty="0">
                <a:solidFill>
                  <a:srgbClr val="FFFFFF"/>
                </a:solidFill>
                <a:latin typeface="Consolas" pitchFamily="34" charset="0"/>
                <a:ea typeface="Consolas" pitchFamily="34" charset="-122"/>
                <a:cs typeface="Consolas" pitchFamily="34" charset="-120"/>
              </a:rPr>
              <a:t>192 × 2</a:t>
            </a:r>
            <a:endParaRPr lang="en-US" sz="950" dirty="0"/>
          </a:p>
        </p:txBody>
      </p:sp>
      <p:sp>
        <p:nvSpPr>
          <p:cNvPr id="20" name="Shape 18"/>
          <p:cNvSpPr/>
          <p:nvPr/>
        </p:nvSpPr>
        <p:spPr>
          <a:xfrm>
            <a:off x="6756400" y="1554480"/>
            <a:ext cx="1168400" cy="868680"/>
          </a:xfrm>
          <a:prstGeom prst="rect">
            <a:avLst/>
          </a:prstGeom>
          <a:solidFill>
            <a:srgbClr val="1AA39E"/>
          </a:solidFill>
          <a:ln w="12700">
            <a:solidFill>
              <a:srgbClr val="1AA39E"/>
            </a:solidFill>
            <a:prstDash val="solid"/>
          </a:ln>
        </p:spPr>
      </p:sp>
      <p:sp>
        <p:nvSpPr>
          <p:cNvPr id="21" name="Text 19"/>
          <p:cNvSpPr/>
          <p:nvPr/>
        </p:nvSpPr>
        <p:spPr>
          <a:xfrm>
            <a:off x="6756400" y="1645920"/>
            <a:ext cx="116840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Stage 4</a:t>
            </a:r>
            <a:endParaRPr lang="en-US" sz="1100" dirty="0"/>
          </a:p>
        </p:txBody>
      </p:sp>
      <p:sp>
        <p:nvSpPr>
          <p:cNvPr id="22" name="Text 20"/>
          <p:cNvSpPr/>
          <p:nvPr/>
        </p:nvSpPr>
        <p:spPr>
          <a:xfrm>
            <a:off x="6756400" y="1965960"/>
            <a:ext cx="1168400" cy="411480"/>
          </a:xfrm>
          <a:prstGeom prst="rect">
            <a:avLst/>
          </a:prstGeom>
          <a:noFill/>
          <a:ln/>
        </p:spPr>
        <p:txBody>
          <a:bodyPr wrap="square" lIns="0" tIns="0" rIns="0" bIns="0" rtlCol="0" anchor="ctr"/>
          <a:lstStyle/>
          <a:p>
            <a:pPr algn="ctr" indent="0" marL="0">
              <a:buNone/>
            </a:pPr>
            <a:r>
              <a:rPr lang="en-US" sz="950" dirty="0">
                <a:solidFill>
                  <a:srgbClr val="FFFFFF"/>
                </a:solidFill>
                <a:latin typeface="Consolas" pitchFamily="34" charset="0"/>
                <a:ea typeface="Consolas" pitchFamily="34" charset="-122"/>
                <a:cs typeface="Consolas" pitchFamily="34" charset="-120"/>
              </a:rPr>
              <a:t>256 × 2</a:t>
            </a:r>
            <a:endParaRPr lang="en-US" sz="950" dirty="0"/>
          </a:p>
        </p:txBody>
      </p:sp>
      <p:sp>
        <p:nvSpPr>
          <p:cNvPr id="23" name="Shape 21"/>
          <p:cNvSpPr/>
          <p:nvPr/>
        </p:nvSpPr>
        <p:spPr>
          <a:xfrm>
            <a:off x="8016240" y="1554480"/>
            <a:ext cx="1168400" cy="868680"/>
          </a:xfrm>
          <a:prstGeom prst="rect">
            <a:avLst/>
          </a:prstGeom>
          <a:solidFill>
            <a:srgbClr val="0D7370"/>
          </a:solidFill>
          <a:ln w="12700">
            <a:solidFill>
              <a:srgbClr val="0D7370"/>
            </a:solidFill>
            <a:prstDash val="solid"/>
          </a:ln>
        </p:spPr>
      </p:sp>
      <p:sp>
        <p:nvSpPr>
          <p:cNvPr id="24" name="Text 22"/>
          <p:cNvSpPr/>
          <p:nvPr/>
        </p:nvSpPr>
        <p:spPr>
          <a:xfrm>
            <a:off x="8016240" y="1645920"/>
            <a:ext cx="116840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Stage 5</a:t>
            </a:r>
            <a:endParaRPr lang="en-US" sz="1100" dirty="0"/>
          </a:p>
        </p:txBody>
      </p:sp>
      <p:sp>
        <p:nvSpPr>
          <p:cNvPr id="25" name="Text 23"/>
          <p:cNvSpPr/>
          <p:nvPr/>
        </p:nvSpPr>
        <p:spPr>
          <a:xfrm>
            <a:off x="8016240" y="1965960"/>
            <a:ext cx="1168400" cy="411480"/>
          </a:xfrm>
          <a:prstGeom prst="rect">
            <a:avLst/>
          </a:prstGeom>
          <a:noFill/>
          <a:ln/>
        </p:spPr>
        <p:txBody>
          <a:bodyPr wrap="square" lIns="0" tIns="0" rIns="0" bIns="0" rtlCol="0" anchor="ctr"/>
          <a:lstStyle/>
          <a:p>
            <a:pPr algn="ctr" indent="0" marL="0">
              <a:buNone/>
            </a:pPr>
            <a:r>
              <a:rPr lang="en-US" sz="950" dirty="0">
                <a:solidFill>
                  <a:srgbClr val="FFFFFF"/>
                </a:solidFill>
                <a:latin typeface="Consolas" pitchFamily="34" charset="0"/>
                <a:ea typeface="Consolas" pitchFamily="34" charset="-122"/>
                <a:cs typeface="Consolas" pitchFamily="34" charset="-120"/>
              </a:rPr>
              <a:t>384 × 1</a:t>
            </a:r>
            <a:endParaRPr lang="en-US" sz="950" dirty="0"/>
          </a:p>
        </p:txBody>
      </p:sp>
      <p:sp>
        <p:nvSpPr>
          <p:cNvPr id="26" name="Shape 24"/>
          <p:cNvSpPr/>
          <p:nvPr/>
        </p:nvSpPr>
        <p:spPr>
          <a:xfrm>
            <a:off x="9276080" y="1554480"/>
            <a:ext cx="1168400" cy="868680"/>
          </a:xfrm>
          <a:prstGeom prst="rect">
            <a:avLst/>
          </a:prstGeom>
          <a:solidFill>
            <a:srgbClr val="1E3A5F"/>
          </a:solidFill>
          <a:ln w="12700">
            <a:solidFill>
              <a:srgbClr val="1E3A5F"/>
            </a:solidFill>
            <a:prstDash val="solid"/>
          </a:ln>
        </p:spPr>
      </p:sp>
      <p:sp>
        <p:nvSpPr>
          <p:cNvPr id="27" name="Text 25"/>
          <p:cNvSpPr/>
          <p:nvPr/>
        </p:nvSpPr>
        <p:spPr>
          <a:xfrm>
            <a:off x="9276080" y="1645920"/>
            <a:ext cx="116840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Head</a:t>
            </a:r>
            <a:endParaRPr lang="en-US" sz="1100" dirty="0"/>
          </a:p>
        </p:txBody>
      </p:sp>
      <p:sp>
        <p:nvSpPr>
          <p:cNvPr id="28" name="Text 26"/>
          <p:cNvSpPr/>
          <p:nvPr/>
        </p:nvSpPr>
        <p:spPr>
          <a:xfrm>
            <a:off x="9276080" y="1965960"/>
            <a:ext cx="1168400" cy="411480"/>
          </a:xfrm>
          <a:prstGeom prst="rect">
            <a:avLst/>
          </a:prstGeom>
          <a:noFill/>
          <a:ln/>
        </p:spPr>
        <p:txBody>
          <a:bodyPr wrap="square" lIns="0" tIns="0" rIns="0" bIns="0" rtlCol="0" anchor="ctr"/>
          <a:lstStyle/>
          <a:p>
            <a:pPr algn="ctr" indent="0" marL="0">
              <a:buNone/>
            </a:pPr>
            <a:r>
              <a:rPr lang="en-US" sz="950" dirty="0">
                <a:solidFill>
                  <a:srgbClr val="FFFFFF"/>
                </a:solidFill>
                <a:latin typeface="Consolas" pitchFamily="34" charset="0"/>
                <a:ea typeface="Consolas" pitchFamily="34" charset="-122"/>
                <a:cs typeface="Consolas" pitchFamily="34" charset="-120"/>
              </a:rPr>
              <a:t>GAP+FC</a:t>
            </a:r>
            <a:endParaRPr lang="en-US" sz="950" dirty="0"/>
          </a:p>
        </p:txBody>
      </p:sp>
      <p:sp>
        <p:nvSpPr>
          <p:cNvPr id="29" name="Shape 27"/>
          <p:cNvSpPr/>
          <p:nvPr/>
        </p:nvSpPr>
        <p:spPr>
          <a:xfrm>
            <a:off x="10535920" y="1554480"/>
            <a:ext cx="1168400" cy="868680"/>
          </a:xfrm>
          <a:prstGeom prst="rect">
            <a:avLst/>
          </a:prstGeom>
          <a:solidFill>
            <a:srgbClr val="0A2540"/>
          </a:solidFill>
          <a:ln w="12700">
            <a:solidFill>
              <a:srgbClr val="0A2540"/>
            </a:solidFill>
            <a:prstDash val="solid"/>
          </a:ln>
        </p:spPr>
      </p:sp>
      <p:sp>
        <p:nvSpPr>
          <p:cNvPr id="30" name="Text 28"/>
          <p:cNvSpPr/>
          <p:nvPr/>
        </p:nvSpPr>
        <p:spPr>
          <a:xfrm>
            <a:off x="10535920" y="1645920"/>
            <a:ext cx="116840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Softmax</a:t>
            </a:r>
            <a:endParaRPr lang="en-US" sz="1100" dirty="0"/>
          </a:p>
        </p:txBody>
      </p:sp>
      <p:sp>
        <p:nvSpPr>
          <p:cNvPr id="31" name="Text 29"/>
          <p:cNvSpPr/>
          <p:nvPr/>
        </p:nvSpPr>
        <p:spPr>
          <a:xfrm>
            <a:off x="10535920" y="1965960"/>
            <a:ext cx="1168400" cy="411480"/>
          </a:xfrm>
          <a:prstGeom prst="rect">
            <a:avLst/>
          </a:prstGeom>
          <a:noFill/>
          <a:ln/>
        </p:spPr>
        <p:txBody>
          <a:bodyPr wrap="square" lIns="0" tIns="0" rIns="0" bIns="0" rtlCol="0" anchor="ctr"/>
          <a:lstStyle/>
          <a:p>
            <a:pPr algn="ctr" indent="0" marL="0">
              <a:buNone/>
            </a:pPr>
            <a:r>
              <a:rPr lang="en-US" sz="950" dirty="0">
                <a:solidFill>
                  <a:srgbClr val="FFFFFF"/>
                </a:solidFill>
                <a:latin typeface="Consolas" pitchFamily="34" charset="0"/>
                <a:ea typeface="Consolas" pitchFamily="34" charset="-122"/>
                <a:cs typeface="Consolas" pitchFamily="34" charset="-120"/>
              </a:rPr>
              <a:t>6 classes</a:t>
            </a:r>
            <a:endParaRPr lang="en-US" sz="950" dirty="0"/>
          </a:p>
        </p:txBody>
      </p:sp>
      <p:sp>
        <p:nvSpPr>
          <p:cNvPr id="32" name="Shape 30"/>
          <p:cNvSpPr/>
          <p:nvPr/>
        </p:nvSpPr>
        <p:spPr>
          <a:xfrm>
            <a:off x="457200" y="2697480"/>
            <a:ext cx="5760720" cy="3749040"/>
          </a:xfrm>
          <a:prstGeom prst="rect">
            <a:avLst/>
          </a:prstGeom>
          <a:solidFill>
            <a:srgbClr val="F4F6F9"/>
          </a:solidFill>
          <a:ln w="12700">
            <a:solidFill>
              <a:srgbClr val="D6DBE3"/>
            </a:solidFill>
            <a:prstDash val="solid"/>
          </a:ln>
        </p:spPr>
      </p:sp>
      <p:sp>
        <p:nvSpPr>
          <p:cNvPr id="33" name="Text 31"/>
          <p:cNvSpPr/>
          <p:nvPr/>
        </p:nvSpPr>
        <p:spPr>
          <a:xfrm>
            <a:off x="640080" y="2788920"/>
            <a:ext cx="5486400" cy="365760"/>
          </a:xfrm>
          <a:prstGeom prst="rect">
            <a:avLst/>
          </a:prstGeom>
          <a:noFill/>
          <a:ln/>
        </p:spPr>
        <p:txBody>
          <a:bodyPr wrap="square" lIns="0" tIns="0" rIns="0" bIns="0"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Residual-SE Block (the core building block)</a:t>
            </a:r>
            <a:endParaRPr lang="en-US" sz="1400" dirty="0"/>
          </a:p>
        </p:txBody>
      </p:sp>
      <p:sp>
        <p:nvSpPr>
          <p:cNvPr id="34" name="Text 32"/>
          <p:cNvSpPr/>
          <p:nvPr/>
        </p:nvSpPr>
        <p:spPr>
          <a:xfrm>
            <a:off x="640080" y="3154680"/>
            <a:ext cx="5486400" cy="3200400"/>
          </a:xfrm>
          <a:prstGeom prst="rect">
            <a:avLst/>
          </a:prstGeom>
          <a:noFill/>
          <a:ln/>
        </p:spPr>
        <p:txBody>
          <a:bodyPr wrap="square" lIns="0" tIns="0" rIns="0" bIns="0" rtlCol="0" anchor="t"/>
          <a:lstStyle/>
          <a:p>
            <a:pPr indent="0" marL="0">
              <a:spcAft>
                <a:spcPts val="200"/>
              </a:spcAft>
              <a:buNone/>
            </a:pPr>
            <a:r>
              <a:rPr lang="en-US" sz="1150" b="1" dirty="0">
                <a:solidFill>
                  <a:srgbClr val="1AA39E"/>
                </a:solidFill>
                <a:latin typeface="Calibri" pitchFamily="34" charset="0"/>
                <a:ea typeface="Calibri" pitchFamily="34" charset="-122"/>
                <a:cs typeface="Calibri" pitchFamily="34" charset="-120"/>
              </a:rPr>
              <a:t>Main path: </a:t>
            </a:r>
            <a:pPr indent="0" marL="0">
              <a:spcAft>
                <a:spcPts val="200"/>
              </a:spcAft>
              <a:buNone/>
            </a:pPr>
            <a:r>
              <a:rPr lang="en-US" sz="1150" dirty="0">
                <a:solidFill>
                  <a:srgbClr val="1A1A1A"/>
                </a:solidFill>
                <a:latin typeface="Consolas" pitchFamily="34" charset="0"/>
                <a:ea typeface="Consolas" pitchFamily="34" charset="-122"/>
                <a:cs typeface="Consolas" pitchFamily="34" charset="-120"/>
              </a:rPr>
              <a:t>Conv3×3 → BN → Swish → Conv3×3 → BN</a:t>
            </a:r>
            <a:endParaRPr lang="en-US" sz="1150" dirty="0"/>
          </a:p>
          <a:p>
            <a:pPr indent="0" marL="0">
              <a:spcAft>
                <a:spcPts val="200"/>
              </a:spcAft>
              <a:buNone/>
            </a:pPr>
            <a:endParaRPr lang="en-US" sz="1150" dirty="0"/>
          </a:p>
          <a:p>
            <a:pPr indent="0" marL="0">
              <a:spcAft>
                <a:spcPts val="200"/>
              </a:spcAft>
              <a:buNone/>
            </a:pPr>
            <a:r>
              <a:rPr lang="en-US" sz="1150" b="1" dirty="0">
                <a:solidFill>
                  <a:srgbClr val="1AA39E"/>
                </a:solidFill>
                <a:latin typeface="Calibri" pitchFamily="34" charset="0"/>
                <a:ea typeface="Calibri" pitchFamily="34" charset="-122"/>
                <a:cs typeface="Calibri" pitchFamily="34" charset="-120"/>
              </a:rPr>
              <a:t>Squeeze-Excitation: </a:t>
            </a:r>
            <a:pPr indent="0" marL="0">
              <a:spcAft>
                <a:spcPts val="200"/>
              </a:spcAft>
              <a:buNone/>
            </a:pPr>
            <a:r>
              <a:rPr lang="en-US" sz="1150" dirty="0">
                <a:solidFill>
                  <a:srgbClr val="1A1A1A"/>
                </a:solidFill>
                <a:latin typeface="Consolas" pitchFamily="34" charset="0"/>
                <a:ea typeface="Consolas" pitchFamily="34" charset="-122"/>
                <a:cs typeface="Consolas" pitchFamily="34" charset="-120"/>
              </a:rPr>
              <a:t>GAP → Dense(f/8) ReLU → Dense(f) sigmoid</a:t>
            </a:r>
            <a:endParaRPr lang="en-US" sz="1150" dirty="0"/>
          </a:p>
          <a:p>
            <a:pPr indent="0" marL="0">
              <a:spcAft>
                <a:spcPts val="200"/>
              </a:spcAft>
              <a:buNone/>
            </a:pPr>
            <a:r>
              <a:rPr lang="en-US" sz="1150" i="1" dirty="0">
                <a:solidFill>
                  <a:srgbClr val="5A6473"/>
                </a:solidFill>
                <a:latin typeface="Consolas" pitchFamily="34" charset="0"/>
                <a:ea typeface="Consolas" pitchFamily="34" charset="-122"/>
                <a:cs typeface="Consolas" pitchFamily="34" charset="-120"/>
              </a:rPr>
              <a:t>  → element-wise multiply with feature map</a:t>
            </a:r>
            <a:endParaRPr lang="en-US" sz="1150" dirty="0"/>
          </a:p>
          <a:p>
            <a:pPr indent="0" marL="0">
              <a:spcAft>
                <a:spcPts val="200"/>
              </a:spcAft>
              <a:buNone/>
            </a:pPr>
            <a:endParaRPr lang="en-US" sz="1150" dirty="0"/>
          </a:p>
          <a:p>
            <a:pPr indent="0" marL="0">
              <a:spcAft>
                <a:spcPts val="200"/>
              </a:spcAft>
              <a:buNone/>
            </a:pPr>
            <a:r>
              <a:rPr lang="en-US" sz="1150" b="1" dirty="0">
                <a:solidFill>
                  <a:srgbClr val="1AA39E"/>
                </a:solidFill>
                <a:latin typeface="Calibri" pitchFamily="34" charset="0"/>
                <a:ea typeface="Calibri" pitchFamily="34" charset="-122"/>
                <a:cs typeface="Calibri" pitchFamily="34" charset="-120"/>
              </a:rPr>
              <a:t>Shortcut: </a:t>
            </a:r>
            <a:pPr indent="0" marL="0">
              <a:spcAft>
                <a:spcPts val="200"/>
              </a:spcAft>
              <a:buNone/>
            </a:pPr>
            <a:r>
              <a:rPr lang="en-US" sz="1150" dirty="0">
                <a:solidFill>
                  <a:srgbClr val="1A1A1A"/>
                </a:solidFill>
                <a:latin typeface="Consolas" pitchFamily="34" charset="0"/>
                <a:ea typeface="Consolas" pitchFamily="34" charset="-122"/>
                <a:cs typeface="Consolas" pitchFamily="34" charset="-120"/>
              </a:rPr>
              <a:t>1×1 Conv if channels change, else identity</a:t>
            </a:r>
            <a:endParaRPr lang="en-US" sz="1150" dirty="0"/>
          </a:p>
          <a:p>
            <a:pPr indent="0" marL="0">
              <a:spcAft>
                <a:spcPts val="200"/>
              </a:spcAft>
              <a:buNone/>
            </a:pPr>
            <a:endParaRPr lang="en-US" sz="1150" dirty="0"/>
          </a:p>
          <a:p>
            <a:pPr indent="0" marL="0">
              <a:spcAft>
                <a:spcPts val="200"/>
              </a:spcAft>
              <a:buNone/>
            </a:pPr>
            <a:r>
              <a:rPr lang="en-US" sz="1150" b="1" dirty="0">
                <a:solidFill>
                  <a:srgbClr val="1AA39E"/>
                </a:solidFill>
                <a:latin typeface="Calibri" pitchFamily="34" charset="0"/>
                <a:ea typeface="Calibri" pitchFamily="34" charset="-122"/>
                <a:cs typeface="Calibri" pitchFamily="34" charset="-120"/>
              </a:rPr>
              <a:t>Output: </a:t>
            </a:r>
            <a:pPr indent="0" marL="0">
              <a:spcAft>
                <a:spcPts val="200"/>
              </a:spcAft>
              <a:buNone/>
            </a:pPr>
            <a:r>
              <a:rPr lang="en-US" sz="1150" dirty="0">
                <a:solidFill>
                  <a:srgbClr val="1A1A1A"/>
                </a:solidFill>
                <a:latin typeface="Consolas" pitchFamily="34" charset="0"/>
                <a:ea typeface="Consolas" pitchFamily="34" charset="-122"/>
                <a:cs typeface="Consolas" pitchFamily="34" charset="-120"/>
              </a:rPr>
              <a:t>Add → Swish → Dropout</a:t>
            </a:r>
            <a:endParaRPr lang="en-US" sz="1150" dirty="0"/>
          </a:p>
        </p:txBody>
      </p:sp>
      <p:sp>
        <p:nvSpPr>
          <p:cNvPr id="35" name="Text 33"/>
          <p:cNvSpPr/>
          <p:nvPr/>
        </p:nvSpPr>
        <p:spPr>
          <a:xfrm>
            <a:off x="6400800" y="2697480"/>
            <a:ext cx="5303520" cy="365760"/>
          </a:xfrm>
          <a:prstGeom prst="rect">
            <a:avLst/>
          </a:prstGeom>
          <a:noFill/>
          <a:ln/>
        </p:spPr>
        <p:txBody>
          <a:bodyPr wrap="square" lIns="0" tIns="0" rIns="0" bIns="0"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Design rationale</a:t>
            </a:r>
            <a:endParaRPr lang="en-US" sz="1400" dirty="0"/>
          </a:p>
        </p:txBody>
      </p:sp>
      <p:sp>
        <p:nvSpPr>
          <p:cNvPr id="36" name="Shape 34"/>
          <p:cNvSpPr/>
          <p:nvPr/>
        </p:nvSpPr>
        <p:spPr>
          <a:xfrm>
            <a:off x="6400800" y="3163824"/>
            <a:ext cx="228600" cy="228600"/>
          </a:xfrm>
          <a:prstGeom prst="ellipse">
            <a:avLst/>
          </a:prstGeom>
          <a:solidFill>
            <a:srgbClr val="1AA39E"/>
          </a:solidFill>
          <a:ln w="12700">
            <a:solidFill>
              <a:srgbClr val="1AA39E"/>
            </a:solidFill>
            <a:prstDash val="solid"/>
          </a:ln>
        </p:spPr>
      </p:sp>
      <p:sp>
        <p:nvSpPr>
          <p:cNvPr id="37" name="Text 35"/>
          <p:cNvSpPr/>
          <p:nvPr/>
        </p:nvSpPr>
        <p:spPr>
          <a:xfrm>
            <a:off x="6675120" y="3108960"/>
            <a:ext cx="5029200" cy="320040"/>
          </a:xfrm>
          <a:prstGeom prst="rect">
            <a:avLst/>
          </a:prstGeom>
          <a:noFill/>
          <a:ln/>
        </p:spPr>
        <p:txBody>
          <a:bodyPr wrap="square" lIns="0" tIns="0" rIns="0" bIns="0" rtlCol="0" anchor="ctr"/>
          <a:lstStyle/>
          <a:p>
            <a:pPr indent="0" marL="0">
              <a:buNone/>
            </a:pPr>
            <a:r>
              <a:rPr lang="en-US" sz="1150" b="1" dirty="0">
                <a:solidFill>
                  <a:srgbClr val="0A2540"/>
                </a:solidFill>
                <a:latin typeface="Calibri" pitchFamily="34" charset="0"/>
                <a:ea typeface="Calibri" pitchFamily="34" charset="-122"/>
                <a:cs typeface="Calibri" pitchFamily="34" charset="-120"/>
              </a:rPr>
              <a:t>Residual connection</a:t>
            </a:r>
            <a:endParaRPr lang="en-US" sz="1150" dirty="0"/>
          </a:p>
        </p:txBody>
      </p:sp>
      <p:sp>
        <p:nvSpPr>
          <p:cNvPr id="38" name="Text 36"/>
          <p:cNvSpPr/>
          <p:nvPr/>
        </p:nvSpPr>
        <p:spPr>
          <a:xfrm>
            <a:off x="6675120" y="3383280"/>
            <a:ext cx="5029200" cy="365760"/>
          </a:xfrm>
          <a:prstGeom prst="rect">
            <a:avLst/>
          </a:prstGeom>
          <a:noFill/>
          <a:ln/>
        </p:spPr>
        <p:txBody>
          <a:bodyPr wrap="square" lIns="0" tIns="0" rIns="0" bIns="0" rtlCol="0" anchor="ctr"/>
          <a:lstStyle/>
          <a:p>
            <a:pPr indent="0" marL="0">
              <a:buNone/>
            </a:pPr>
            <a:r>
              <a:rPr lang="en-US" sz="1050" i="1" dirty="0">
                <a:solidFill>
                  <a:srgbClr val="5A6473"/>
                </a:solidFill>
                <a:latin typeface="Calibri" pitchFamily="34" charset="0"/>
                <a:ea typeface="Calibri" pitchFamily="34" charset="-122"/>
                <a:cs typeface="Calibri" pitchFamily="34" charset="-120"/>
              </a:rPr>
              <a:t>y = F(x) + x  → gradient flows through deep stacks, prevents vanishing gradient</a:t>
            </a:r>
            <a:endParaRPr lang="en-US" sz="1050" dirty="0"/>
          </a:p>
        </p:txBody>
      </p:sp>
      <p:sp>
        <p:nvSpPr>
          <p:cNvPr id="39" name="Shape 37"/>
          <p:cNvSpPr/>
          <p:nvPr/>
        </p:nvSpPr>
        <p:spPr>
          <a:xfrm>
            <a:off x="6400800" y="3822192"/>
            <a:ext cx="228600" cy="228600"/>
          </a:xfrm>
          <a:prstGeom prst="ellipse">
            <a:avLst/>
          </a:prstGeom>
          <a:solidFill>
            <a:srgbClr val="1AA39E"/>
          </a:solidFill>
          <a:ln w="12700">
            <a:solidFill>
              <a:srgbClr val="1AA39E"/>
            </a:solidFill>
            <a:prstDash val="solid"/>
          </a:ln>
        </p:spPr>
      </p:sp>
      <p:sp>
        <p:nvSpPr>
          <p:cNvPr id="40" name="Text 38"/>
          <p:cNvSpPr/>
          <p:nvPr/>
        </p:nvSpPr>
        <p:spPr>
          <a:xfrm>
            <a:off x="6675120" y="3767328"/>
            <a:ext cx="5029200" cy="320040"/>
          </a:xfrm>
          <a:prstGeom prst="rect">
            <a:avLst/>
          </a:prstGeom>
          <a:noFill/>
          <a:ln/>
        </p:spPr>
        <p:txBody>
          <a:bodyPr wrap="square" lIns="0" tIns="0" rIns="0" bIns="0" rtlCol="0" anchor="ctr"/>
          <a:lstStyle/>
          <a:p>
            <a:pPr indent="0" marL="0">
              <a:buNone/>
            </a:pPr>
            <a:r>
              <a:rPr lang="en-US" sz="1150" b="1" dirty="0">
                <a:solidFill>
                  <a:srgbClr val="0A2540"/>
                </a:solidFill>
                <a:latin typeface="Calibri" pitchFamily="34" charset="0"/>
                <a:ea typeface="Calibri" pitchFamily="34" charset="-122"/>
                <a:cs typeface="Calibri" pitchFamily="34" charset="-120"/>
              </a:rPr>
              <a:t>Squeeze-Excitation</a:t>
            </a:r>
            <a:endParaRPr lang="en-US" sz="1150" dirty="0"/>
          </a:p>
        </p:txBody>
      </p:sp>
      <p:sp>
        <p:nvSpPr>
          <p:cNvPr id="41" name="Text 39"/>
          <p:cNvSpPr/>
          <p:nvPr/>
        </p:nvSpPr>
        <p:spPr>
          <a:xfrm>
            <a:off x="6675120" y="4041648"/>
            <a:ext cx="5029200" cy="365760"/>
          </a:xfrm>
          <a:prstGeom prst="rect">
            <a:avLst/>
          </a:prstGeom>
          <a:noFill/>
          <a:ln/>
        </p:spPr>
        <p:txBody>
          <a:bodyPr wrap="square" lIns="0" tIns="0" rIns="0" bIns="0" rtlCol="0" anchor="ctr"/>
          <a:lstStyle/>
          <a:p>
            <a:pPr indent="0" marL="0">
              <a:buNone/>
            </a:pPr>
            <a:r>
              <a:rPr lang="en-US" sz="1050" i="1" dirty="0">
                <a:solidFill>
                  <a:srgbClr val="5A6473"/>
                </a:solidFill>
                <a:latin typeface="Calibri" pitchFamily="34" charset="0"/>
                <a:ea typeface="Calibri" pitchFamily="34" charset="-122"/>
                <a:cs typeface="Calibri" pitchFamily="34" charset="-120"/>
              </a:rPr>
              <a:t>Channel attention: network learns which channels matter for each input (colour vs texture vs edges)</a:t>
            </a:r>
            <a:endParaRPr lang="en-US" sz="1050" dirty="0"/>
          </a:p>
        </p:txBody>
      </p:sp>
      <p:sp>
        <p:nvSpPr>
          <p:cNvPr id="42" name="Shape 40"/>
          <p:cNvSpPr/>
          <p:nvPr/>
        </p:nvSpPr>
        <p:spPr>
          <a:xfrm>
            <a:off x="6400800" y="4480560"/>
            <a:ext cx="228600" cy="228600"/>
          </a:xfrm>
          <a:prstGeom prst="ellipse">
            <a:avLst/>
          </a:prstGeom>
          <a:solidFill>
            <a:srgbClr val="1AA39E"/>
          </a:solidFill>
          <a:ln w="12700">
            <a:solidFill>
              <a:srgbClr val="1AA39E"/>
            </a:solidFill>
            <a:prstDash val="solid"/>
          </a:ln>
        </p:spPr>
      </p:sp>
      <p:sp>
        <p:nvSpPr>
          <p:cNvPr id="43" name="Text 41"/>
          <p:cNvSpPr/>
          <p:nvPr/>
        </p:nvSpPr>
        <p:spPr>
          <a:xfrm>
            <a:off x="6675120" y="4425696"/>
            <a:ext cx="5029200" cy="320040"/>
          </a:xfrm>
          <a:prstGeom prst="rect">
            <a:avLst/>
          </a:prstGeom>
          <a:noFill/>
          <a:ln/>
        </p:spPr>
        <p:txBody>
          <a:bodyPr wrap="square" lIns="0" tIns="0" rIns="0" bIns="0" rtlCol="0" anchor="ctr"/>
          <a:lstStyle/>
          <a:p>
            <a:pPr indent="0" marL="0">
              <a:buNone/>
            </a:pPr>
            <a:r>
              <a:rPr lang="en-US" sz="1150" b="1" dirty="0">
                <a:solidFill>
                  <a:srgbClr val="0A2540"/>
                </a:solidFill>
                <a:latin typeface="Calibri" pitchFamily="34" charset="0"/>
                <a:ea typeface="Calibri" pitchFamily="34" charset="-122"/>
                <a:cs typeface="Calibri" pitchFamily="34" charset="-120"/>
              </a:rPr>
              <a:t>Swish activation</a:t>
            </a:r>
            <a:endParaRPr lang="en-US" sz="1150" dirty="0"/>
          </a:p>
        </p:txBody>
      </p:sp>
      <p:sp>
        <p:nvSpPr>
          <p:cNvPr id="44" name="Text 42"/>
          <p:cNvSpPr/>
          <p:nvPr/>
        </p:nvSpPr>
        <p:spPr>
          <a:xfrm>
            <a:off x="6675120" y="4700016"/>
            <a:ext cx="5029200" cy="365760"/>
          </a:xfrm>
          <a:prstGeom prst="rect">
            <a:avLst/>
          </a:prstGeom>
          <a:noFill/>
          <a:ln/>
        </p:spPr>
        <p:txBody>
          <a:bodyPr wrap="square" lIns="0" tIns="0" rIns="0" bIns="0" rtlCol="0" anchor="ctr"/>
          <a:lstStyle/>
          <a:p>
            <a:pPr indent="0" marL="0">
              <a:buNone/>
            </a:pPr>
            <a:r>
              <a:rPr lang="en-US" sz="1050" i="1" dirty="0">
                <a:solidFill>
                  <a:srgbClr val="5A6473"/>
                </a:solidFill>
                <a:latin typeface="Calibri" pitchFamily="34" charset="0"/>
                <a:ea typeface="Calibri" pitchFamily="34" charset="-122"/>
                <a:cs typeface="Calibri" pitchFamily="34" charset="-120"/>
              </a:rPr>
              <a:t>f(x) = x·σ(x), smooth and non-monotonic, outperforms ReLU on deeper nets</a:t>
            </a:r>
            <a:endParaRPr lang="en-US" sz="1050" dirty="0"/>
          </a:p>
        </p:txBody>
      </p:sp>
      <p:sp>
        <p:nvSpPr>
          <p:cNvPr id="45" name="Shape 43"/>
          <p:cNvSpPr/>
          <p:nvPr/>
        </p:nvSpPr>
        <p:spPr>
          <a:xfrm>
            <a:off x="6400800" y="5138928"/>
            <a:ext cx="228600" cy="228600"/>
          </a:xfrm>
          <a:prstGeom prst="ellipse">
            <a:avLst/>
          </a:prstGeom>
          <a:solidFill>
            <a:srgbClr val="1AA39E"/>
          </a:solidFill>
          <a:ln w="12700">
            <a:solidFill>
              <a:srgbClr val="1AA39E"/>
            </a:solidFill>
            <a:prstDash val="solid"/>
          </a:ln>
        </p:spPr>
      </p:sp>
      <p:sp>
        <p:nvSpPr>
          <p:cNvPr id="46" name="Text 44"/>
          <p:cNvSpPr/>
          <p:nvPr/>
        </p:nvSpPr>
        <p:spPr>
          <a:xfrm>
            <a:off x="6675120" y="5084064"/>
            <a:ext cx="5029200" cy="320040"/>
          </a:xfrm>
          <a:prstGeom prst="rect">
            <a:avLst/>
          </a:prstGeom>
          <a:noFill/>
          <a:ln/>
        </p:spPr>
        <p:txBody>
          <a:bodyPr wrap="square" lIns="0" tIns="0" rIns="0" bIns="0" rtlCol="0" anchor="ctr"/>
          <a:lstStyle/>
          <a:p>
            <a:pPr indent="0" marL="0">
              <a:buNone/>
            </a:pPr>
            <a:r>
              <a:rPr lang="en-US" sz="1150" b="1" dirty="0">
                <a:solidFill>
                  <a:srgbClr val="0A2540"/>
                </a:solidFill>
                <a:latin typeface="Calibri" pitchFamily="34" charset="0"/>
                <a:ea typeface="Calibri" pitchFamily="34" charset="-122"/>
                <a:cs typeface="Calibri" pitchFamily="34" charset="-120"/>
              </a:rPr>
              <a:t>256×256 input</a:t>
            </a:r>
            <a:endParaRPr lang="en-US" sz="1150" dirty="0"/>
          </a:p>
        </p:txBody>
      </p:sp>
      <p:sp>
        <p:nvSpPr>
          <p:cNvPr id="47" name="Text 45"/>
          <p:cNvSpPr/>
          <p:nvPr/>
        </p:nvSpPr>
        <p:spPr>
          <a:xfrm>
            <a:off x="6675120" y="5358384"/>
            <a:ext cx="5029200" cy="365760"/>
          </a:xfrm>
          <a:prstGeom prst="rect">
            <a:avLst/>
          </a:prstGeom>
          <a:noFill/>
          <a:ln/>
        </p:spPr>
        <p:txBody>
          <a:bodyPr wrap="square" lIns="0" tIns="0" rIns="0" bIns="0" rtlCol="0" anchor="ctr"/>
          <a:lstStyle/>
          <a:p>
            <a:pPr indent="0" marL="0">
              <a:buNone/>
            </a:pPr>
            <a:r>
              <a:rPr lang="en-US" sz="1050" i="1" dirty="0">
                <a:solidFill>
                  <a:srgbClr val="5A6473"/>
                </a:solidFill>
                <a:latin typeface="Calibri" pitchFamily="34" charset="0"/>
                <a:ea typeface="Calibri" pitchFamily="34" charset="-122"/>
                <a:cs typeface="Calibri" pitchFamily="34" charset="-120"/>
              </a:rPr>
              <a:t>Higher resolution than M2 (256×192) preserves dimples, stitching, panel geometry</a:t>
            </a:r>
            <a:endParaRPr lang="en-US" sz="1050" dirty="0"/>
          </a:p>
        </p:txBody>
      </p:sp>
      <p:sp>
        <p:nvSpPr>
          <p:cNvPr id="48" name="Shape 46"/>
          <p:cNvSpPr/>
          <p:nvPr/>
        </p:nvSpPr>
        <p:spPr>
          <a:xfrm>
            <a:off x="6400800" y="5797296"/>
            <a:ext cx="228600" cy="228600"/>
          </a:xfrm>
          <a:prstGeom prst="ellipse">
            <a:avLst/>
          </a:prstGeom>
          <a:solidFill>
            <a:srgbClr val="1AA39E"/>
          </a:solidFill>
          <a:ln w="12700">
            <a:solidFill>
              <a:srgbClr val="1AA39E"/>
            </a:solidFill>
            <a:prstDash val="solid"/>
          </a:ln>
        </p:spPr>
      </p:sp>
      <p:sp>
        <p:nvSpPr>
          <p:cNvPr id="49" name="Text 47"/>
          <p:cNvSpPr/>
          <p:nvPr/>
        </p:nvSpPr>
        <p:spPr>
          <a:xfrm>
            <a:off x="6675120" y="5742432"/>
            <a:ext cx="5029200" cy="320040"/>
          </a:xfrm>
          <a:prstGeom prst="rect">
            <a:avLst/>
          </a:prstGeom>
          <a:noFill/>
          <a:ln/>
        </p:spPr>
        <p:txBody>
          <a:bodyPr wrap="square" lIns="0" tIns="0" rIns="0" bIns="0" rtlCol="0" anchor="ctr"/>
          <a:lstStyle/>
          <a:p>
            <a:pPr indent="0" marL="0">
              <a:buNone/>
            </a:pPr>
            <a:r>
              <a:rPr lang="en-US" sz="1150" b="1" dirty="0">
                <a:solidFill>
                  <a:srgbClr val="0A2540"/>
                </a:solidFill>
                <a:latin typeface="Calibri" pitchFamily="34" charset="0"/>
                <a:ea typeface="Calibri" pitchFamily="34" charset="-122"/>
                <a:cs typeface="Calibri" pitchFamily="34" charset="-120"/>
              </a:rPr>
              <a:t>Light augmentation</a:t>
            </a:r>
            <a:endParaRPr lang="en-US" sz="1150" dirty="0"/>
          </a:p>
        </p:txBody>
      </p:sp>
      <p:sp>
        <p:nvSpPr>
          <p:cNvPr id="50" name="Text 48"/>
          <p:cNvSpPr/>
          <p:nvPr/>
        </p:nvSpPr>
        <p:spPr>
          <a:xfrm>
            <a:off x="6675120" y="6016752"/>
            <a:ext cx="5029200" cy="365760"/>
          </a:xfrm>
          <a:prstGeom prst="rect">
            <a:avLst/>
          </a:prstGeom>
          <a:noFill/>
          <a:ln/>
        </p:spPr>
        <p:txBody>
          <a:bodyPr wrap="square" lIns="0" tIns="0" rIns="0" bIns="0" rtlCol="0" anchor="ctr"/>
          <a:lstStyle/>
          <a:p>
            <a:pPr indent="0" marL="0">
              <a:buNone/>
            </a:pPr>
            <a:r>
              <a:rPr lang="en-US" sz="1050" i="1" dirty="0">
                <a:solidFill>
                  <a:srgbClr val="5A6473"/>
                </a:solidFill>
                <a:latin typeface="Calibri" pitchFamily="34" charset="0"/>
                <a:ea typeface="Calibri" pitchFamily="34" charset="-122"/>
                <a:cs typeface="Calibri" pitchFamily="34" charset="-120"/>
              </a:rPr>
              <a:t>Flip, rotation, zoom, contrast — applied only at training time</a:t>
            </a:r>
            <a:endParaRPr lang="en-US" sz="1050" dirty="0"/>
          </a:p>
        </p:txBody>
      </p:sp>
      <p:sp>
        <p:nvSpPr>
          <p:cNvPr id="51" name="Text 49"/>
          <p:cNvSpPr/>
          <p:nvPr/>
        </p:nvSpPr>
        <p:spPr>
          <a:xfrm>
            <a:off x="457200" y="6537960"/>
            <a:ext cx="7315200" cy="228600"/>
          </a:xfrm>
          <a:prstGeom prst="rect">
            <a:avLst/>
          </a:prstGeom>
          <a:noFill/>
          <a:ln/>
        </p:spPr>
        <p:txBody>
          <a:bodyPr wrap="square" rtlCol="0" anchor="ctr"/>
          <a:lstStyle/>
          <a:p>
            <a:pPr indent="0" marL="0">
              <a:buNone/>
            </a:pPr>
            <a:r>
              <a:rPr lang="en-US" sz="900" dirty="0">
                <a:solidFill>
                  <a:srgbClr val="5A6473"/>
                </a:solidFill>
                <a:latin typeface="Calibri" pitchFamily="34" charset="0"/>
                <a:ea typeface="Calibri" pitchFamily="34" charset="-122"/>
                <a:cs typeface="Calibri" pitchFamily="34" charset="-120"/>
              </a:rPr>
              <a:t>ENMR602 · SIP Ball Classification · Tutorial 10</a:t>
            </a:r>
            <a:endParaRPr lang="en-US" sz="900" dirty="0"/>
          </a:p>
        </p:txBody>
      </p:sp>
      <p:sp>
        <p:nvSpPr>
          <p:cNvPr id="52" name="Text 50"/>
          <p:cNvSpPr/>
          <p:nvPr/>
        </p:nvSpPr>
        <p:spPr>
          <a:xfrm>
            <a:off x="8961120" y="6537960"/>
            <a:ext cx="2743200" cy="228600"/>
          </a:xfrm>
          <a:prstGeom prst="rect">
            <a:avLst/>
          </a:prstGeom>
          <a:noFill/>
          <a:ln/>
        </p:spPr>
        <p:txBody>
          <a:bodyPr wrap="square" rtlCol="0" anchor="ctr"/>
          <a:lstStyle/>
          <a:p>
            <a:pPr algn="r" indent="0" marL="0">
              <a:buNone/>
            </a:pPr>
            <a:r>
              <a:rPr lang="en-US" sz="900" b="1" dirty="0">
                <a:solidFill>
                  <a:srgbClr val="5A6473"/>
                </a:solidFill>
                <a:latin typeface="Calibri" pitchFamily="34" charset="0"/>
                <a:ea typeface="Calibri" pitchFamily="34" charset="-122"/>
                <a:cs typeface="Calibri" pitchFamily="34" charset="-120"/>
              </a:rPr>
              <a:t>Milestone 3</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502920"/>
          </a:xfrm>
          <a:prstGeom prst="rect">
            <a:avLst/>
          </a:prstGeom>
          <a:solidFill>
            <a:srgbClr val="F4A23C"/>
          </a:solidFill>
          <a:ln w="12700">
            <a:solidFill>
              <a:srgbClr val="F4A23C"/>
            </a:solidFill>
            <a:prstDash val="solid"/>
          </a:ln>
        </p:spPr>
      </p:sp>
      <p:sp>
        <p:nvSpPr>
          <p:cNvPr id="3" name="Text 1"/>
          <p:cNvSpPr/>
          <p:nvPr/>
        </p:nvSpPr>
        <p:spPr>
          <a:xfrm>
            <a:off x="685800" y="320040"/>
            <a:ext cx="11018520" cy="640080"/>
          </a:xfrm>
          <a:prstGeom prst="rect">
            <a:avLst/>
          </a:prstGeom>
          <a:noFill/>
          <a:ln/>
        </p:spPr>
        <p:txBody>
          <a:bodyPr wrap="square" lIns="0" tIns="0" rIns="0" bIns="0" rtlCol="0" anchor="ctr"/>
          <a:lstStyle/>
          <a:p>
            <a:pPr indent="0" marL="0">
              <a:buNone/>
            </a:pPr>
            <a:r>
              <a:rPr lang="en-US" sz="2800" b="1" dirty="0">
                <a:solidFill>
                  <a:srgbClr val="0A2540"/>
                </a:solidFill>
                <a:latin typeface="Calibri" pitchFamily="34" charset="0"/>
                <a:ea typeface="Calibri" pitchFamily="34" charset="-122"/>
                <a:cs typeface="Calibri" pitchFamily="34" charset="-120"/>
              </a:rPr>
              <a:t>M3 — Training &amp; Final Results</a:t>
            </a:r>
            <a:endParaRPr lang="en-US" sz="2800" dirty="0"/>
          </a:p>
        </p:txBody>
      </p:sp>
      <p:sp>
        <p:nvSpPr>
          <p:cNvPr id="4" name="Text 2"/>
          <p:cNvSpPr/>
          <p:nvPr/>
        </p:nvSpPr>
        <p:spPr>
          <a:xfrm>
            <a:off x="685800" y="914400"/>
            <a:ext cx="11018520" cy="320040"/>
          </a:xfrm>
          <a:prstGeom prst="rect">
            <a:avLst/>
          </a:prstGeom>
          <a:noFill/>
          <a:ln/>
        </p:spPr>
        <p:txBody>
          <a:bodyPr wrap="square" lIns="0" tIns="0" rIns="0" bIns="0" rtlCol="0" anchor="ctr"/>
          <a:lstStyle/>
          <a:p>
            <a:pPr indent="0" marL="0">
              <a:buNone/>
            </a:pPr>
            <a:r>
              <a:rPr lang="en-US" sz="1400" i="1" dirty="0">
                <a:solidFill>
                  <a:srgbClr val="5A6473"/>
                </a:solidFill>
                <a:latin typeface="Calibri" pitchFamily="34" charset="0"/>
                <a:ea typeface="Calibri" pitchFamily="34" charset="-122"/>
                <a:cs typeface="Calibri" pitchFamily="34" charset="-120"/>
              </a:rPr>
              <a:t>AdamW · label smoothing · 25.6 min on GPU</a:t>
            </a:r>
            <a:endParaRPr lang="en-US" sz="1400" dirty="0"/>
          </a:p>
        </p:txBody>
      </p:sp>
      <p:sp>
        <p:nvSpPr>
          <p:cNvPr id="5" name="Text 3"/>
          <p:cNvSpPr/>
          <p:nvPr/>
        </p:nvSpPr>
        <p:spPr>
          <a:xfrm>
            <a:off x="457200" y="1554480"/>
            <a:ext cx="5486400" cy="365760"/>
          </a:xfrm>
          <a:prstGeom prst="rect">
            <a:avLst/>
          </a:prstGeom>
          <a:noFill/>
          <a:ln/>
        </p:spPr>
        <p:txBody>
          <a:bodyPr wrap="square" lIns="0" tIns="0" rIns="0" bIns="0"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Training configuration</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5760720" cy="914400"/>
        </p:xfrm>
        <a:graphic>
          <a:graphicData uri="http://schemas.openxmlformats.org/drawingml/2006/table">
            <a:tbl>
              <a:tblPr/>
              <a:tblGrid>
                <a:gridCol w="1920240"/>
                <a:gridCol w="3840480"/>
              </a:tblGrid>
              <a:tr h="32004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Item</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0A2540"/>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Value</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0A2540"/>
                    </a:solidFill>
                  </a:tcPr>
                </a:tc>
              </a:tr>
              <a:tr h="320040">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Framework</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TensorFlow / Keras</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r>
              <a:tr h="320040">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Input size</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256 × 256 × 3</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r>
              <a:tr h="320040">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Loss</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Categorical cross-entropy, label smoothing = 0.02</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r>
              <a:tr h="320040">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Optimizer</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AdamW · lr = 5 × 10⁻⁴ · weight decay = 8 × 10⁻⁵</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r>
              <a:tr h="320040">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Validation split</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15% of training folder</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r>
              <a:tr h="320040">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Callbacks</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ModelCheckpoint · EarlyStopping · ReduceLROnPlateau</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r>
              <a:tr h="320040">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Augmentation</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RandomFlip · Rotation · Zoom · Contrast (train only)</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r>
              <a:tr h="320040">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Training time</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1,535 s ≈ 25.6 min</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r>
              <a:tr h="320040">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Parameters</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6,927,030</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r>
            </a:tbl>
          </a:graphicData>
        </a:graphic>
      </p:graphicFrame>
      <p:sp>
        <p:nvSpPr>
          <p:cNvPr id="7" name="Text 4"/>
          <p:cNvSpPr/>
          <p:nvPr/>
        </p:nvSpPr>
        <p:spPr>
          <a:xfrm>
            <a:off x="6400800" y="1554480"/>
            <a:ext cx="5486400" cy="365760"/>
          </a:xfrm>
          <a:prstGeom prst="rect">
            <a:avLst/>
          </a:prstGeom>
          <a:noFill/>
          <a:ln/>
        </p:spPr>
        <p:txBody>
          <a:bodyPr wrap="square" lIns="0" tIns="0" rIns="0" bIns="0"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Per-class performance (test set, n=289)</a:t>
            </a:r>
            <a:endParaRPr lang="en-US" sz="1400" dirty="0"/>
          </a:p>
        </p:txBody>
      </p:sp>
      <p:graphicFrame>
        <p:nvGraphicFramePr>
          <p:cNvPr id="33" name="Table 1"/>
          <p:cNvGraphicFramePr>
            <a:graphicFrameLocks noGrp="1"/>
          </p:cNvGraphicFramePr>
          <p:nvPr>
            <p:extLst>
              <p:ext uri="{D42A27DB-BD31-4B8C-83A1-F6EECF244321}">
                <p14:modId xmlns:p14="http://schemas.microsoft.com/office/powerpoint/2010/main" val="1579011935"/>
              </p:ext>
            </p:extLst>
          </p:nvPr>
        </p:nvGraphicFramePr>
        <p:xfrm>
          <a:off x="6400800" y="1920240"/>
          <a:ext cx="5303520" cy="914400"/>
        </p:xfrm>
        <a:graphic>
          <a:graphicData uri="http://schemas.openxmlformats.org/drawingml/2006/table">
            <a:tbl>
              <a:tblPr/>
              <a:tblGrid>
                <a:gridCol w="2103120"/>
                <a:gridCol w="1069848"/>
                <a:gridCol w="1069848"/>
                <a:gridCol w="1060704"/>
              </a:tblGrid>
              <a:tr h="32004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Class</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1AA39E"/>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Prec.</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1AA39E"/>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Recall</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1AA39E"/>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F1</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1AA39E"/>
                    </a:solidFill>
                  </a:tcPr>
                </a:tc>
              </a:tr>
              <a:tr h="320040">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american_football</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0.925</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0.980</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0.952</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r>
              <a:tr h="320040">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baseball</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ctr" indent="0" marL="0">
                        <a:buNone/>
                      </a:pPr>
                      <a:r>
                        <a:rPr lang="en-US" sz="1050" b="1" dirty="0">
                          <a:solidFill>
                            <a:srgbClr val="2E8B57"/>
                          </a:solidFill>
                          <a:latin typeface="Calibri" pitchFamily="34" charset="0"/>
                          <a:ea typeface="Calibri" pitchFamily="34" charset="-122"/>
                          <a:cs typeface="Calibri" pitchFamily="34" charset="-120"/>
                        </a:rPr>
                        <a:t>1.000</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0.959</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0.979</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r>
              <a:tr h="320040">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basketball</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0.980</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ctr" indent="0" marL="0">
                        <a:buNone/>
                      </a:pPr>
                      <a:r>
                        <a:rPr lang="en-US" sz="1050" b="1" dirty="0">
                          <a:solidFill>
                            <a:srgbClr val="2E8B57"/>
                          </a:solidFill>
                          <a:latin typeface="Calibri" pitchFamily="34" charset="0"/>
                          <a:ea typeface="Calibri" pitchFamily="34" charset="-122"/>
                          <a:cs typeface="Calibri" pitchFamily="34" charset="-120"/>
                        </a:rPr>
                        <a:t>1.000</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0.990</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r>
              <a:tr h="320040">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football</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ctr" indent="0" marL="0">
                        <a:buNone/>
                      </a:pPr>
                      <a:r>
                        <a:rPr lang="en-US" sz="1050" b="1" dirty="0">
                          <a:solidFill>
                            <a:srgbClr val="2E8B57"/>
                          </a:solidFill>
                          <a:latin typeface="Calibri" pitchFamily="34" charset="0"/>
                          <a:ea typeface="Calibri" pitchFamily="34" charset="-122"/>
                          <a:cs typeface="Calibri" pitchFamily="34" charset="-120"/>
                        </a:rPr>
                        <a:t>1.000</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0.956</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0.977</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r>
              <a:tr h="320040">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golf_ball</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0.977</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0.956</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0.966</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r>
              <a:tr h="320040">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tennis_ball</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0.980</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ctr" indent="0" marL="0">
                        <a:buNone/>
                      </a:pPr>
                      <a:r>
                        <a:rPr lang="en-US" sz="1050" b="1" dirty="0">
                          <a:solidFill>
                            <a:srgbClr val="2E8B57"/>
                          </a:solidFill>
                          <a:latin typeface="Calibri" pitchFamily="34" charset="0"/>
                          <a:ea typeface="Calibri" pitchFamily="34" charset="-122"/>
                          <a:cs typeface="Calibri" pitchFamily="34" charset="-120"/>
                        </a:rPr>
                        <a:t>1.000</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0.990</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r>
              <a:tr h="320040">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Macro avg</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9"/>
                    </a:solidFill>
                  </a:tcPr>
                </a:tc>
                <a:tc>
                  <a:txBody>
                    <a:bodyPr/>
                    <a:lstStyle/>
                    <a:p>
                      <a:pPr algn="ctr" indent="0" marL="0">
                        <a:buNone/>
                      </a:pPr>
                      <a:r>
                        <a:rPr lang="en-US" sz="1050" b="1" dirty="0">
                          <a:solidFill>
                            <a:srgbClr val="1A1A1A"/>
                          </a:solidFill>
                          <a:latin typeface="Calibri" pitchFamily="34" charset="0"/>
                          <a:ea typeface="Calibri" pitchFamily="34" charset="-122"/>
                          <a:cs typeface="Calibri" pitchFamily="34" charset="-120"/>
                        </a:rPr>
                        <a:t>0.977</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9"/>
                    </a:solidFill>
                  </a:tcPr>
                </a:tc>
                <a:tc>
                  <a:txBody>
                    <a:bodyPr/>
                    <a:lstStyle/>
                    <a:p>
                      <a:pPr algn="ctr" indent="0" marL="0">
                        <a:buNone/>
                      </a:pPr>
                      <a:r>
                        <a:rPr lang="en-US" sz="1050" b="1" dirty="0">
                          <a:solidFill>
                            <a:srgbClr val="1A1A1A"/>
                          </a:solidFill>
                          <a:latin typeface="Calibri" pitchFamily="34" charset="0"/>
                          <a:ea typeface="Calibri" pitchFamily="34" charset="-122"/>
                          <a:cs typeface="Calibri" pitchFamily="34" charset="-120"/>
                        </a:rPr>
                        <a:t>0.975</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9"/>
                    </a:solidFill>
                  </a:tcPr>
                </a:tc>
                <a:tc>
                  <a:txBody>
                    <a:bodyPr/>
                    <a:lstStyle/>
                    <a:p>
                      <a:pPr algn="ctr" indent="0" marL="0">
                        <a:buNone/>
                      </a:pPr>
                      <a:r>
                        <a:rPr lang="en-US" sz="1050" b="1" dirty="0">
                          <a:solidFill>
                            <a:srgbClr val="1A1A1A"/>
                          </a:solidFill>
                          <a:latin typeface="Calibri" pitchFamily="34" charset="0"/>
                          <a:ea typeface="Calibri" pitchFamily="34" charset="-122"/>
                          <a:cs typeface="Calibri" pitchFamily="34" charset="-120"/>
                        </a:rPr>
                        <a:t>0.976</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F4F6F9"/>
                    </a:solidFill>
                  </a:tcPr>
                </a:tc>
              </a:tr>
            </a:tbl>
          </a:graphicData>
        </a:graphic>
      </p:graphicFrame>
      <p:sp>
        <p:nvSpPr>
          <p:cNvPr id="9" name="Shape 5"/>
          <p:cNvSpPr/>
          <p:nvPr/>
        </p:nvSpPr>
        <p:spPr>
          <a:xfrm>
            <a:off x="457200" y="5623560"/>
            <a:ext cx="11247120" cy="777240"/>
          </a:xfrm>
          <a:prstGeom prst="rect">
            <a:avLst/>
          </a:prstGeom>
          <a:solidFill>
            <a:srgbClr val="E6F7F4"/>
          </a:solidFill>
          <a:ln w="19050">
            <a:solidFill>
              <a:srgbClr val="1AA39E"/>
            </a:solidFill>
            <a:prstDash val="solid"/>
          </a:ln>
        </p:spPr>
      </p:sp>
      <p:sp>
        <p:nvSpPr>
          <p:cNvPr id="10" name="Text 6"/>
          <p:cNvSpPr/>
          <p:nvPr/>
        </p:nvSpPr>
        <p:spPr>
          <a:xfrm>
            <a:off x="640080" y="5623560"/>
            <a:ext cx="10972800" cy="777240"/>
          </a:xfrm>
          <a:prstGeom prst="rect">
            <a:avLst/>
          </a:prstGeom>
          <a:noFill/>
          <a:ln/>
        </p:spPr>
        <p:txBody>
          <a:bodyPr wrap="square" lIns="0" tIns="0" rIns="0" bIns="0" rtlCol="0" anchor="ctr"/>
          <a:lstStyle/>
          <a:p>
            <a:pPr indent="0" marL="0">
              <a:buNone/>
            </a:pPr>
            <a:r>
              <a:rPr lang="en-US" sz="1100" b="1" dirty="0">
                <a:solidFill>
                  <a:srgbClr val="1AA39E"/>
                </a:solidFill>
                <a:latin typeface="Calibri" pitchFamily="34" charset="0"/>
                <a:ea typeface="Calibri" pitchFamily="34" charset="-122"/>
                <a:cs typeface="Calibri" pitchFamily="34" charset="-120"/>
              </a:rPr>
              <a:t>Final error budget: </a:t>
            </a:r>
            <a:pPr indent="0" marL="0">
              <a:buNone/>
            </a:pPr>
            <a:r>
              <a:rPr lang="en-US" sz="1100" dirty="0">
                <a:solidFill>
                  <a:srgbClr val="1A1A1A"/>
                </a:solidFill>
                <a:latin typeface="Calibri" pitchFamily="34" charset="0"/>
                <a:ea typeface="Calibri" pitchFamily="34" charset="-122"/>
                <a:cs typeface="Calibri" pitchFamily="34" charset="-120"/>
              </a:rPr>
              <a:t>7 errors out of 289 test images (97.58% accuracy). </a:t>
            </a:r>
            <a:pPr indent="0" marL="0">
              <a:buNone/>
            </a:pPr>
            <a:r>
              <a:rPr lang="en-US" sz="1100" b="1" dirty="0">
                <a:solidFill>
                  <a:srgbClr val="0A2540"/>
                </a:solidFill>
                <a:latin typeface="Calibri" pitchFamily="34" charset="0"/>
                <a:ea typeface="Calibri" pitchFamily="34" charset="-122"/>
                <a:cs typeface="Calibri" pitchFamily="34" charset="-120"/>
              </a:rPr>
              <a:t>basketball </a:t>
            </a:r>
            <a:pPr indent="0" marL="0">
              <a:buNone/>
            </a:pPr>
            <a:r>
              <a:rPr lang="en-US" sz="1100" dirty="0">
                <a:solidFill>
                  <a:srgbClr val="1A1A1A"/>
                </a:solidFill>
                <a:latin typeface="Calibri" pitchFamily="34" charset="0"/>
                <a:ea typeface="Calibri" pitchFamily="34" charset="-122"/>
                <a:cs typeface="Calibri" pitchFamily="34" charset="-120"/>
              </a:rPr>
              <a:t>and </a:t>
            </a:r>
            <a:pPr indent="0" marL="0">
              <a:buNone/>
            </a:pPr>
            <a:r>
              <a:rPr lang="en-US" sz="1100" b="1" dirty="0">
                <a:solidFill>
                  <a:srgbClr val="0A2540"/>
                </a:solidFill>
                <a:latin typeface="Calibri" pitchFamily="34" charset="0"/>
                <a:ea typeface="Calibri" pitchFamily="34" charset="-122"/>
                <a:cs typeface="Calibri" pitchFamily="34" charset="-120"/>
              </a:rPr>
              <a:t>tennis_ball </a:t>
            </a:r>
            <a:pPr indent="0" marL="0">
              <a:buNone/>
            </a:pPr>
            <a:r>
              <a:rPr lang="en-US" sz="1100" dirty="0">
                <a:solidFill>
                  <a:srgbClr val="1A1A1A"/>
                </a:solidFill>
                <a:latin typeface="Calibri" pitchFamily="34" charset="0"/>
                <a:ea typeface="Calibri" pitchFamily="34" charset="-122"/>
                <a:cs typeface="Calibri" pitchFamily="34" charset="-120"/>
              </a:rPr>
              <a:t>both achieve 100% recall. Remaining errors involve visually similar pairs (white/leather) or unusual viewpoints — exactly where the M2 RF model was weakest.</a:t>
            </a:r>
            <a:endParaRPr lang="en-US" sz="1100" dirty="0"/>
          </a:p>
        </p:txBody>
      </p:sp>
      <p:sp>
        <p:nvSpPr>
          <p:cNvPr id="11" name="Text 7"/>
          <p:cNvSpPr/>
          <p:nvPr/>
        </p:nvSpPr>
        <p:spPr>
          <a:xfrm>
            <a:off x="457200" y="6537960"/>
            <a:ext cx="7315200" cy="228600"/>
          </a:xfrm>
          <a:prstGeom prst="rect">
            <a:avLst/>
          </a:prstGeom>
          <a:noFill/>
          <a:ln/>
        </p:spPr>
        <p:txBody>
          <a:bodyPr wrap="square" rtlCol="0" anchor="ctr"/>
          <a:lstStyle/>
          <a:p>
            <a:pPr indent="0" marL="0">
              <a:buNone/>
            </a:pPr>
            <a:r>
              <a:rPr lang="en-US" sz="900" dirty="0">
                <a:solidFill>
                  <a:srgbClr val="5A6473"/>
                </a:solidFill>
                <a:latin typeface="Calibri" pitchFamily="34" charset="0"/>
                <a:ea typeface="Calibri" pitchFamily="34" charset="-122"/>
                <a:cs typeface="Calibri" pitchFamily="34" charset="-120"/>
              </a:rPr>
              <a:t>ENMR602 · SIP Ball Classification · Tutorial 10</a:t>
            </a:r>
            <a:endParaRPr lang="en-US" sz="900" dirty="0"/>
          </a:p>
        </p:txBody>
      </p:sp>
      <p:sp>
        <p:nvSpPr>
          <p:cNvPr id="12" name="Text 8"/>
          <p:cNvSpPr/>
          <p:nvPr/>
        </p:nvSpPr>
        <p:spPr>
          <a:xfrm>
            <a:off x="8961120" y="6537960"/>
            <a:ext cx="2743200" cy="228600"/>
          </a:xfrm>
          <a:prstGeom prst="rect">
            <a:avLst/>
          </a:prstGeom>
          <a:noFill/>
          <a:ln/>
        </p:spPr>
        <p:txBody>
          <a:bodyPr wrap="square" rtlCol="0" anchor="ctr"/>
          <a:lstStyle/>
          <a:p>
            <a:pPr algn="r" indent="0" marL="0">
              <a:buNone/>
            </a:pPr>
            <a:r>
              <a:rPr lang="en-US" sz="900" b="1" dirty="0">
                <a:solidFill>
                  <a:srgbClr val="5A6473"/>
                </a:solidFill>
                <a:latin typeface="Calibri" pitchFamily="34" charset="0"/>
                <a:ea typeface="Calibri" pitchFamily="34" charset="-122"/>
                <a:cs typeface="Calibri" pitchFamily="34" charset="-120"/>
              </a:rPr>
              <a:t>Milestone 3</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502920"/>
          </a:xfrm>
          <a:prstGeom prst="rect">
            <a:avLst/>
          </a:prstGeom>
          <a:solidFill>
            <a:srgbClr val="F4A23C"/>
          </a:solidFill>
          <a:ln w="12700">
            <a:solidFill>
              <a:srgbClr val="F4A23C"/>
            </a:solidFill>
            <a:prstDash val="solid"/>
          </a:ln>
        </p:spPr>
      </p:sp>
      <p:sp>
        <p:nvSpPr>
          <p:cNvPr id="3" name="Text 1"/>
          <p:cNvSpPr/>
          <p:nvPr/>
        </p:nvSpPr>
        <p:spPr>
          <a:xfrm>
            <a:off x="685800" y="320040"/>
            <a:ext cx="11018520" cy="640080"/>
          </a:xfrm>
          <a:prstGeom prst="rect">
            <a:avLst/>
          </a:prstGeom>
          <a:noFill/>
          <a:ln/>
        </p:spPr>
        <p:txBody>
          <a:bodyPr wrap="square" lIns="0" tIns="0" rIns="0" bIns="0" rtlCol="0" anchor="ctr"/>
          <a:lstStyle/>
          <a:p>
            <a:pPr indent="0" marL="0">
              <a:buNone/>
            </a:pPr>
            <a:r>
              <a:rPr lang="en-US" sz="2800" b="1" dirty="0">
                <a:solidFill>
                  <a:srgbClr val="0A2540"/>
                </a:solidFill>
                <a:latin typeface="Calibri" pitchFamily="34" charset="0"/>
                <a:ea typeface="Calibri" pitchFamily="34" charset="-122"/>
                <a:cs typeface="Calibri" pitchFamily="34" charset="-120"/>
              </a:rPr>
              <a:t>M2 vs M3 — Head-to-Head</a:t>
            </a:r>
            <a:endParaRPr lang="en-US" sz="2800" dirty="0"/>
          </a:p>
        </p:txBody>
      </p:sp>
      <p:sp>
        <p:nvSpPr>
          <p:cNvPr id="4" name="Text 2"/>
          <p:cNvSpPr/>
          <p:nvPr/>
        </p:nvSpPr>
        <p:spPr>
          <a:xfrm>
            <a:off x="685800" y="914400"/>
            <a:ext cx="11018520" cy="320040"/>
          </a:xfrm>
          <a:prstGeom prst="rect">
            <a:avLst/>
          </a:prstGeom>
          <a:noFill/>
          <a:ln/>
        </p:spPr>
        <p:txBody>
          <a:bodyPr wrap="square" lIns="0" tIns="0" rIns="0" bIns="0" rtlCol="0" anchor="ctr"/>
          <a:lstStyle/>
          <a:p>
            <a:pPr indent="0" marL="0">
              <a:buNone/>
            </a:pPr>
            <a:r>
              <a:rPr lang="en-US" sz="1400" i="1" dirty="0">
                <a:solidFill>
                  <a:srgbClr val="5A6473"/>
                </a:solidFill>
                <a:latin typeface="Calibri" pitchFamily="34" charset="0"/>
                <a:ea typeface="Calibri" pitchFamily="34" charset="-122"/>
                <a:cs typeface="Calibri" pitchFamily="34" charset="-120"/>
              </a:rPr>
              <a:t>Classical ML against learned features — what changed and why</a:t>
            </a:r>
            <a:endParaRPr lang="en-US" sz="1400" dirty="0"/>
          </a:p>
        </p:txBody>
      </p:sp>
      <p:sp>
        <p:nvSpPr>
          <p:cNvPr id="5" name="Shape 3"/>
          <p:cNvSpPr/>
          <p:nvPr/>
        </p:nvSpPr>
        <p:spPr>
          <a:xfrm>
            <a:off x="457200" y="1508760"/>
            <a:ext cx="5303520" cy="1828800"/>
          </a:xfrm>
          <a:prstGeom prst="rect">
            <a:avLst/>
          </a:prstGeom>
          <a:solidFill>
            <a:srgbClr val="F4F6F9"/>
          </a:solidFill>
          <a:ln w="19050">
            <a:solidFill>
              <a:srgbClr val="F4A23C"/>
            </a:solidFill>
            <a:prstDash val="solid"/>
          </a:ln>
        </p:spPr>
      </p:sp>
      <p:sp>
        <p:nvSpPr>
          <p:cNvPr id="6" name="Text 4"/>
          <p:cNvSpPr/>
          <p:nvPr/>
        </p:nvSpPr>
        <p:spPr>
          <a:xfrm>
            <a:off x="640080" y="1600200"/>
            <a:ext cx="4572000" cy="320040"/>
          </a:xfrm>
          <a:prstGeom prst="rect">
            <a:avLst/>
          </a:prstGeom>
          <a:noFill/>
          <a:ln/>
        </p:spPr>
        <p:txBody>
          <a:bodyPr wrap="square" lIns="0" tIns="0" rIns="0" bIns="0" rtlCol="0" anchor="ctr"/>
          <a:lstStyle/>
          <a:p>
            <a:pPr indent="0" marL="0">
              <a:buNone/>
            </a:pPr>
            <a:r>
              <a:rPr lang="en-US" sz="1300" b="1" dirty="0">
                <a:solidFill>
                  <a:srgbClr val="F4A23C"/>
                </a:solidFill>
                <a:latin typeface="Calibri" pitchFamily="34" charset="0"/>
                <a:ea typeface="Calibri" pitchFamily="34" charset="-122"/>
                <a:cs typeface="Calibri" pitchFamily="34" charset="-120"/>
              </a:rPr>
              <a:t>Milestone 2</a:t>
            </a:r>
            <a:endParaRPr lang="en-US" sz="1300" dirty="0"/>
          </a:p>
        </p:txBody>
      </p:sp>
      <p:sp>
        <p:nvSpPr>
          <p:cNvPr id="7" name="Text 5"/>
          <p:cNvSpPr/>
          <p:nvPr/>
        </p:nvSpPr>
        <p:spPr>
          <a:xfrm>
            <a:off x="640080" y="1920240"/>
            <a:ext cx="4937760" cy="914400"/>
          </a:xfrm>
          <a:prstGeom prst="rect">
            <a:avLst/>
          </a:prstGeom>
          <a:noFill/>
          <a:ln/>
        </p:spPr>
        <p:txBody>
          <a:bodyPr wrap="square" lIns="0" tIns="0" rIns="0" bIns="0" rtlCol="0" anchor="ctr"/>
          <a:lstStyle/>
          <a:p>
            <a:pPr indent="0" marL="0">
              <a:buNone/>
            </a:pPr>
            <a:r>
              <a:rPr lang="en-US" sz="5600" b="1" dirty="0">
                <a:solidFill>
                  <a:srgbClr val="0A2540"/>
                </a:solidFill>
                <a:latin typeface="Calibri" pitchFamily="34" charset="0"/>
                <a:ea typeface="Calibri" pitchFamily="34" charset="-122"/>
                <a:cs typeface="Calibri" pitchFamily="34" charset="-120"/>
              </a:rPr>
              <a:t>89.97%</a:t>
            </a:r>
            <a:endParaRPr lang="en-US" sz="5600" dirty="0"/>
          </a:p>
        </p:txBody>
      </p:sp>
      <p:sp>
        <p:nvSpPr>
          <p:cNvPr id="8" name="Text 6"/>
          <p:cNvSpPr/>
          <p:nvPr/>
        </p:nvSpPr>
        <p:spPr>
          <a:xfrm>
            <a:off x="640080" y="2834640"/>
            <a:ext cx="4937760" cy="365760"/>
          </a:xfrm>
          <a:prstGeom prst="rect">
            <a:avLst/>
          </a:prstGeom>
          <a:noFill/>
          <a:ln/>
        </p:spPr>
        <p:txBody>
          <a:bodyPr wrap="square" lIns="0" tIns="0" rIns="0" bIns="0" rtlCol="0" anchor="ctr"/>
          <a:lstStyle/>
          <a:p>
            <a:pPr indent="0" marL="0">
              <a:buNone/>
            </a:pPr>
            <a:r>
              <a:rPr lang="en-US" sz="1150" i="1" dirty="0">
                <a:solidFill>
                  <a:srgbClr val="5A6473"/>
                </a:solidFill>
                <a:latin typeface="Calibri" pitchFamily="34" charset="0"/>
                <a:ea typeface="Calibri" pitchFamily="34" charset="-122"/>
                <a:cs typeface="Calibri" pitchFamily="34" charset="-120"/>
              </a:rPr>
              <a:t>Random Forest + LBP  ·  3,610-d handcrafted features</a:t>
            </a:r>
            <a:endParaRPr lang="en-US" sz="1150" dirty="0"/>
          </a:p>
        </p:txBody>
      </p:sp>
      <p:sp>
        <p:nvSpPr>
          <p:cNvPr id="9" name="Shape 7"/>
          <p:cNvSpPr/>
          <p:nvPr/>
        </p:nvSpPr>
        <p:spPr>
          <a:xfrm>
            <a:off x="6400800" y="1508760"/>
            <a:ext cx="5303520" cy="1828800"/>
          </a:xfrm>
          <a:prstGeom prst="rect">
            <a:avLst/>
          </a:prstGeom>
          <a:solidFill>
            <a:srgbClr val="E6F7F4"/>
          </a:solidFill>
          <a:ln w="19050">
            <a:solidFill>
              <a:srgbClr val="1AA39E"/>
            </a:solidFill>
            <a:prstDash val="solid"/>
          </a:ln>
        </p:spPr>
      </p:sp>
      <p:sp>
        <p:nvSpPr>
          <p:cNvPr id="10" name="Text 8"/>
          <p:cNvSpPr/>
          <p:nvPr/>
        </p:nvSpPr>
        <p:spPr>
          <a:xfrm>
            <a:off x="6583680" y="1600200"/>
            <a:ext cx="4572000" cy="320040"/>
          </a:xfrm>
          <a:prstGeom prst="rect">
            <a:avLst/>
          </a:prstGeom>
          <a:noFill/>
          <a:ln/>
        </p:spPr>
        <p:txBody>
          <a:bodyPr wrap="square" lIns="0" tIns="0" rIns="0" bIns="0" rtlCol="0" anchor="ctr"/>
          <a:lstStyle/>
          <a:p>
            <a:pPr indent="0" marL="0">
              <a:buNone/>
            </a:pPr>
            <a:r>
              <a:rPr lang="en-US" sz="1300" b="1" dirty="0">
                <a:solidFill>
                  <a:srgbClr val="1AA39E"/>
                </a:solidFill>
                <a:latin typeface="Calibri" pitchFamily="34" charset="0"/>
                <a:ea typeface="Calibri" pitchFamily="34" charset="-122"/>
                <a:cs typeface="Calibri" pitchFamily="34" charset="-120"/>
              </a:rPr>
              <a:t>Milestone 3</a:t>
            </a:r>
            <a:endParaRPr lang="en-US" sz="1300" dirty="0"/>
          </a:p>
        </p:txBody>
      </p:sp>
      <p:sp>
        <p:nvSpPr>
          <p:cNvPr id="11" name="Text 9"/>
          <p:cNvSpPr/>
          <p:nvPr/>
        </p:nvSpPr>
        <p:spPr>
          <a:xfrm>
            <a:off x="6583680" y="1920240"/>
            <a:ext cx="4937760" cy="914400"/>
          </a:xfrm>
          <a:prstGeom prst="rect">
            <a:avLst/>
          </a:prstGeom>
          <a:noFill/>
          <a:ln/>
        </p:spPr>
        <p:txBody>
          <a:bodyPr wrap="square" lIns="0" tIns="0" rIns="0" bIns="0" rtlCol="0" anchor="ctr"/>
          <a:lstStyle/>
          <a:p>
            <a:pPr indent="0" marL="0">
              <a:buNone/>
            </a:pPr>
            <a:r>
              <a:rPr lang="en-US" sz="5600" b="1" dirty="0">
                <a:solidFill>
                  <a:srgbClr val="0A2540"/>
                </a:solidFill>
                <a:latin typeface="Calibri" pitchFamily="34" charset="0"/>
                <a:ea typeface="Calibri" pitchFamily="34" charset="-122"/>
                <a:cs typeface="Calibri" pitchFamily="34" charset="-120"/>
              </a:rPr>
              <a:t>97.58%</a:t>
            </a:r>
            <a:endParaRPr lang="en-US" sz="5600" dirty="0"/>
          </a:p>
        </p:txBody>
      </p:sp>
      <p:sp>
        <p:nvSpPr>
          <p:cNvPr id="12" name="Text 10"/>
          <p:cNvSpPr/>
          <p:nvPr/>
        </p:nvSpPr>
        <p:spPr>
          <a:xfrm>
            <a:off x="6583680" y="2834640"/>
            <a:ext cx="4937760" cy="365760"/>
          </a:xfrm>
          <a:prstGeom prst="rect">
            <a:avLst/>
          </a:prstGeom>
          <a:noFill/>
          <a:ln/>
        </p:spPr>
        <p:txBody>
          <a:bodyPr wrap="square" lIns="0" tIns="0" rIns="0" bIns="0" rtlCol="0" anchor="ctr"/>
          <a:lstStyle/>
          <a:p>
            <a:pPr indent="0" marL="0">
              <a:buNone/>
            </a:pPr>
            <a:r>
              <a:rPr lang="en-US" sz="1150" i="1" dirty="0">
                <a:solidFill>
                  <a:srgbClr val="5A6473"/>
                </a:solidFill>
                <a:latin typeface="Calibri" pitchFamily="34" charset="0"/>
                <a:ea typeface="Calibri" pitchFamily="34" charset="-122"/>
                <a:cs typeface="Calibri" pitchFamily="34" charset="-120"/>
              </a:rPr>
              <a:t>Custom CNN V4 SE HighRes  ·  6.93 M learned parameters</a:t>
            </a:r>
            <a:endParaRPr lang="en-US" sz="1150" dirty="0"/>
          </a:p>
        </p:txBody>
      </p:sp>
      <p:sp>
        <p:nvSpPr>
          <p:cNvPr id="13" name="Shape 11"/>
          <p:cNvSpPr/>
          <p:nvPr/>
        </p:nvSpPr>
        <p:spPr>
          <a:xfrm>
            <a:off x="5623560" y="2057400"/>
            <a:ext cx="868680" cy="868680"/>
          </a:xfrm>
          <a:prstGeom prst="ellipse">
            <a:avLst/>
          </a:prstGeom>
          <a:solidFill>
            <a:srgbClr val="F4A23C"/>
          </a:solidFill>
          <a:ln w="12700">
            <a:solidFill>
              <a:srgbClr val="F4A23C"/>
            </a:solidFill>
            <a:prstDash val="solid"/>
          </a:ln>
        </p:spPr>
      </p:sp>
      <p:sp>
        <p:nvSpPr>
          <p:cNvPr id="14" name="Text 12"/>
          <p:cNvSpPr/>
          <p:nvPr/>
        </p:nvSpPr>
        <p:spPr>
          <a:xfrm>
            <a:off x="5623560" y="2057400"/>
            <a:ext cx="8686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+7.61</a:t>
            </a:r>
            <a:endParaRPr lang="en-US" sz="1300" dirty="0"/>
          </a:p>
        </p:txBody>
      </p:sp>
      <p:sp>
        <p:nvSpPr>
          <p:cNvPr id="15" name="Text 13"/>
          <p:cNvSpPr/>
          <p:nvPr/>
        </p:nvSpPr>
        <p:spPr>
          <a:xfrm>
            <a:off x="5623560" y="2468880"/>
            <a:ext cx="86868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pp</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3520440"/>
          <a:ext cx="11247120" cy="914400"/>
        </p:xfrm>
        <a:graphic>
          <a:graphicData uri="http://schemas.openxmlformats.org/drawingml/2006/table">
            <a:tbl>
              <a:tblPr/>
              <a:tblGrid>
                <a:gridCol w="2743200"/>
                <a:gridCol w="4206240"/>
                <a:gridCol w="4297680"/>
              </a:tblGrid>
              <a:tr h="292608">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Aspect</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0A2540"/>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Milestone 2</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0A2540"/>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Milestone 3</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solidFill>
                      <a:srgbClr val="0A2540"/>
                    </a:solidFill>
                  </a:tcPr>
                </a:tc>
              </a:tr>
              <a:tr h="292608">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Approach</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Classical CV pipeline + ML classifier</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End-to-end learned representation</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r>
              <a:tr h="292608">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Features</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Handcrafted (color, HOG, shape, LBP)</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Learned hierarchically by Conv layers</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r>
              <a:tr h="292608">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Segmentation needed</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Yes — 4-path multi-strategy segmenter</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No — model uses the whole image</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r>
              <a:tr h="292608">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Input resolution</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256 × 192</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256 × 256</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r>
              <a:tr h="292608">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Parameters</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 300 trees (RF)</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6,927,030</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r>
              <a:tr h="292608">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Compute</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187 s feature extract + RF fit (CPU)</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1,535 s end-to-end (T4 GPU)</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r>
              <a:tr h="292608">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Worst class</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basketball — 78.0% recall</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american_football — 98.0% recall</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r>
              <a:tr h="292608">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Interpretability</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High (per-feature ablation)</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Lower — black-box internals</a:t>
                      </a:r>
                      <a:endParaRPr lang="en-US" sz="1050" dirty="0">
                        <a:latin typeface="Calibri" charset="0"/>
                        <a:ea typeface="Calibri" charset="0"/>
                        <a:cs typeface="Calibri" charset="0"/>
                      </a:endParaRPr>
                    </a:p>
                  </a:txBody>
                  <a:tcPr marL="91440" marR="91440" marT="45720" marB="45720" anchor="ctr">
                    <a:lnL w="6350" cap="flat" cmpd="sng" algn="ctr">
                      <a:solidFill>
                        <a:srgbClr val="D6DBE3"/>
                      </a:solidFill>
                      <a:prstDash val="solid"/>
                      <a:round/>
                      <a:headEnd type="none" w="med" len="med"/>
                      <a:tailEnd type="none" w="med" len="med"/>
                    </a:lnL>
                    <a:lnR w="6350" cap="flat" cmpd="sng" algn="ctr">
                      <a:solidFill>
                        <a:srgbClr val="D6DBE3"/>
                      </a:solidFill>
                      <a:prstDash val="solid"/>
                      <a:round/>
                      <a:headEnd type="none" w="med" len="med"/>
                      <a:tailEnd type="none" w="med" len="med"/>
                    </a:lnR>
                    <a:lnT w="6350" cap="flat" cmpd="sng" algn="ctr">
                      <a:solidFill>
                        <a:srgbClr val="D6DBE3"/>
                      </a:solidFill>
                      <a:prstDash val="solid"/>
                      <a:round/>
                      <a:headEnd type="none" w="med" len="med"/>
                      <a:tailEnd type="none" w="med" len="med"/>
                    </a:lnT>
                    <a:lnB w="6350" cap="flat" cmpd="sng" algn="ctr">
                      <a:solidFill>
                        <a:srgbClr val="D6DBE3"/>
                      </a:solidFill>
                      <a:prstDash val="solid"/>
                      <a:round/>
                      <a:headEnd type="none" w="med" len="med"/>
                      <a:tailEnd type="none" w="med" len="med"/>
                    </a:lnB>
                  </a:tcPr>
                </a:tc>
              </a:tr>
            </a:tbl>
          </a:graphicData>
        </a:graphic>
      </p:graphicFrame>
      <p:sp>
        <p:nvSpPr>
          <p:cNvPr id="17" name="Text 14"/>
          <p:cNvSpPr/>
          <p:nvPr/>
        </p:nvSpPr>
        <p:spPr>
          <a:xfrm>
            <a:off x="457200" y="6537960"/>
            <a:ext cx="7315200" cy="228600"/>
          </a:xfrm>
          <a:prstGeom prst="rect">
            <a:avLst/>
          </a:prstGeom>
          <a:noFill/>
          <a:ln/>
        </p:spPr>
        <p:txBody>
          <a:bodyPr wrap="square" rtlCol="0" anchor="ctr"/>
          <a:lstStyle/>
          <a:p>
            <a:pPr indent="0" marL="0">
              <a:buNone/>
            </a:pPr>
            <a:r>
              <a:rPr lang="en-US" sz="900" dirty="0">
                <a:solidFill>
                  <a:srgbClr val="5A6473"/>
                </a:solidFill>
                <a:latin typeface="Calibri" pitchFamily="34" charset="0"/>
                <a:ea typeface="Calibri" pitchFamily="34" charset="-122"/>
                <a:cs typeface="Calibri" pitchFamily="34" charset="-120"/>
              </a:rPr>
              <a:t>ENMR602 · SIP Ball Classification · Tutorial 10</a:t>
            </a:r>
            <a:endParaRPr lang="en-US" sz="900" dirty="0"/>
          </a:p>
        </p:txBody>
      </p:sp>
      <p:sp>
        <p:nvSpPr>
          <p:cNvPr id="18" name="Text 15"/>
          <p:cNvSpPr/>
          <p:nvPr/>
        </p:nvSpPr>
        <p:spPr>
          <a:xfrm>
            <a:off x="8961120" y="6537960"/>
            <a:ext cx="2743200" cy="228600"/>
          </a:xfrm>
          <a:prstGeom prst="rect">
            <a:avLst/>
          </a:prstGeom>
          <a:noFill/>
          <a:ln/>
        </p:spPr>
        <p:txBody>
          <a:bodyPr wrap="square" rtlCol="0" anchor="ctr"/>
          <a:lstStyle/>
          <a:p>
            <a:pPr algn="r" indent="0" marL="0">
              <a:buNone/>
            </a:pPr>
            <a:r>
              <a:rPr lang="en-US" sz="900" b="1" dirty="0">
                <a:solidFill>
                  <a:srgbClr val="5A6473"/>
                </a:solidFill>
                <a:latin typeface="Calibri" pitchFamily="34" charset="0"/>
                <a:ea typeface="Calibri" pitchFamily="34" charset="-122"/>
                <a:cs typeface="Calibri" pitchFamily="34" charset="-120"/>
              </a:rPr>
              <a:t>Comparison</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502920"/>
          </a:xfrm>
          <a:prstGeom prst="rect">
            <a:avLst/>
          </a:prstGeom>
          <a:solidFill>
            <a:srgbClr val="F4A23C"/>
          </a:solidFill>
          <a:ln w="12700">
            <a:solidFill>
              <a:srgbClr val="F4A23C"/>
            </a:solidFill>
            <a:prstDash val="solid"/>
          </a:ln>
        </p:spPr>
      </p:sp>
      <p:sp>
        <p:nvSpPr>
          <p:cNvPr id="3" name="Text 1"/>
          <p:cNvSpPr/>
          <p:nvPr/>
        </p:nvSpPr>
        <p:spPr>
          <a:xfrm>
            <a:off x="685800" y="320040"/>
            <a:ext cx="11018520" cy="640080"/>
          </a:xfrm>
          <a:prstGeom prst="rect">
            <a:avLst/>
          </a:prstGeom>
          <a:noFill/>
          <a:ln/>
        </p:spPr>
        <p:txBody>
          <a:bodyPr wrap="square" lIns="0" tIns="0" rIns="0" bIns="0" rtlCol="0" anchor="ctr"/>
          <a:lstStyle/>
          <a:p>
            <a:pPr indent="0" marL="0">
              <a:buNone/>
            </a:pPr>
            <a:r>
              <a:rPr lang="en-US" sz="2800" b="1" dirty="0">
                <a:solidFill>
                  <a:srgbClr val="0A2540"/>
                </a:solidFill>
                <a:latin typeface="Calibri" pitchFamily="34" charset="0"/>
                <a:ea typeface="Calibri" pitchFamily="34" charset="-122"/>
                <a:cs typeface="Calibri" pitchFamily="34" charset="-120"/>
              </a:rPr>
              <a:t>Discussion — What Worked, What Didn't</a:t>
            </a:r>
            <a:endParaRPr lang="en-US" sz="2800" dirty="0"/>
          </a:p>
        </p:txBody>
      </p:sp>
      <p:sp>
        <p:nvSpPr>
          <p:cNvPr id="4" name="Text 2"/>
          <p:cNvSpPr/>
          <p:nvPr/>
        </p:nvSpPr>
        <p:spPr>
          <a:xfrm>
            <a:off x="685800" y="914400"/>
            <a:ext cx="11018520" cy="320040"/>
          </a:xfrm>
          <a:prstGeom prst="rect">
            <a:avLst/>
          </a:prstGeom>
          <a:noFill/>
          <a:ln/>
        </p:spPr>
        <p:txBody>
          <a:bodyPr wrap="square" lIns="0" tIns="0" rIns="0" bIns="0" rtlCol="0" anchor="ctr"/>
          <a:lstStyle/>
          <a:p>
            <a:pPr indent="0" marL="0">
              <a:buNone/>
            </a:pPr>
            <a:r>
              <a:rPr lang="en-US" sz="1400" i="1" dirty="0">
                <a:solidFill>
                  <a:srgbClr val="5A6473"/>
                </a:solidFill>
                <a:latin typeface="Calibri" pitchFamily="34" charset="0"/>
                <a:ea typeface="Calibri" pitchFamily="34" charset="-122"/>
                <a:cs typeface="Calibri" pitchFamily="34" charset="-120"/>
              </a:rPr>
              <a:t>Honest reflection from the project</a:t>
            </a:r>
            <a:endParaRPr lang="en-US" sz="1400" dirty="0"/>
          </a:p>
        </p:txBody>
      </p:sp>
      <p:sp>
        <p:nvSpPr>
          <p:cNvPr id="5" name="Shape 3"/>
          <p:cNvSpPr/>
          <p:nvPr/>
        </p:nvSpPr>
        <p:spPr>
          <a:xfrm>
            <a:off x="457200" y="1554480"/>
            <a:ext cx="5577840" cy="2423160"/>
          </a:xfrm>
          <a:prstGeom prst="rect">
            <a:avLst/>
          </a:prstGeom>
          <a:solidFill>
            <a:srgbClr val="E8F5EE"/>
          </a:solidFill>
          <a:ln w="12700">
            <a:solidFill>
              <a:srgbClr val="2E8B57"/>
            </a:solidFill>
            <a:prstDash val="solid"/>
          </a:ln>
        </p:spPr>
      </p:sp>
      <p:sp>
        <p:nvSpPr>
          <p:cNvPr id="6" name="Shape 4"/>
          <p:cNvSpPr/>
          <p:nvPr/>
        </p:nvSpPr>
        <p:spPr>
          <a:xfrm>
            <a:off x="457200" y="1554480"/>
            <a:ext cx="5577840" cy="384048"/>
          </a:xfrm>
          <a:prstGeom prst="rect">
            <a:avLst/>
          </a:prstGeom>
          <a:solidFill>
            <a:srgbClr val="2E8B57"/>
          </a:solidFill>
          <a:ln w="12700">
            <a:solidFill>
              <a:srgbClr val="2E8B57"/>
            </a:solidFill>
            <a:prstDash val="solid"/>
          </a:ln>
        </p:spPr>
      </p:sp>
      <p:sp>
        <p:nvSpPr>
          <p:cNvPr id="7" name="Text 5"/>
          <p:cNvSpPr/>
          <p:nvPr/>
        </p:nvSpPr>
        <p:spPr>
          <a:xfrm>
            <a:off x="594360" y="1554480"/>
            <a:ext cx="530352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What worked</a:t>
            </a:r>
            <a:endParaRPr lang="en-US" sz="1300" dirty="0"/>
          </a:p>
        </p:txBody>
      </p:sp>
      <p:sp>
        <p:nvSpPr>
          <p:cNvPr id="8" name="Text 6"/>
          <p:cNvSpPr/>
          <p:nvPr/>
        </p:nvSpPr>
        <p:spPr>
          <a:xfrm>
            <a:off x="594360" y="2011680"/>
            <a:ext cx="5303520" cy="192024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1A1A1A"/>
                </a:solidFill>
                <a:latin typeface="Calibri" pitchFamily="34" charset="0"/>
                <a:ea typeface="Calibri" pitchFamily="34" charset="-122"/>
                <a:cs typeface="Calibri" pitchFamily="34" charset="-120"/>
              </a:rPr>
              <a:t>Masked color histogram — single strongest feature (88.93% alone)</a:t>
            </a:r>
            <a:endParaRPr lang="en-US" sz="1050" dirty="0"/>
          </a:p>
          <a:p>
            <a:pPr marL="342900" indent="-342900">
              <a:spcAft>
                <a:spcPts val="400"/>
              </a:spcAft>
              <a:buSzPct val="100000"/>
              <a:buChar char="•"/>
            </a:pPr>
            <a:r>
              <a:rPr lang="en-US" sz="1050" dirty="0">
                <a:solidFill>
                  <a:srgbClr val="1A1A1A"/>
                </a:solidFill>
                <a:latin typeface="Calibri" pitchFamily="34" charset="0"/>
                <a:ea typeface="Calibri" pitchFamily="34" charset="-122"/>
                <a:cs typeface="Calibri" pitchFamily="34" charset="-120"/>
              </a:rPr>
              <a:t>LBP for fine texture (+1.4 pp on RF)</a:t>
            </a:r>
            <a:endParaRPr lang="en-US" sz="1050" dirty="0"/>
          </a:p>
          <a:p>
            <a:pPr marL="342900" indent="-342900">
              <a:spcAft>
                <a:spcPts val="400"/>
              </a:spcAft>
              <a:buSzPct val="100000"/>
              <a:buChar char="•"/>
            </a:pPr>
            <a:r>
              <a:rPr lang="en-US" sz="1050" dirty="0">
                <a:solidFill>
                  <a:srgbClr val="1A1A1A"/>
                </a:solidFill>
                <a:latin typeface="Calibri" pitchFamily="34" charset="0"/>
                <a:ea typeface="Calibri" pitchFamily="34" charset="-122"/>
                <a:cs typeface="Calibri" pitchFamily="34" charset="-120"/>
              </a:rPr>
              <a:t>Multi-strategy segmenter — only 0.9% catastrophic mask failures</a:t>
            </a:r>
            <a:endParaRPr lang="en-US" sz="1050" dirty="0"/>
          </a:p>
          <a:p>
            <a:pPr marL="342900" indent="-342900">
              <a:spcAft>
                <a:spcPts val="400"/>
              </a:spcAft>
              <a:buSzPct val="100000"/>
              <a:buChar char="•"/>
            </a:pPr>
            <a:r>
              <a:rPr lang="en-US" sz="1050" dirty="0">
                <a:solidFill>
                  <a:srgbClr val="1A1A1A"/>
                </a:solidFill>
                <a:latin typeface="Calibri" pitchFamily="34" charset="0"/>
                <a:ea typeface="Calibri" pitchFamily="34" charset="-122"/>
                <a:cs typeface="Calibri" pitchFamily="34" charset="-120"/>
              </a:rPr>
              <a:t>Random Forest models non-linear feature interactions naturally</a:t>
            </a:r>
            <a:endParaRPr lang="en-US" sz="1050" dirty="0"/>
          </a:p>
          <a:p>
            <a:pPr marL="342900" indent="-342900">
              <a:spcAft>
                <a:spcPts val="400"/>
              </a:spcAft>
              <a:buSzPct val="100000"/>
              <a:buChar char="•"/>
            </a:pPr>
            <a:r>
              <a:rPr lang="en-US" sz="1050" dirty="0">
                <a:solidFill>
                  <a:srgbClr val="1A1A1A"/>
                </a:solidFill>
                <a:latin typeface="Calibri" pitchFamily="34" charset="0"/>
                <a:ea typeface="Calibri" pitchFamily="34" charset="-122"/>
                <a:cs typeface="Calibri" pitchFamily="34" charset="-120"/>
              </a:rPr>
              <a:t>Residual-SE blocks gave stable training all the way to 97.58%</a:t>
            </a:r>
            <a:endParaRPr lang="en-US" sz="1050" dirty="0"/>
          </a:p>
        </p:txBody>
      </p:sp>
      <p:sp>
        <p:nvSpPr>
          <p:cNvPr id="9" name="Shape 7"/>
          <p:cNvSpPr/>
          <p:nvPr/>
        </p:nvSpPr>
        <p:spPr>
          <a:xfrm>
            <a:off x="6217920" y="1554480"/>
            <a:ext cx="5577840" cy="2423160"/>
          </a:xfrm>
          <a:prstGeom prst="rect">
            <a:avLst/>
          </a:prstGeom>
          <a:solidFill>
            <a:srgbClr val="FBEAEA"/>
          </a:solidFill>
          <a:ln w="12700">
            <a:solidFill>
              <a:srgbClr val="D64545"/>
            </a:solidFill>
            <a:prstDash val="solid"/>
          </a:ln>
        </p:spPr>
      </p:sp>
      <p:sp>
        <p:nvSpPr>
          <p:cNvPr id="10" name="Shape 8"/>
          <p:cNvSpPr/>
          <p:nvPr/>
        </p:nvSpPr>
        <p:spPr>
          <a:xfrm>
            <a:off x="6217920" y="1554480"/>
            <a:ext cx="5577840" cy="384048"/>
          </a:xfrm>
          <a:prstGeom prst="rect">
            <a:avLst/>
          </a:prstGeom>
          <a:solidFill>
            <a:srgbClr val="D64545"/>
          </a:solidFill>
          <a:ln w="12700">
            <a:solidFill>
              <a:srgbClr val="D64545"/>
            </a:solidFill>
            <a:prstDash val="solid"/>
          </a:ln>
        </p:spPr>
      </p:sp>
      <p:sp>
        <p:nvSpPr>
          <p:cNvPr id="11" name="Text 9"/>
          <p:cNvSpPr/>
          <p:nvPr/>
        </p:nvSpPr>
        <p:spPr>
          <a:xfrm>
            <a:off x="6355080" y="1554480"/>
            <a:ext cx="530352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What didn't work</a:t>
            </a:r>
            <a:endParaRPr lang="en-US" sz="1300" dirty="0"/>
          </a:p>
        </p:txBody>
      </p:sp>
      <p:sp>
        <p:nvSpPr>
          <p:cNvPr id="12" name="Text 10"/>
          <p:cNvSpPr/>
          <p:nvPr/>
        </p:nvSpPr>
        <p:spPr>
          <a:xfrm>
            <a:off x="6355080" y="2011680"/>
            <a:ext cx="5303520" cy="192024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1A1A1A"/>
                </a:solidFill>
                <a:latin typeface="Calibri" pitchFamily="34" charset="0"/>
                <a:ea typeface="Calibri" pitchFamily="34" charset="-122"/>
                <a:cs typeface="Calibri" pitchFamily="34" charset="-120"/>
              </a:rPr>
              <a:t>hog_center channel added near-zero info (ablation: −0.69 pp)</a:t>
            </a:r>
            <a:endParaRPr lang="en-US" sz="1050" dirty="0"/>
          </a:p>
          <a:p>
            <a:pPr marL="342900" indent="-342900">
              <a:spcAft>
                <a:spcPts val="400"/>
              </a:spcAft>
              <a:buSzPct val="100000"/>
              <a:buChar char="•"/>
            </a:pPr>
            <a:r>
              <a:rPr lang="en-US" sz="1050" dirty="0">
                <a:solidFill>
                  <a:srgbClr val="1A1A1A"/>
                </a:solidFill>
                <a:latin typeface="Calibri" pitchFamily="34" charset="0"/>
                <a:ea typeface="Calibri" pitchFamily="34" charset="-122"/>
                <a:cs typeface="Calibri" pitchFamily="34" charset="-120"/>
              </a:rPr>
              <a:t>RBF SVM infeasible at full dimensionality (PCA was mandatory)</a:t>
            </a:r>
            <a:endParaRPr lang="en-US" sz="1050" dirty="0"/>
          </a:p>
          <a:p>
            <a:pPr marL="342900" indent="-342900">
              <a:spcAft>
                <a:spcPts val="400"/>
              </a:spcAft>
              <a:buSzPct val="100000"/>
              <a:buChar char="•"/>
            </a:pPr>
            <a:r>
              <a:rPr lang="en-US" sz="1050" dirty="0">
                <a:solidFill>
                  <a:srgbClr val="1A1A1A"/>
                </a:solidFill>
                <a:latin typeface="Calibri" pitchFamily="34" charset="0"/>
                <a:ea typeface="Calibri" pitchFamily="34" charset="-122"/>
                <a:cs typeface="Calibri" pitchFamily="34" charset="-120"/>
              </a:rPr>
              <a:t>Pure K-means (M1 plan) failed on white-on-white objects</a:t>
            </a:r>
            <a:endParaRPr lang="en-US" sz="1050" dirty="0"/>
          </a:p>
          <a:p>
            <a:pPr marL="342900" indent="-342900">
              <a:spcAft>
                <a:spcPts val="400"/>
              </a:spcAft>
              <a:buSzPct val="100000"/>
              <a:buChar char="•"/>
            </a:pPr>
            <a:r>
              <a:rPr lang="en-US" sz="1050" dirty="0">
                <a:solidFill>
                  <a:srgbClr val="1A1A1A"/>
                </a:solidFill>
                <a:latin typeface="Calibri" pitchFamily="34" charset="0"/>
                <a:ea typeface="Calibri" pitchFamily="34" charset="-122"/>
                <a:cs typeface="Calibri" pitchFamily="34" charset="-120"/>
              </a:rPr>
              <a:t>Single global HSV threshold caught only 30% of the training set</a:t>
            </a:r>
            <a:endParaRPr lang="en-US" sz="1050" dirty="0"/>
          </a:p>
          <a:p>
            <a:pPr marL="342900" indent="-342900">
              <a:spcAft>
                <a:spcPts val="400"/>
              </a:spcAft>
              <a:buSzPct val="100000"/>
              <a:buChar char="•"/>
            </a:pPr>
            <a:r>
              <a:rPr lang="en-US" sz="1050" dirty="0">
                <a:solidFill>
                  <a:srgbClr val="1A1A1A"/>
                </a:solidFill>
                <a:latin typeface="Calibri" pitchFamily="34" charset="0"/>
                <a:ea typeface="Calibri" pitchFamily="34" charset="-122"/>
                <a:cs typeface="Calibri" pitchFamily="34" charset="-120"/>
              </a:rPr>
              <a:t>Linear classifiers plateaued around 86% — needed RF/CNN to break through</a:t>
            </a:r>
            <a:endParaRPr lang="en-US" sz="1050" dirty="0"/>
          </a:p>
        </p:txBody>
      </p:sp>
      <p:sp>
        <p:nvSpPr>
          <p:cNvPr id="13" name="Shape 11"/>
          <p:cNvSpPr/>
          <p:nvPr/>
        </p:nvSpPr>
        <p:spPr>
          <a:xfrm>
            <a:off x="457200" y="4160520"/>
            <a:ext cx="5577840" cy="2423160"/>
          </a:xfrm>
          <a:prstGeom prst="rect">
            <a:avLst/>
          </a:prstGeom>
          <a:solidFill>
            <a:srgbClr val="FFF4E6"/>
          </a:solidFill>
          <a:ln w="12700">
            <a:solidFill>
              <a:srgbClr val="F4A23C"/>
            </a:solidFill>
            <a:prstDash val="solid"/>
          </a:ln>
        </p:spPr>
      </p:sp>
      <p:sp>
        <p:nvSpPr>
          <p:cNvPr id="14" name="Shape 12"/>
          <p:cNvSpPr/>
          <p:nvPr/>
        </p:nvSpPr>
        <p:spPr>
          <a:xfrm>
            <a:off x="457200" y="4160520"/>
            <a:ext cx="5577840" cy="384048"/>
          </a:xfrm>
          <a:prstGeom prst="rect">
            <a:avLst/>
          </a:prstGeom>
          <a:solidFill>
            <a:srgbClr val="F4A23C"/>
          </a:solidFill>
          <a:ln w="12700">
            <a:solidFill>
              <a:srgbClr val="F4A23C"/>
            </a:solidFill>
            <a:prstDash val="solid"/>
          </a:ln>
        </p:spPr>
      </p:sp>
      <p:sp>
        <p:nvSpPr>
          <p:cNvPr id="15" name="Text 13"/>
          <p:cNvSpPr/>
          <p:nvPr/>
        </p:nvSpPr>
        <p:spPr>
          <a:xfrm>
            <a:off x="594360" y="4160520"/>
            <a:ext cx="530352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Where errors remain</a:t>
            </a:r>
            <a:endParaRPr lang="en-US" sz="1300" dirty="0"/>
          </a:p>
        </p:txBody>
      </p:sp>
      <p:sp>
        <p:nvSpPr>
          <p:cNvPr id="16" name="Text 14"/>
          <p:cNvSpPr/>
          <p:nvPr/>
        </p:nvSpPr>
        <p:spPr>
          <a:xfrm>
            <a:off x="594360" y="4617720"/>
            <a:ext cx="5303520" cy="192024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1A1A1A"/>
                </a:solidFill>
                <a:latin typeface="Calibri" pitchFamily="34" charset="0"/>
                <a:ea typeface="Calibri" pitchFamily="34" charset="-122"/>
                <a:cs typeface="Calibri" pitchFamily="34" charset="-120"/>
              </a:rPr>
              <a:t>M2: basketball ↔ american_football (brown leather, similar pebbling)</a:t>
            </a:r>
            <a:endParaRPr lang="en-US" sz="1050" dirty="0"/>
          </a:p>
          <a:p>
            <a:pPr marL="342900" indent="-342900">
              <a:spcAft>
                <a:spcPts val="400"/>
              </a:spcAft>
              <a:buSzPct val="100000"/>
              <a:buChar char="•"/>
            </a:pPr>
            <a:r>
              <a:rPr lang="en-US" sz="1050" dirty="0">
                <a:solidFill>
                  <a:srgbClr val="1A1A1A"/>
                </a:solidFill>
                <a:latin typeface="Calibri" pitchFamily="34" charset="0"/>
                <a:ea typeface="Calibri" pitchFamily="34" charset="-122"/>
                <a:cs typeface="Calibri" pitchFamily="34" charset="-120"/>
              </a:rPr>
              <a:t>M3: american_football ↔ baseball (white/leather, atypical viewpoints)</a:t>
            </a:r>
            <a:endParaRPr lang="en-US" sz="1050" dirty="0"/>
          </a:p>
          <a:p>
            <a:pPr marL="342900" indent="-342900">
              <a:spcAft>
                <a:spcPts val="400"/>
              </a:spcAft>
              <a:buSzPct val="100000"/>
              <a:buChar char="•"/>
            </a:pPr>
            <a:r>
              <a:rPr lang="en-US" sz="1050" dirty="0">
                <a:solidFill>
                  <a:srgbClr val="1A1A1A"/>
                </a:solidFill>
                <a:latin typeface="Calibri" pitchFamily="34" charset="0"/>
                <a:ea typeface="Calibri" pitchFamily="34" charset="-122"/>
                <a:cs typeface="Calibri" pitchFamily="34" charset="-120"/>
              </a:rPr>
              <a:t>Some baseballs predicted as american_football (sport image angles)</a:t>
            </a:r>
            <a:endParaRPr lang="en-US" sz="1050" dirty="0"/>
          </a:p>
          <a:p>
            <a:pPr marL="342900" indent="-342900">
              <a:spcAft>
                <a:spcPts val="400"/>
              </a:spcAft>
              <a:buSzPct val="100000"/>
              <a:buChar char="•"/>
            </a:pPr>
            <a:r>
              <a:rPr lang="en-US" sz="1050" dirty="0">
                <a:solidFill>
                  <a:srgbClr val="1A1A1A"/>
                </a:solidFill>
                <a:latin typeface="Calibri" pitchFamily="34" charset="0"/>
                <a:ea typeface="Calibri" pitchFamily="34" charset="-122"/>
                <a:cs typeface="Calibri" pitchFamily="34" charset="-120"/>
              </a:rPr>
              <a:t>Top-3 probability of CNN remains very high for most errors (&gt;97%)</a:t>
            </a:r>
            <a:endParaRPr lang="en-US" sz="1050" dirty="0"/>
          </a:p>
        </p:txBody>
      </p:sp>
      <p:sp>
        <p:nvSpPr>
          <p:cNvPr id="17" name="Shape 15"/>
          <p:cNvSpPr/>
          <p:nvPr/>
        </p:nvSpPr>
        <p:spPr>
          <a:xfrm>
            <a:off x="6217920" y="4160520"/>
            <a:ext cx="5577840" cy="2423160"/>
          </a:xfrm>
          <a:prstGeom prst="rect">
            <a:avLst/>
          </a:prstGeom>
          <a:solidFill>
            <a:srgbClr val="E6F7F4"/>
          </a:solidFill>
          <a:ln w="12700">
            <a:solidFill>
              <a:srgbClr val="1AA39E"/>
            </a:solidFill>
            <a:prstDash val="solid"/>
          </a:ln>
        </p:spPr>
      </p:sp>
      <p:sp>
        <p:nvSpPr>
          <p:cNvPr id="18" name="Shape 16"/>
          <p:cNvSpPr/>
          <p:nvPr/>
        </p:nvSpPr>
        <p:spPr>
          <a:xfrm>
            <a:off x="6217920" y="4160520"/>
            <a:ext cx="5577840" cy="384048"/>
          </a:xfrm>
          <a:prstGeom prst="rect">
            <a:avLst/>
          </a:prstGeom>
          <a:solidFill>
            <a:srgbClr val="1AA39E"/>
          </a:solidFill>
          <a:ln w="12700">
            <a:solidFill>
              <a:srgbClr val="1AA39E"/>
            </a:solidFill>
            <a:prstDash val="solid"/>
          </a:ln>
        </p:spPr>
      </p:sp>
      <p:sp>
        <p:nvSpPr>
          <p:cNvPr id="19" name="Text 17"/>
          <p:cNvSpPr/>
          <p:nvPr/>
        </p:nvSpPr>
        <p:spPr>
          <a:xfrm>
            <a:off x="6355080" y="4160520"/>
            <a:ext cx="530352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Engineering lessons</a:t>
            </a:r>
            <a:endParaRPr lang="en-US" sz="1300" dirty="0"/>
          </a:p>
        </p:txBody>
      </p:sp>
      <p:sp>
        <p:nvSpPr>
          <p:cNvPr id="20" name="Text 18"/>
          <p:cNvSpPr/>
          <p:nvPr/>
        </p:nvSpPr>
        <p:spPr>
          <a:xfrm>
            <a:off x="6355080" y="4617720"/>
            <a:ext cx="5303520" cy="192024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1A1A1A"/>
                </a:solidFill>
                <a:latin typeface="Calibri" pitchFamily="34" charset="0"/>
                <a:ea typeface="Calibri" pitchFamily="34" charset="-122"/>
                <a:cs typeface="Calibri" pitchFamily="34" charset="-120"/>
              </a:rPr>
              <a:t>Always inspect data before designing thresholds (per-class HSV stats)</a:t>
            </a:r>
            <a:endParaRPr lang="en-US" sz="1050" dirty="0"/>
          </a:p>
          <a:p>
            <a:pPr marL="342900" indent="-342900">
              <a:spcAft>
                <a:spcPts val="400"/>
              </a:spcAft>
              <a:buSzPct val="100000"/>
              <a:buChar char="•"/>
            </a:pPr>
            <a:r>
              <a:rPr lang="en-US" sz="1050" dirty="0">
                <a:solidFill>
                  <a:srgbClr val="1A1A1A"/>
                </a:solidFill>
                <a:latin typeface="Calibri" pitchFamily="34" charset="0"/>
                <a:ea typeface="Calibri" pitchFamily="34" charset="-122"/>
                <a:cs typeface="Calibri" pitchFamily="34" charset="-120"/>
              </a:rPr>
              <a:t>Keep test set sealed; use stratified CV only on training data</a:t>
            </a:r>
            <a:endParaRPr lang="en-US" sz="1050" dirty="0"/>
          </a:p>
          <a:p>
            <a:pPr marL="342900" indent="-342900">
              <a:spcAft>
                <a:spcPts val="400"/>
              </a:spcAft>
              <a:buSzPct val="100000"/>
              <a:buChar char="•"/>
            </a:pPr>
            <a:r>
              <a:rPr lang="en-US" sz="1050" dirty="0">
                <a:solidFill>
                  <a:srgbClr val="1A1A1A"/>
                </a:solidFill>
                <a:latin typeface="Calibri" pitchFamily="34" charset="0"/>
                <a:ea typeface="Calibri" pitchFamily="34" charset="-122"/>
                <a:cs typeface="Calibri" pitchFamily="34" charset="-120"/>
              </a:rPr>
              <a:t>Track adjustments to the original plan and justify each one</a:t>
            </a:r>
            <a:endParaRPr lang="en-US" sz="1050" dirty="0"/>
          </a:p>
          <a:p>
            <a:pPr marL="342900" indent="-342900">
              <a:spcAft>
                <a:spcPts val="400"/>
              </a:spcAft>
              <a:buSzPct val="100000"/>
              <a:buChar char="•"/>
            </a:pPr>
            <a:r>
              <a:rPr lang="en-US" sz="1050" dirty="0">
                <a:solidFill>
                  <a:srgbClr val="1A1A1A"/>
                </a:solidFill>
                <a:latin typeface="Calibri" pitchFamily="34" charset="0"/>
                <a:ea typeface="Calibri" pitchFamily="34" charset="-122"/>
                <a:cs typeface="Calibri" pitchFamily="34" charset="-120"/>
              </a:rPr>
              <a:t>When classical features plateau, switch to learned features</a:t>
            </a:r>
            <a:endParaRPr lang="en-US" sz="1050" dirty="0"/>
          </a:p>
          <a:p>
            <a:pPr marL="342900" indent="-342900">
              <a:spcAft>
                <a:spcPts val="400"/>
              </a:spcAft>
              <a:buSzPct val="100000"/>
              <a:buChar char="•"/>
            </a:pPr>
            <a:r>
              <a:rPr lang="en-US" sz="1050" dirty="0">
                <a:solidFill>
                  <a:srgbClr val="1A1A1A"/>
                </a:solidFill>
                <a:latin typeface="Calibri" pitchFamily="34" charset="0"/>
                <a:ea typeface="Calibri" pitchFamily="34" charset="-122"/>
                <a:cs typeface="Calibri" pitchFamily="34" charset="-120"/>
              </a:rPr>
              <a:t>Profile compute early — RBF SVM at 3,584-d was a non-starter</a:t>
            </a:r>
            <a:endParaRPr lang="en-US" sz="1050" dirty="0"/>
          </a:p>
        </p:txBody>
      </p:sp>
      <p:sp>
        <p:nvSpPr>
          <p:cNvPr id="21" name="Text 19"/>
          <p:cNvSpPr/>
          <p:nvPr/>
        </p:nvSpPr>
        <p:spPr>
          <a:xfrm>
            <a:off x="457200" y="6537960"/>
            <a:ext cx="7315200" cy="228600"/>
          </a:xfrm>
          <a:prstGeom prst="rect">
            <a:avLst/>
          </a:prstGeom>
          <a:noFill/>
          <a:ln/>
        </p:spPr>
        <p:txBody>
          <a:bodyPr wrap="square" rtlCol="0" anchor="ctr"/>
          <a:lstStyle/>
          <a:p>
            <a:pPr indent="0" marL="0">
              <a:buNone/>
            </a:pPr>
            <a:r>
              <a:rPr lang="en-US" sz="900" dirty="0">
                <a:solidFill>
                  <a:srgbClr val="5A6473"/>
                </a:solidFill>
                <a:latin typeface="Calibri" pitchFamily="34" charset="0"/>
                <a:ea typeface="Calibri" pitchFamily="34" charset="-122"/>
                <a:cs typeface="Calibri" pitchFamily="34" charset="-120"/>
              </a:rPr>
              <a:t>ENMR602 · SIP Ball Classification · Tutorial 10</a:t>
            </a:r>
            <a:endParaRPr lang="en-US" sz="900" dirty="0"/>
          </a:p>
        </p:txBody>
      </p:sp>
      <p:sp>
        <p:nvSpPr>
          <p:cNvPr id="22" name="Text 20"/>
          <p:cNvSpPr/>
          <p:nvPr/>
        </p:nvSpPr>
        <p:spPr>
          <a:xfrm>
            <a:off x="8961120" y="6537960"/>
            <a:ext cx="2743200" cy="228600"/>
          </a:xfrm>
          <a:prstGeom prst="rect">
            <a:avLst/>
          </a:prstGeom>
          <a:noFill/>
          <a:ln/>
        </p:spPr>
        <p:txBody>
          <a:bodyPr wrap="square" rtlCol="0" anchor="ctr"/>
          <a:lstStyle/>
          <a:p>
            <a:pPr algn="r" indent="0" marL="0">
              <a:buNone/>
            </a:pPr>
            <a:r>
              <a:rPr lang="en-US" sz="900" b="1" dirty="0">
                <a:solidFill>
                  <a:srgbClr val="5A6473"/>
                </a:solidFill>
                <a:latin typeface="Calibri" pitchFamily="34" charset="0"/>
                <a:ea typeface="Calibri" pitchFamily="34" charset="-122"/>
                <a:cs typeface="Calibri" pitchFamily="34" charset="-120"/>
              </a:rPr>
              <a:t>Discussion</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502920"/>
          </a:xfrm>
          <a:prstGeom prst="rect">
            <a:avLst/>
          </a:prstGeom>
          <a:solidFill>
            <a:srgbClr val="F4A23C"/>
          </a:solidFill>
          <a:ln w="12700">
            <a:solidFill>
              <a:srgbClr val="F4A23C"/>
            </a:solidFill>
            <a:prstDash val="solid"/>
          </a:ln>
        </p:spPr>
      </p:sp>
      <p:sp>
        <p:nvSpPr>
          <p:cNvPr id="3" name="Text 1"/>
          <p:cNvSpPr/>
          <p:nvPr/>
        </p:nvSpPr>
        <p:spPr>
          <a:xfrm>
            <a:off x="685800" y="320040"/>
            <a:ext cx="11018520" cy="640080"/>
          </a:xfrm>
          <a:prstGeom prst="rect">
            <a:avLst/>
          </a:prstGeom>
          <a:noFill/>
          <a:ln/>
        </p:spPr>
        <p:txBody>
          <a:bodyPr wrap="square" lIns="0" tIns="0" rIns="0" bIns="0" rtlCol="0" anchor="ctr"/>
          <a:lstStyle/>
          <a:p>
            <a:pPr indent="0" marL="0">
              <a:buNone/>
            </a:pPr>
            <a:r>
              <a:rPr lang="en-US" sz="2800" b="1" dirty="0">
                <a:solidFill>
                  <a:srgbClr val="0A2540"/>
                </a:solidFill>
                <a:latin typeface="Calibri" pitchFamily="34" charset="0"/>
                <a:ea typeface="Calibri" pitchFamily="34" charset="-122"/>
                <a:cs typeface="Calibri" pitchFamily="34" charset="-120"/>
              </a:rPr>
              <a:t>Anticipated Q&amp;A — Theory &amp; Design</a:t>
            </a:r>
            <a:endParaRPr lang="en-US" sz="2800" dirty="0"/>
          </a:p>
        </p:txBody>
      </p:sp>
      <p:sp>
        <p:nvSpPr>
          <p:cNvPr id="4" name="Text 2"/>
          <p:cNvSpPr/>
          <p:nvPr/>
        </p:nvSpPr>
        <p:spPr>
          <a:xfrm>
            <a:off x="685800" y="914400"/>
            <a:ext cx="11018520" cy="320040"/>
          </a:xfrm>
          <a:prstGeom prst="rect">
            <a:avLst/>
          </a:prstGeom>
          <a:noFill/>
          <a:ln/>
        </p:spPr>
        <p:txBody>
          <a:bodyPr wrap="square" lIns="0" tIns="0" rIns="0" bIns="0" rtlCol="0" anchor="ctr"/>
          <a:lstStyle/>
          <a:p>
            <a:pPr indent="0" marL="0">
              <a:buNone/>
            </a:pPr>
            <a:r>
              <a:rPr lang="en-US" sz="1400" i="1" dirty="0">
                <a:solidFill>
                  <a:srgbClr val="5A6473"/>
                </a:solidFill>
                <a:latin typeface="Calibri" pitchFamily="34" charset="0"/>
                <a:ea typeface="Calibri" pitchFamily="34" charset="-122"/>
                <a:cs typeface="Calibri" pitchFamily="34" charset="-120"/>
              </a:rPr>
              <a:t>Be ready to defend every choice</a:t>
            </a:r>
            <a:endParaRPr lang="en-US" sz="1400" dirty="0"/>
          </a:p>
        </p:txBody>
      </p:sp>
      <p:sp>
        <p:nvSpPr>
          <p:cNvPr id="5" name="Shape 3"/>
          <p:cNvSpPr/>
          <p:nvPr/>
        </p:nvSpPr>
        <p:spPr>
          <a:xfrm>
            <a:off x="457200" y="1554480"/>
            <a:ext cx="457200" cy="457200"/>
          </a:xfrm>
          <a:prstGeom prst="ellipse">
            <a:avLst/>
          </a:prstGeom>
          <a:solidFill>
            <a:srgbClr val="0A2540"/>
          </a:solidFill>
          <a:ln w="12700">
            <a:solidFill>
              <a:srgbClr val="0A2540"/>
            </a:solidFill>
            <a:prstDash val="solid"/>
          </a:ln>
        </p:spPr>
      </p:sp>
      <p:sp>
        <p:nvSpPr>
          <p:cNvPr id="6" name="Text 4"/>
          <p:cNvSpPr/>
          <p:nvPr/>
        </p:nvSpPr>
        <p:spPr>
          <a:xfrm>
            <a:off x="457200" y="1554480"/>
            <a:ext cx="457200" cy="457200"/>
          </a:xfrm>
          <a:prstGeom prst="rect">
            <a:avLst/>
          </a:prstGeom>
          <a:noFill/>
          <a:ln/>
        </p:spPr>
        <p:txBody>
          <a:bodyPr wrap="square" lIns="0" tIns="0" rIns="0" bIns="0" rtlCol="0" anchor="ctr"/>
          <a:lstStyle/>
          <a:p>
            <a:pPr algn="ctr" indent="0" marL="0">
              <a:buNone/>
            </a:pPr>
            <a:r>
              <a:rPr lang="en-US" sz="1400" b="1" dirty="0">
                <a:solidFill>
                  <a:srgbClr val="F4A23C"/>
                </a:solidFill>
                <a:latin typeface="Calibri" pitchFamily="34" charset="0"/>
                <a:ea typeface="Calibri" pitchFamily="34" charset="-122"/>
                <a:cs typeface="Calibri" pitchFamily="34" charset="-120"/>
              </a:rPr>
              <a:t>Q</a:t>
            </a:r>
            <a:endParaRPr lang="en-US" sz="1400" dirty="0"/>
          </a:p>
        </p:txBody>
      </p:sp>
      <p:sp>
        <p:nvSpPr>
          <p:cNvPr id="7" name="Text 5"/>
          <p:cNvSpPr/>
          <p:nvPr/>
        </p:nvSpPr>
        <p:spPr>
          <a:xfrm>
            <a:off x="1005840" y="1508760"/>
            <a:ext cx="10607040" cy="457200"/>
          </a:xfrm>
          <a:prstGeom prst="rect">
            <a:avLst/>
          </a:prstGeom>
          <a:noFill/>
          <a:ln/>
        </p:spPr>
        <p:txBody>
          <a:bodyPr wrap="square" lIns="0" tIns="0" rIns="0" bIns="0" rtlCol="0" anchor="ctr"/>
          <a:lstStyle/>
          <a:p>
            <a:pPr indent="0" marL="0">
              <a:buNone/>
            </a:pPr>
            <a:r>
              <a:rPr lang="en-US" sz="1300" b="1" dirty="0">
                <a:solidFill>
                  <a:srgbClr val="0A2540"/>
                </a:solidFill>
                <a:latin typeface="Calibri" pitchFamily="34" charset="0"/>
                <a:ea typeface="Calibri" pitchFamily="34" charset="-122"/>
                <a:cs typeface="Calibri" pitchFamily="34" charset="-120"/>
              </a:rPr>
              <a:t>Why HSV instead of RGB for segmentation?</a:t>
            </a:r>
            <a:endParaRPr lang="en-US" sz="1300" dirty="0"/>
          </a:p>
        </p:txBody>
      </p:sp>
      <p:sp>
        <p:nvSpPr>
          <p:cNvPr id="8" name="Shape 6"/>
          <p:cNvSpPr/>
          <p:nvPr/>
        </p:nvSpPr>
        <p:spPr>
          <a:xfrm>
            <a:off x="1005840" y="1965960"/>
            <a:ext cx="54864" cy="640080"/>
          </a:xfrm>
          <a:prstGeom prst="rect">
            <a:avLst/>
          </a:prstGeom>
          <a:solidFill>
            <a:srgbClr val="F4A23C"/>
          </a:solidFill>
          <a:ln w="12700">
            <a:solidFill>
              <a:srgbClr val="F4A23C"/>
            </a:solidFill>
            <a:prstDash val="solid"/>
          </a:ln>
        </p:spPr>
      </p:sp>
      <p:sp>
        <p:nvSpPr>
          <p:cNvPr id="9" name="Text 7"/>
          <p:cNvSpPr/>
          <p:nvPr/>
        </p:nvSpPr>
        <p:spPr>
          <a:xfrm>
            <a:off x="1143000" y="1965960"/>
            <a:ext cx="10515600" cy="685800"/>
          </a:xfrm>
          <a:prstGeom prst="rect">
            <a:avLst/>
          </a:prstGeom>
          <a:noFill/>
          <a:ln/>
        </p:spPr>
        <p:txBody>
          <a:bodyPr wrap="square" lIns="0" tIns="0" rIns="0" bIns="0" rtlCol="0" anchor="ctr"/>
          <a:lstStyle/>
          <a:p>
            <a:pPr indent="0" marL="0">
              <a:buNone/>
            </a:pPr>
            <a:r>
              <a:rPr lang="en-US" sz="1050" i="1" dirty="0">
                <a:solidFill>
                  <a:srgbClr val="1A1A1A"/>
                </a:solidFill>
                <a:latin typeface="Calibri" pitchFamily="34" charset="0"/>
                <a:ea typeface="Calibri" pitchFamily="34" charset="-122"/>
                <a:cs typeface="Calibri" pitchFamily="34" charset="-120"/>
              </a:rPr>
              <a:t>RGB couples colour with brightness — the same physical colour produces different (R,G,B) under different lighting. HSV isolates Hue (pure colour) from Value (brightness), so a single hue range stays valid across illumination changes. The hue angle also maps cleanly onto our class colours.</a:t>
            </a:r>
            <a:endParaRPr lang="en-US" sz="1050" dirty="0"/>
          </a:p>
        </p:txBody>
      </p:sp>
      <p:sp>
        <p:nvSpPr>
          <p:cNvPr id="10" name="Shape 8"/>
          <p:cNvSpPr/>
          <p:nvPr/>
        </p:nvSpPr>
        <p:spPr>
          <a:xfrm>
            <a:off x="457200" y="2788920"/>
            <a:ext cx="457200" cy="457200"/>
          </a:xfrm>
          <a:prstGeom prst="ellipse">
            <a:avLst/>
          </a:prstGeom>
          <a:solidFill>
            <a:srgbClr val="0A2540"/>
          </a:solidFill>
          <a:ln w="12700">
            <a:solidFill>
              <a:srgbClr val="0A2540"/>
            </a:solidFill>
            <a:prstDash val="solid"/>
          </a:ln>
        </p:spPr>
      </p:sp>
      <p:sp>
        <p:nvSpPr>
          <p:cNvPr id="11" name="Text 9"/>
          <p:cNvSpPr/>
          <p:nvPr/>
        </p:nvSpPr>
        <p:spPr>
          <a:xfrm>
            <a:off x="457200" y="2788920"/>
            <a:ext cx="457200" cy="457200"/>
          </a:xfrm>
          <a:prstGeom prst="rect">
            <a:avLst/>
          </a:prstGeom>
          <a:noFill/>
          <a:ln/>
        </p:spPr>
        <p:txBody>
          <a:bodyPr wrap="square" lIns="0" tIns="0" rIns="0" bIns="0" rtlCol="0" anchor="ctr"/>
          <a:lstStyle/>
          <a:p>
            <a:pPr algn="ctr" indent="0" marL="0">
              <a:buNone/>
            </a:pPr>
            <a:r>
              <a:rPr lang="en-US" sz="1400" b="1" dirty="0">
                <a:solidFill>
                  <a:srgbClr val="F4A23C"/>
                </a:solidFill>
                <a:latin typeface="Calibri" pitchFamily="34" charset="0"/>
                <a:ea typeface="Calibri" pitchFamily="34" charset="-122"/>
                <a:cs typeface="Calibri" pitchFamily="34" charset="-120"/>
              </a:rPr>
              <a:t>Q</a:t>
            </a:r>
            <a:endParaRPr lang="en-US" sz="1400" dirty="0"/>
          </a:p>
        </p:txBody>
      </p:sp>
      <p:sp>
        <p:nvSpPr>
          <p:cNvPr id="12" name="Text 10"/>
          <p:cNvSpPr/>
          <p:nvPr/>
        </p:nvSpPr>
        <p:spPr>
          <a:xfrm>
            <a:off x="1005840" y="2743200"/>
            <a:ext cx="10607040" cy="457200"/>
          </a:xfrm>
          <a:prstGeom prst="rect">
            <a:avLst/>
          </a:prstGeom>
          <a:noFill/>
          <a:ln/>
        </p:spPr>
        <p:txBody>
          <a:bodyPr wrap="square" lIns="0" tIns="0" rIns="0" bIns="0" rtlCol="0" anchor="ctr"/>
          <a:lstStyle/>
          <a:p>
            <a:pPr indent="0" marL="0">
              <a:buNone/>
            </a:pPr>
            <a:r>
              <a:rPr lang="en-US" sz="1300" b="1" dirty="0">
                <a:solidFill>
                  <a:srgbClr val="0A2540"/>
                </a:solidFill>
                <a:latin typeface="Calibri" pitchFamily="34" charset="0"/>
                <a:ea typeface="Calibri" pitchFamily="34" charset="-122"/>
                <a:cs typeface="Calibri" pitchFamily="34" charset="-120"/>
              </a:rPr>
              <a:t>Why did the masked colour histogram dominate the ablation?</a:t>
            </a:r>
            <a:endParaRPr lang="en-US" sz="1300" dirty="0"/>
          </a:p>
        </p:txBody>
      </p:sp>
      <p:sp>
        <p:nvSpPr>
          <p:cNvPr id="13" name="Shape 11"/>
          <p:cNvSpPr/>
          <p:nvPr/>
        </p:nvSpPr>
        <p:spPr>
          <a:xfrm>
            <a:off x="1005840" y="3200400"/>
            <a:ext cx="54864" cy="640080"/>
          </a:xfrm>
          <a:prstGeom prst="rect">
            <a:avLst/>
          </a:prstGeom>
          <a:solidFill>
            <a:srgbClr val="F4A23C"/>
          </a:solidFill>
          <a:ln w="12700">
            <a:solidFill>
              <a:srgbClr val="F4A23C"/>
            </a:solidFill>
            <a:prstDash val="solid"/>
          </a:ln>
        </p:spPr>
      </p:sp>
      <p:sp>
        <p:nvSpPr>
          <p:cNvPr id="14" name="Text 12"/>
          <p:cNvSpPr/>
          <p:nvPr/>
        </p:nvSpPr>
        <p:spPr>
          <a:xfrm>
            <a:off x="1143000" y="3200400"/>
            <a:ext cx="10515600" cy="685800"/>
          </a:xfrm>
          <a:prstGeom prst="rect">
            <a:avLst/>
          </a:prstGeom>
          <a:noFill/>
          <a:ln/>
        </p:spPr>
        <p:txBody>
          <a:bodyPr wrap="square" lIns="0" tIns="0" rIns="0" bIns="0" rtlCol="0" anchor="ctr"/>
          <a:lstStyle/>
          <a:p>
            <a:pPr indent="0" marL="0">
              <a:buNone/>
            </a:pPr>
            <a:r>
              <a:rPr lang="en-US" sz="1050" i="1" dirty="0">
                <a:solidFill>
                  <a:srgbClr val="1A1A1A"/>
                </a:solidFill>
                <a:latin typeface="Calibri" pitchFamily="34" charset="0"/>
                <a:ea typeface="Calibri" pitchFamily="34" charset="-122"/>
                <a:cs typeface="Calibri" pitchFamily="34" charset="-120"/>
              </a:rPr>
              <a:t>Because it is computed ONLY over the segmented ball pixels — the background is excluded before any computation. Each class has a near-pure colour signature when isolated. The mask is doing most of the work.</a:t>
            </a:r>
            <a:endParaRPr lang="en-US" sz="1050" dirty="0"/>
          </a:p>
        </p:txBody>
      </p:sp>
      <p:sp>
        <p:nvSpPr>
          <p:cNvPr id="15" name="Shape 13"/>
          <p:cNvSpPr/>
          <p:nvPr/>
        </p:nvSpPr>
        <p:spPr>
          <a:xfrm>
            <a:off x="457200" y="4023360"/>
            <a:ext cx="457200" cy="457200"/>
          </a:xfrm>
          <a:prstGeom prst="ellipse">
            <a:avLst/>
          </a:prstGeom>
          <a:solidFill>
            <a:srgbClr val="0A2540"/>
          </a:solidFill>
          <a:ln w="12700">
            <a:solidFill>
              <a:srgbClr val="0A2540"/>
            </a:solidFill>
            <a:prstDash val="solid"/>
          </a:ln>
        </p:spPr>
      </p:sp>
      <p:sp>
        <p:nvSpPr>
          <p:cNvPr id="16" name="Text 14"/>
          <p:cNvSpPr/>
          <p:nvPr/>
        </p:nvSpPr>
        <p:spPr>
          <a:xfrm>
            <a:off x="457200" y="4023360"/>
            <a:ext cx="457200" cy="457200"/>
          </a:xfrm>
          <a:prstGeom prst="rect">
            <a:avLst/>
          </a:prstGeom>
          <a:noFill/>
          <a:ln/>
        </p:spPr>
        <p:txBody>
          <a:bodyPr wrap="square" lIns="0" tIns="0" rIns="0" bIns="0" rtlCol="0" anchor="ctr"/>
          <a:lstStyle/>
          <a:p>
            <a:pPr algn="ctr" indent="0" marL="0">
              <a:buNone/>
            </a:pPr>
            <a:r>
              <a:rPr lang="en-US" sz="1400" b="1" dirty="0">
                <a:solidFill>
                  <a:srgbClr val="F4A23C"/>
                </a:solidFill>
                <a:latin typeface="Calibri" pitchFamily="34" charset="0"/>
                <a:ea typeface="Calibri" pitchFamily="34" charset="-122"/>
                <a:cs typeface="Calibri" pitchFamily="34" charset="-120"/>
              </a:rPr>
              <a:t>Q</a:t>
            </a:r>
            <a:endParaRPr lang="en-US" sz="1400" dirty="0"/>
          </a:p>
        </p:txBody>
      </p:sp>
      <p:sp>
        <p:nvSpPr>
          <p:cNvPr id="17" name="Text 15"/>
          <p:cNvSpPr/>
          <p:nvPr/>
        </p:nvSpPr>
        <p:spPr>
          <a:xfrm>
            <a:off x="1005840" y="3977640"/>
            <a:ext cx="10607040" cy="457200"/>
          </a:xfrm>
          <a:prstGeom prst="rect">
            <a:avLst/>
          </a:prstGeom>
          <a:noFill/>
          <a:ln/>
        </p:spPr>
        <p:txBody>
          <a:bodyPr wrap="square" lIns="0" tIns="0" rIns="0" bIns="0" rtlCol="0" anchor="ctr"/>
          <a:lstStyle/>
          <a:p>
            <a:pPr indent="0" marL="0">
              <a:buNone/>
            </a:pPr>
            <a:r>
              <a:rPr lang="en-US" sz="1300" b="1" dirty="0">
                <a:solidFill>
                  <a:srgbClr val="0A2540"/>
                </a:solidFill>
                <a:latin typeface="Calibri" pitchFamily="34" charset="0"/>
                <a:ea typeface="Calibri" pitchFamily="34" charset="-122"/>
                <a:cs typeface="Calibri" pitchFamily="34" charset="-120"/>
              </a:rPr>
              <a:t>Why add LBP? Doesn't HOG already capture texture?</a:t>
            </a:r>
            <a:endParaRPr lang="en-US" sz="1300" dirty="0"/>
          </a:p>
        </p:txBody>
      </p:sp>
      <p:sp>
        <p:nvSpPr>
          <p:cNvPr id="18" name="Shape 16"/>
          <p:cNvSpPr/>
          <p:nvPr/>
        </p:nvSpPr>
        <p:spPr>
          <a:xfrm>
            <a:off x="1005840" y="4434840"/>
            <a:ext cx="54864" cy="640080"/>
          </a:xfrm>
          <a:prstGeom prst="rect">
            <a:avLst/>
          </a:prstGeom>
          <a:solidFill>
            <a:srgbClr val="F4A23C"/>
          </a:solidFill>
          <a:ln w="12700">
            <a:solidFill>
              <a:srgbClr val="F4A23C"/>
            </a:solidFill>
            <a:prstDash val="solid"/>
          </a:ln>
        </p:spPr>
      </p:sp>
      <p:sp>
        <p:nvSpPr>
          <p:cNvPr id="19" name="Text 17"/>
          <p:cNvSpPr/>
          <p:nvPr/>
        </p:nvSpPr>
        <p:spPr>
          <a:xfrm>
            <a:off x="1143000" y="4434840"/>
            <a:ext cx="10515600" cy="685800"/>
          </a:xfrm>
          <a:prstGeom prst="rect">
            <a:avLst/>
          </a:prstGeom>
          <a:noFill/>
          <a:ln/>
        </p:spPr>
        <p:txBody>
          <a:bodyPr wrap="square" lIns="0" tIns="0" rIns="0" bIns="0" rtlCol="0" anchor="ctr"/>
          <a:lstStyle/>
          <a:p>
            <a:pPr indent="0" marL="0">
              <a:buNone/>
            </a:pPr>
            <a:r>
              <a:rPr lang="en-US" sz="1050" i="1" dirty="0">
                <a:solidFill>
                  <a:srgbClr val="1A1A1A"/>
                </a:solidFill>
                <a:latin typeface="Calibri" pitchFamily="34" charset="0"/>
                <a:ea typeface="Calibri" pitchFamily="34" charset="-122"/>
                <a:cs typeface="Calibri" pitchFamily="34" charset="-120"/>
              </a:rPr>
              <a:t>HOG uses 16×16 cells, averaging gradients over 256 pixels — golf dimples and baseball stitching are smoothed away. LBP operates at pixel-neighbourhood scale (R=3, P=24 neighbours). It captures micro-texture HOG cannot resolve. Worth +1.4 pp on RF.</a:t>
            </a:r>
            <a:endParaRPr lang="en-US" sz="1050" dirty="0"/>
          </a:p>
        </p:txBody>
      </p:sp>
      <p:sp>
        <p:nvSpPr>
          <p:cNvPr id="20" name="Shape 18"/>
          <p:cNvSpPr/>
          <p:nvPr/>
        </p:nvSpPr>
        <p:spPr>
          <a:xfrm>
            <a:off x="457200" y="5257800"/>
            <a:ext cx="457200" cy="457200"/>
          </a:xfrm>
          <a:prstGeom prst="ellipse">
            <a:avLst/>
          </a:prstGeom>
          <a:solidFill>
            <a:srgbClr val="0A2540"/>
          </a:solidFill>
          <a:ln w="12700">
            <a:solidFill>
              <a:srgbClr val="0A2540"/>
            </a:solidFill>
            <a:prstDash val="solid"/>
          </a:ln>
        </p:spPr>
      </p:sp>
      <p:sp>
        <p:nvSpPr>
          <p:cNvPr id="21" name="Text 19"/>
          <p:cNvSpPr/>
          <p:nvPr/>
        </p:nvSpPr>
        <p:spPr>
          <a:xfrm>
            <a:off x="457200" y="5257800"/>
            <a:ext cx="457200" cy="457200"/>
          </a:xfrm>
          <a:prstGeom prst="rect">
            <a:avLst/>
          </a:prstGeom>
          <a:noFill/>
          <a:ln/>
        </p:spPr>
        <p:txBody>
          <a:bodyPr wrap="square" lIns="0" tIns="0" rIns="0" bIns="0" rtlCol="0" anchor="ctr"/>
          <a:lstStyle/>
          <a:p>
            <a:pPr algn="ctr" indent="0" marL="0">
              <a:buNone/>
            </a:pPr>
            <a:r>
              <a:rPr lang="en-US" sz="1400" b="1" dirty="0">
                <a:solidFill>
                  <a:srgbClr val="F4A23C"/>
                </a:solidFill>
                <a:latin typeface="Calibri" pitchFamily="34" charset="0"/>
                <a:ea typeface="Calibri" pitchFamily="34" charset="-122"/>
                <a:cs typeface="Calibri" pitchFamily="34" charset="-120"/>
              </a:rPr>
              <a:t>Q</a:t>
            </a:r>
            <a:endParaRPr lang="en-US" sz="1400" dirty="0"/>
          </a:p>
        </p:txBody>
      </p:sp>
      <p:sp>
        <p:nvSpPr>
          <p:cNvPr id="22" name="Text 20"/>
          <p:cNvSpPr/>
          <p:nvPr/>
        </p:nvSpPr>
        <p:spPr>
          <a:xfrm>
            <a:off x="1005840" y="5212080"/>
            <a:ext cx="10607040" cy="457200"/>
          </a:xfrm>
          <a:prstGeom prst="rect">
            <a:avLst/>
          </a:prstGeom>
          <a:noFill/>
          <a:ln/>
        </p:spPr>
        <p:txBody>
          <a:bodyPr wrap="square" lIns="0" tIns="0" rIns="0" bIns="0" rtlCol="0" anchor="ctr"/>
          <a:lstStyle/>
          <a:p>
            <a:pPr indent="0" marL="0">
              <a:buNone/>
            </a:pPr>
            <a:r>
              <a:rPr lang="en-US" sz="1300" b="1" dirty="0">
                <a:solidFill>
                  <a:srgbClr val="0A2540"/>
                </a:solidFill>
                <a:latin typeface="Calibri" pitchFamily="34" charset="0"/>
                <a:ea typeface="Calibri" pitchFamily="34" charset="-122"/>
                <a:cs typeface="Calibri" pitchFamily="34" charset="-120"/>
              </a:rPr>
              <a:t>Why Random Forest over Linear SVM on the same vector?</a:t>
            </a:r>
            <a:endParaRPr lang="en-US" sz="1300" dirty="0"/>
          </a:p>
        </p:txBody>
      </p:sp>
      <p:sp>
        <p:nvSpPr>
          <p:cNvPr id="23" name="Shape 21"/>
          <p:cNvSpPr/>
          <p:nvPr/>
        </p:nvSpPr>
        <p:spPr>
          <a:xfrm>
            <a:off x="1005840" y="5669280"/>
            <a:ext cx="54864" cy="640080"/>
          </a:xfrm>
          <a:prstGeom prst="rect">
            <a:avLst/>
          </a:prstGeom>
          <a:solidFill>
            <a:srgbClr val="F4A23C"/>
          </a:solidFill>
          <a:ln w="12700">
            <a:solidFill>
              <a:srgbClr val="F4A23C"/>
            </a:solidFill>
            <a:prstDash val="solid"/>
          </a:ln>
        </p:spPr>
      </p:sp>
      <p:sp>
        <p:nvSpPr>
          <p:cNvPr id="24" name="Text 22"/>
          <p:cNvSpPr/>
          <p:nvPr/>
        </p:nvSpPr>
        <p:spPr>
          <a:xfrm>
            <a:off x="1143000" y="5669280"/>
            <a:ext cx="10515600" cy="685800"/>
          </a:xfrm>
          <a:prstGeom prst="rect">
            <a:avLst/>
          </a:prstGeom>
          <a:noFill/>
          <a:ln/>
        </p:spPr>
        <p:txBody>
          <a:bodyPr wrap="square" lIns="0" tIns="0" rIns="0" bIns="0" rtlCol="0" anchor="ctr"/>
          <a:lstStyle/>
          <a:p>
            <a:pPr indent="0" marL="0">
              <a:buNone/>
            </a:pPr>
            <a:r>
              <a:rPr lang="en-US" sz="1050" i="1" dirty="0">
                <a:solidFill>
                  <a:srgbClr val="1A1A1A"/>
                </a:solidFill>
                <a:latin typeface="Calibri" pitchFamily="34" charset="0"/>
                <a:ea typeface="Calibri" pitchFamily="34" charset="-122"/>
                <a:cs typeface="Calibri" pitchFamily="34" charset="-120"/>
              </a:rPr>
              <a:t>RF models non-linear feature interactions (e.g. white AND smooth → golf, white AND stitched → baseball). A linear classifier can only separate by a hyperplane. RF also handles the 3,610-d space natively — no scaling, no PCA needed.</a:t>
            </a:r>
            <a:endParaRPr lang="en-US" sz="1050" dirty="0"/>
          </a:p>
        </p:txBody>
      </p:sp>
      <p:sp>
        <p:nvSpPr>
          <p:cNvPr id="25" name="Text 23"/>
          <p:cNvSpPr/>
          <p:nvPr/>
        </p:nvSpPr>
        <p:spPr>
          <a:xfrm>
            <a:off x="457200" y="6537960"/>
            <a:ext cx="7315200" cy="228600"/>
          </a:xfrm>
          <a:prstGeom prst="rect">
            <a:avLst/>
          </a:prstGeom>
          <a:noFill/>
          <a:ln/>
        </p:spPr>
        <p:txBody>
          <a:bodyPr wrap="square" rtlCol="0" anchor="ctr"/>
          <a:lstStyle/>
          <a:p>
            <a:pPr indent="0" marL="0">
              <a:buNone/>
            </a:pPr>
            <a:r>
              <a:rPr lang="en-US" sz="900" dirty="0">
                <a:solidFill>
                  <a:srgbClr val="5A6473"/>
                </a:solidFill>
                <a:latin typeface="Calibri" pitchFamily="34" charset="0"/>
                <a:ea typeface="Calibri" pitchFamily="34" charset="-122"/>
                <a:cs typeface="Calibri" pitchFamily="34" charset="-120"/>
              </a:rPr>
              <a:t>ENMR602 · SIP Ball Classification · Tutorial 10</a:t>
            </a:r>
            <a:endParaRPr lang="en-US" sz="900" dirty="0"/>
          </a:p>
        </p:txBody>
      </p:sp>
      <p:sp>
        <p:nvSpPr>
          <p:cNvPr id="26" name="Text 24"/>
          <p:cNvSpPr/>
          <p:nvPr/>
        </p:nvSpPr>
        <p:spPr>
          <a:xfrm>
            <a:off x="8961120" y="6537960"/>
            <a:ext cx="2743200" cy="228600"/>
          </a:xfrm>
          <a:prstGeom prst="rect">
            <a:avLst/>
          </a:prstGeom>
          <a:noFill/>
          <a:ln/>
        </p:spPr>
        <p:txBody>
          <a:bodyPr wrap="square" rtlCol="0" anchor="ctr"/>
          <a:lstStyle/>
          <a:p>
            <a:pPr algn="r" indent="0" marL="0">
              <a:buNone/>
            </a:pPr>
            <a:r>
              <a:rPr lang="en-US" sz="900" b="1" dirty="0">
                <a:solidFill>
                  <a:srgbClr val="5A6473"/>
                </a:solidFill>
                <a:latin typeface="Calibri" pitchFamily="34" charset="0"/>
                <a:ea typeface="Calibri" pitchFamily="34" charset="-122"/>
                <a:cs typeface="Calibri" pitchFamily="34" charset="-120"/>
              </a:rPr>
              <a:t>Q&amp;A — 1/2</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109728" cy="502920"/>
          </a:xfrm>
          <a:prstGeom prst="rect">
            <a:avLst/>
          </a:prstGeom>
          <a:solidFill>
            <a:srgbClr val="F4A23C"/>
          </a:solidFill>
          <a:ln w="12700">
            <a:solidFill>
              <a:srgbClr val="F4A23C"/>
            </a:solidFill>
            <a:prstDash val="solid"/>
          </a:ln>
        </p:spPr>
      </p:sp>
      <p:sp>
        <p:nvSpPr>
          <p:cNvPr id="3" name="Text 1"/>
          <p:cNvSpPr/>
          <p:nvPr/>
        </p:nvSpPr>
        <p:spPr>
          <a:xfrm>
            <a:off x="685800" y="320040"/>
            <a:ext cx="11018520" cy="640080"/>
          </a:xfrm>
          <a:prstGeom prst="rect">
            <a:avLst/>
          </a:prstGeom>
          <a:noFill/>
          <a:ln/>
        </p:spPr>
        <p:txBody>
          <a:bodyPr wrap="square" lIns="0" tIns="0" rIns="0" bIns="0" rtlCol="0" anchor="ctr"/>
          <a:lstStyle/>
          <a:p>
            <a:pPr indent="0" marL="0">
              <a:buNone/>
            </a:pPr>
            <a:r>
              <a:rPr lang="en-US" sz="2800" b="1" dirty="0">
                <a:solidFill>
                  <a:srgbClr val="0A2540"/>
                </a:solidFill>
                <a:latin typeface="Calibri" pitchFamily="34" charset="0"/>
                <a:ea typeface="Calibri" pitchFamily="34" charset="-122"/>
                <a:cs typeface="Calibri" pitchFamily="34" charset="-120"/>
              </a:rPr>
              <a:t>Anticipated Q&amp;A — Implementation &amp; CNN</a:t>
            </a:r>
            <a:endParaRPr lang="en-US" sz="2800" dirty="0"/>
          </a:p>
        </p:txBody>
      </p:sp>
      <p:sp>
        <p:nvSpPr>
          <p:cNvPr id="4" name="Text 2"/>
          <p:cNvSpPr/>
          <p:nvPr/>
        </p:nvSpPr>
        <p:spPr>
          <a:xfrm>
            <a:off x="685800" y="914400"/>
            <a:ext cx="11018520" cy="320040"/>
          </a:xfrm>
          <a:prstGeom prst="rect">
            <a:avLst/>
          </a:prstGeom>
          <a:noFill/>
          <a:ln/>
        </p:spPr>
        <p:txBody>
          <a:bodyPr wrap="square" lIns="0" tIns="0" rIns="0" bIns="0" rtlCol="0" anchor="ctr"/>
          <a:lstStyle/>
          <a:p>
            <a:pPr indent="0" marL="0">
              <a:buNone/>
            </a:pPr>
            <a:r>
              <a:rPr lang="en-US" sz="1400" i="1" dirty="0">
                <a:solidFill>
                  <a:srgbClr val="5A6473"/>
                </a:solidFill>
                <a:latin typeface="Calibri" pitchFamily="34" charset="0"/>
                <a:ea typeface="Calibri" pitchFamily="34" charset="-122"/>
                <a:cs typeface="Calibri" pitchFamily="34" charset="-120"/>
              </a:rPr>
              <a:t>Be ready to defend every choice</a:t>
            </a:r>
            <a:endParaRPr lang="en-US" sz="1400" dirty="0"/>
          </a:p>
        </p:txBody>
      </p:sp>
      <p:sp>
        <p:nvSpPr>
          <p:cNvPr id="5" name="Shape 3"/>
          <p:cNvSpPr/>
          <p:nvPr/>
        </p:nvSpPr>
        <p:spPr>
          <a:xfrm>
            <a:off x="457200" y="1554480"/>
            <a:ext cx="457200" cy="457200"/>
          </a:xfrm>
          <a:prstGeom prst="ellipse">
            <a:avLst/>
          </a:prstGeom>
          <a:solidFill>
            <a:srgbClr val="1AA39E"/>
          </a:solidFill>
          <a:ln w="12700">
            <a:solidFill>
              <a:srgbClr val="1AA39E"/>
            </a:solidFill>
            <a:prstDash val="solid"/>
          </a:ln>
        </p:spPr>
      </p:sp>
      <p:sp>
        <p:nvSpPr>
          <p:cNvPr id="6" name="Text 4"/>
          <p:cNvSpPr/>
          <p:nvPr/>
        </p:nvSpPr>
        <p:spPr>
          <a:xfrm>
            <a:off x="457200"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a:t>
            </a:r>
            <a:endParaRPr lang="en-US" sz="1400" dirty="0"/>
          </a:p>
        </p:txBody>
      </p:sp>
      <p:sp>
        <p:nvSpPr>
          <p:cNvPr id="7" name="Text 5"/>
          <p:cNvSpPr/>
          <p:nvPr/>
        </p:nvSpPr>
        <p:spPr>
          <a:xfrm>
            <a:off x="1005840" y="1508760"/>
            <a:ext cx="10607040" cy="457200"/>
          </a:xfrm>
          <a:prstGeom prst="rect">
            <a:avLst/>
          </a:prstGeom>
          <a:noFill/>
          <a:ln/>
        </p:spPr>
        <p:txBody>
          <a:bodyPr wrap="square" lIns="0" tIns="0" rIns="0" bIns="0" rtlCol="0" anchor="ctr"/>
          <a:lstStyle/>
          <a:p>
            <a:pPr indent="0" marL="0">
              <a:buNone/>
            </a:pPr>
            <a:r>
              <a:rPr lang="en-US" sz="1300" b="1" dirty="0">
                <a:solidFill>
                  <a:srgbClr val="0A2540"/>
                </a:solidFill>
                <a:latin typeface="Calibri" pitchFamily="34" charset="0"/>
                <a:ea typeface="Calibri" pitchFamily="34" charset="-122"/>
                <a:cs typeface="Calibri" pitchFamily="34" charset="-120"/>
              </a:rPr>
              <a:t>What does a Residual-SE block actually do?</a:t>
            </a:r>
            <a:endParaRPr lang="en-US" sz="1300" dirty="0"/>
          </a:p>
        </p:txBody>
      </p:sp>
      <p:sp>
        <p:nvSpPr>
          <p:cNvPr id="8" name="Shape 6"/>
          <p:cNvSpPr/>
          <p:nvPr/>
        </p:nvSpPr>
        <p:spPr>
          <a:xfrm>
            <a:off x="1005840" y="1965960"/>
            <a:ext cx="54864" cy="640080"/>
          </a:xfrm>
          <a:prstGeom prst="rect">
            <a:avLst/>
          </a:prstGeom>
          <a:solidFill>
            <a:srgbClr val="1AA39E"/>
          </a:solidFill>
          <a:ln w="12700">
            <a:solidFill>
              <a:srgbClr val="1AA39E"/>
            </a:solidFill>
            <a:prstDash val="solid"/>
          </a:ln>
        </p:spPr>
      </p:sp>
      <p:sp>
        <p:nvSpPr>
          <p:cNvPr id="9" name="Text 7"/>
          <p:cNvSpPr/>
          <p:nvPr/>
        </p:nvSpPr>
        <p:spPr>
          <a:xfrm>
            <a:off x="1143000" y="1965960"/>
            <a:ext cx="10515600" cy="685800"/>
          </a:xfrm>
          <a:prstGeom prst="rect">
            <a:avLst/>
          </a:prstGeom>
          <a:noFill/>
          <a:ln/>
        </p:spPr>
        <p:txBody>
          <a:bodyPr wrap="square" lIns="0" tIns="0" rIns="0" bIns="0" rtlCol="0" anchor="ctr"/>
          <a:lstStyle/>
          <a:p>
            <a:pPr indent="0" marL="0">
              <a:buNone/>
            </a:pPr>
            <a:r>
              <a:rPr lang="en-US" sz="1050" i="1" dirty="0">
                <a:solidFill>
                  <a:srgbClr val="1A1A1A"/>
                </a:solidFill>
                <a:latin typeface="Calibri" pitchFamily="34" charset="0"/>
                <a:ea typeface="Calibri" pitchFamily="34" charset="-122"/>
                <a:cs typeface="Calibri" pitchFamily="34" charset="-120"/>
              </a:rPr>
              <a:t>Two conv layers form the main path. A skip connection adds the input back (y = F(x) + x) so gradients flow through deep stacks. SE: global average pool → two FC layers → sigmoid produces channel weights, multiplied element-wise with the feature map. Network learns which channels matter.</a:t>
            </a:r>
            <a:endParaRPr lang="en-US" sz="1050" dirty="0"/>
          </a:p>
        </p:txBody>
      </p:sp>
      <p:sp>
        <p:nvSpPr>
          <p:cNvPr id="10" name="Shape 8"/>
          <p:cNvSpPr/>
          <p:nvPr/>
        </p:nvSpPr>
        <p:spPr>
          <a:xfrm>
            <a:off x="457200" y="2788920"/>
            <a:ext cx="457200" cy="457200"/>
          </a:xfrm>
          <a:prstGeom prst="ellipse">
            <a:avLst/>
          </a:prstGeom>
          <a:solidFill>
            <a:srgbClr val="1AA39E"/>
          </a:solidFill>
          <a:ln w="12700">
            <a:solidFill>
              <a:srgbClr val="1AA39E"/>
            </a:solidFill>
            <a:prstDash val="solid"/>
          </a:ln>
        </p:spPr>
      </p:sp>
      <p:sp>
        <p:nvSpPr>
          <p:cNvPr id="11" name="Text 9"/>
          <p:cNvSpPr/>
          <p:nvPr/>
        </p:nvSpPr>
        <p:spPr>
          <a:xfrm>
            <a:off x="457200" y="27889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a:t>
            </a:r>
            <a:endParaRPr lang="en-US" sz="1400" dirty="0"/>
          </a:p>
        </p:txBody>
      </p:sp>
      <p:sp>
        <p:nvSpPr>
          <p:cNvPr id="12" name="Text 10"/>
          <p:cNvSpPr/>
          <p:nvPr/>
        </p:nvSpPr>
        <p:spPr>
          <a:xfrm>
            <a:off x="1005840" y="2743200"/>
            <a:ext cx="10607040" cy="457200"/>
          </a:xfrm>
          <a:prstGeom prst="rect">
            <a:avLst/>
          </a:prstGeom>
          <a:noFill/>
          <a:ln/>
        </p:spPr>
        <p:txBody>
          <a:bodyPr wrap="square" lIns="0" tIns="0" rIns="0" bIns="0" rtlCol="0" anchor="ctr"/>
          <a:lstStyle/>
          <a:p>
            <a:pPr indent="0" marL="0">
              <a:buNone/>
            </a:pPr>
            <a:r>
              <a:rPr lang="en-US" sz="1300" b="1" dirty="0">
                <a:solidFill>
                  <a:srgbClr val="0A2540"/>
                </a:solidFill>
                <a:latin typeface="Calibri" pitchFamily="34" charset="0"/>
                <a:ea typeface="Calibri" pitchFamily="34" charset="-122"/>
                <a:cs typeface="Calibri" pitchFamily="34" charset="-120"/>
              </a:rPr>
              <a:t>Why did PCA-256 matter for RBF SVM but not for RF?</a:t>
            </a:r>
            <a:endParaRPr lang="en-US" sz="1300" dirty="0"/>
          </a:p>
        </p:txBody>
      </p:sp>
      <p:sp>
        <p:nvSpPr>
          <p:cNvPr id="13" name="Shape 11"/>
          <p:cNvSpPr/>
          <p:nvPr/>
        </p:nvSpPr>
        <p:spPr>
          <a:xfrm>
            <a:off x="1005840" y="3200400"/>
            <a:ext cx="54864" cy="640080"/>
          </a:xfrm>
          <a:prstGeom prst="rect">
            <a:avLst/>
          </a:prstGeom>
          <a:solidFill>
            <a:srgbClr val="1AA39E"/>
          </a:solidFill>
          <a:ln w="12700">
            <a:solidFill>
              <a:srgbClr val="1AA39E"/>
            </a:solidFill>
            <a:prstDash val="solid"/>
          </a:ln>
        </p:spPr>
      </p:sp>
      <p:sp>
        <p:nvSpPr>
          <p:cNvPr id="14" name="Text 12"/>
          <p:cNvSpPr/>
          <p:nvPr/>
        </p:nvSpPr>
        <p:spPr>
          <a:xfrm>
            <a:off x="1143000" y="3200400"/>
            <a:ext cx="10515600" cy="685800"/>
          </a:xfrm>
          <a:prstGeom prst="rect">
            <a:avLst/>
          </a:prstGeom>
          <a:noFill/>
          <a:ln/>
        </p:spPr>
        <p:txBody>
          <a:bodyPr wrap="square" lIns="0" tIns="0" rIns="0" bIns="0" rtlCol="0" anchor="ctr"/>
          <a:lstStyle/>
          <a:p>
            <a:pPr indent="0" marL="0">
              <a:buNone/>
            </a:pPr>
            <a:r>
              <a:rPr lang="en-US" sz="1050" i="1" dirty="0">
                <a:solidFill>
                  <a:srgbClr val="1A1A1A"/>
                </a:solidFill>
                <a:latin typeface="Calibri" pitchFamily="34" charset="0"/>
                <a:ea typeface="Calibri" pitchFamily="34" charset="-122"/>
                <a:cs typeface="Calibri" pitchFamily="34" charset="-120"/>
              </a:rPr>
              <a:t>RBF SVM kernel evaluations scale with feature dimensionality. At 3,584-d on CPU, it was projected to take hours. PCA to 256 components (83% variance) cut training to 37 s. RF is scale-invariant and randomly samples features per tree — full dim is no problem.</a:t>
            </a:r>
            <a:endParaRPr lang="en-US" sz="1050" dirty="0"/>
          </a:p>
        </p:txBody>
      </p:sp>
      <p:sp>
        <p:nvSpPr>
          <p:cNvPr id="15" name="Shape 13"/>
          <p:cNvSpPr/>
          <p:nvPr/>
        </p:nvSpPr>
        <p:spPr>
          <a:xfrm>
            <a:off x="457200" y="4023360"/>
            <a:ext cx="457200" cy="457200"/>
          </a:xfrm>
          <a:prstGeom prst="ellipse">
            <a:avLst/>
          </a:prstGeom>
          <a:solidFill>
            <a:srgbClr val="1AA39E"/>
          </a:solidFill>
          <a:ln w="12700">
            <a:solidFill>
              <a:srgbClr val="1AA39E"/>
            </a:solidFill>
            <a:prstDash val="solid"/>
          </a:ln>
        </p:spPr>
      </p:sp>
      <p:sp>
        <p:nvSpPr>
          <p:cNvPr id="16" name="Text 14"/>
          <p:cNvSpPr/>
          <p:nvPr/>
        </p:nvSpPr>
        <p:spPr>
          <a:xfrm>
            <a:off x="457200" y="40233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a:t>
            </a:r>
            <a:endParaRPr lang="en-US" sz="1400" dirty="0"/>
          </a:p>
        </p:txBody>
      </p:sp>
      <p:sp>
        <p:nvSpPr>
          <p:cNvPr id="17" name="Text 15"/>
          <p:cNvSpPr/>
          <p:nvPr/>
        </p:nvSpPr>
        <p:spPr>
          <a:xfrm>
            <a:off x="1005840" y="3977640"/>
            <a:ext cx="10607040" cy="457200"/>
          </a:xfrm>
          <a:prstGeom prst="rect">
            <a:avLst/>
          </a:prstGeom>
          <a:noFill/>
          <a:ln/>
        </p:spPr>
        <p:txBody>
          <a:bodyPr wrap="square" lIns="0" tIns="0" rIns="0" bIns="0" rtlCol="0" anchor="ctr"/>
          <a:lstStyle/>
          <a:p>
            <a:pPr indent="0" marL="0">
              <a:buNone/>
            </a:pPr>
            <a:r>
              <a:rPr lang="en-US" sz="1300" b="1" dirty="0">
                <a:solidFill>
                  <a:srgbClr val="0A2540"/>
                </a:solidFill>
                <a:latin typeface="Calibri" pitchFamily="34" charset="0"/>
                <a:ea typeface="Calibri" pitchFamily="34" charset="-122"/>
                <a:cs typeface="Calibri" pitchFamily="34" charset="-120"/>
              </a:rPr>
              <a:t>Why is the basketball→american_football confusion the hardest?</a:t>
            </a:r>
            <a:endParaRPr lang="en-US" sz="1300" dirty="0"/>
          </a:p>
        </p:txBody>
      </p:sp>
      <p:sp>
        <p:nvSpPr>
          <p:cNvPr id="18" name="Shape 16"/>
          <p:cNvSpPr/>
          <p:nvPr/>
        </p:nvSpPr>
        <p:spPr>
          <a:xfrm>
            <a:off x="1005840" y="4434840"/>
            <a:ext cx="54864" cy="640080"/>
          </a:xfrm>
          <a:prstGeom prst="rect">
            <a:avLst/>
          </a:prstGeom>
          <a:solidFill>
            <a:srgbClr val="1AA39E"/>
          </a:solidFill>
          <a:ln w="12700">
            <a:solidFill>
              <a:srgbClr val="1AA39E"/>
            </a:solidFill>
            <a:prstDash val="solid"/>
          </a:ln>
        </p:spPr>
      </p:sp>
      <p:sp>
        <p:nvSpPr>
          <p:cNvPr id="19" name="Text 17"/>
          <p:cNvSpPr/>
          <p:nvPr/>
        </p:nvSpPr>
        <p:spPr>
          <a:xfrm>
            <a:off x="1143000" y="4434840"/>
            <a:ext cx="10515600" cy="685800"/>
          </a:xfrm>
          <a:prstGeom prst="rect">
            <a:avLst/>
          </a:prstGeom>
          <a:noFill/>
          <a:ln/>
        </p:spPr>
        <p:txBody>
          <a:bodyPr wrap="square" lIns="0" tIns="0" rIns="0" bIns="0" rtlCol="0" anchor="ctr"/>
          <a:lstStyle/>
          <a:p>
            <a:pPr indent="0" marL="0">
              <a:buNone/>
            </a:pPr>
            <a:r>
              <a:rPr lang="en-US" sz="1050" i="1" dirty="0">
                <a:solidFill>
                  <a:srgbClr val="1A1A1A"/>
                </a:solidFill>
                <a:latin typeface="Calibri" pitchFamily="34" charset="0"/>
                <a:ea typeface="Calibri" pitchFamily="34" charset="-122"/>
                <a:cs typeface="Calibri" pitchFamily="34" charset="-120"/>
              </a:rPr>
              <a:t>Both share brown/orange leather, roughly circular silhouettes, and similar pebbling at low resolution. HOG cells smooth over the discriminating cues (brand logos, panel geometry). The CNN partly fixes this by learning hierarchical features at full 256×256 resolution.</a:t>
            </a:r>
            <a:endParaRPr lang="en-US" sz="1050" dirty="0"/>
          </a:p>
        </p:txBody>
      </p:sp>
      <p:sp>
        <p:nvSpPr>
          <p:cNvPr id="20" name="Shape 18"/>
          <p:cNvSpPr/>
          <p:nvPr/>
        </p:nvSpPr>
        <p:spPr>
          <a:xfrm>
            <a:off x="457200" y="5257800"/>
            <a:ext cx="457200" cy="457200"/>
          </a:xfrm>
          <a:prstGeom prst="ellipse">
            <a:avLst/>
          </a:prstGeom>
          <a:solidFill>
            <a:srgbClr val="1AA39E"/>
          </a:solidFill>
          <a:ln w="12700">
            <a:solidFill>
              <a:srgbClr val="1AA39E"/>
            </a:solidFill>
            <a:prstDash val="solid"/>
          </a:ln>
        </p:spPr>
      </p:sp>
      <p:sp>
        <p:nvSpPr>
          <p:cNvPr id="21" name="Text 19"/>
          <p:cNvSpPr/>
          <p:nvPr/>
        </p:nvSpPr>
        <p:spPr>
          <a:xfrm>
            <a:off x="457200" y="52578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a:t>
            </a:r>
            <a:endParaRPr lang="en-US" sz="1400" dirty="0"/>
          </a:p>
        </p:txBody>
      </p:sp>
      <p:sp>
        <p:nvSpPr>
          <p:cNvPr id="22" name="Text 20"/>
          <p:cNvSpPr/>
          <p:nvPr/>
        </p:nvSpPr>
        <p:spPr>
          <a:xfrm>
            <a:off x="1005840" y="5212080"/>
            <a:ext cx="10607040" cy="457200"/>
          </a:xfrm>
          <a:prstGeom prst="rect">
            <a:avLst/>
          </a:prstGeom>
          <a:noFill/>
          <a:ln/>
        </p:spPr>
        <p:txBody>
          <a:bodyPr wrap="square" lIns="0" tIns="0" rIns="0" bIns="0" rtlCol="0" anchor="ctr"/>
          <a:lstStyle/>
          <a:p>
            <a:pPr indent="0" marL="0">
              <a:buNone/>
            </a:pPr>
            <a:r>
              <a:rPr lang="en-US" sz="1300" b="1" dirty="0">
                <a:solidFill>
                  <a:srgbClr val="0A2540"/>
                </a:solidFill>
                <a:latin typeface="Calibri" pitchFamily="34" charset="0"/>
                <a:ea typeface="Calibri" pitchFamily="34" charset="-122"/>
                <a:cs typeface="Calibri" pitchFamily="34" charset="-120"/>
              </a:rPr>
              <a:t>How did you avoid using test data during tuning?</a:t>
            </a:r>
            <a:endParaRPr lang="en-US" sz="1300" dirty="0"/>
          </a:p>
        </p:txBody>
      </p:sp>
      <p:sp>
        <p:nvSpPr>
          <p:cNvPr id="23" name="Shape 21"/>
          <p:cNvSpPr/>
          <p:nvPr/>
        </p:nvSpPr>
        <p:spPr>
          <a:xfrm>
            <a:off x="1005840" y="5669280"/>
            <a:ext cx="54864" cy="640080"/>
          </a:xfrm>
          <a:prstGeom prst="rect">
            <a:avLst/>
          </a:prstGeom>
          <a:solidFill>
            <a:srgbClr val="1AA39E"/>
          </a:solidFill>
          <a:ln w="12700">
            <a:solidFill>
              <a:srgbClr val="1AA39E"/>
            </a:solidFill>
            <a:prstDash val="solid"/>
          </a:ln>
        </p:spPr>
      </p:sp>
      <p:sp>
        <p:nvSpPr>
          <p:cNvPr id="24" name="Text 22"/>
          <p:cNvSpPr/>
          <p:nvPr/>
        </p:nvSpPr>
        <p:spPr>
          <a:xfrm>
            <a:off x="1143000" y="5669280"/>
            <a:ext cx="10515600" cy="685800"/>
          </a:xfrm>
          <a:prstGeom prst="rect">
            <a:avLst/>
          </a:prstGeom>
          <a:noFill/>
          <a:ln/>
        </p:spPr>
        <p:txBody>
          <a:bodyPr wrap="square" lIns="0" tIns="0" rIns="0" bIns="0" rtlCol="0" anchor="ctr"/>
          <a:lstStyle/>
          <a:p>
            <a:pPr indent="0" marL="0">
              <a:buNone/>
            </a:pPr>
            <a:r>
              <a:rPr lang="en-US" sz="1050" i="1" dirty="0">
                <a:solidFill>
                  <a:srgbClr val="1A1A1A"/>
                </a:solidFill>
                <a:latin typeface="Calibri" pitchFamily="34" charset="0"/>
                <a:ea typeface="Calibri" pitchFamily="34" charset="-122"/>
                <a:cs typeface="Calibri" pitchFamily="34" charset="-120"/>
              </a:rPr>
              <a:t>All hyperparameter searches used 5-fold stratified CV on the training set ONLY. StandardScaler and PCA were placed inside sklearn.Pipeline so they were fit only on training folds during CV. The test set was loaded and evaluated exactly once per classifier at the end.</a:t>
            </a:r>
            <a:endParaRPr lang="en-US" sz="1050" dirty="0"/>
          </a:p>
        </p:txBody>
      </p:sp>
      <p:sp>
        <p:nvSpPr>
          <p:cNvPr id="25" name="Text 23"/>
          <p:cNvSpPr/>
          <p:nvPr/>
        </p:nvSpPr>
        <p:spPr>
          <a:xfrm>
            <a:off x="457200" y="6537960"/>
            <a:ext cx="7315200" cy="228600"/>
          </a:xfrm>
          <a:prstGeom prst="rect">
            <a:avLst/>
          </a:prstGeom>
          <a:noFill/>
          <a:ln/>
        </p:spPr>
        <p:txBody>
          <a:bodyPr wrap="square" rtlCol="0" anchor="ctr"/>
          <a:lstStyle/>
          <a:p>
            <a:pPr indent="0" marL="0">
              <a:buNone/>
            </a:pPr>
            <a:r>
              <a:rPr lang="en-US" sz="900" dirty="0">
                <a:solidFill>
                  <a:srgbClr val="5A6473"/>
                </a:solidFill>
                <a:latin typeface="Calibri" pitchFamily="34" charset="0"/>
                <a:ea typeface="Calibri" pitchFamily="34" charset="-122"/>
                <a:cs typeface="Calibri" pitchFamily="34" charset="-120"/>
              </a:rPr>
              <a:t>ENMR602 · SIP Ball Classification · Tutorial 10</a:t>
            </a:r>
            <a:endParaRPr lang="en-US" sz="900" dirty="0"/>
          </a:p>
        </p:txBody>
      </p:sp>
      <p:sp>
        <p:nvSpPr>
          <p:cNvPr id="26" name="Text 24"/>
          <p:cNvSpPr/>
          <p:nvPr/>
        </p:nvSpPr>
        <p:spPr>
          <a:xfrm>
            <a:off x="8961120" y="6537960"/>
            <a:ext cx="2743200" cy="228600"/>
          </a:xfrm>
          <a:prstGeom prst="rect">
            <a:avLst/>
          </a:prstGeom>
          <a:noFill/>
          <a:ln/>
        </p:spPr>
        <p:txBody>
          <a:bodyPr wrap="square" rtlCol="0" anchor="ctr"/>
          <a:lstStyle/>
          <a:p>
            <a:pPr algn="r" indent="0" marL="0">
              <a:buNone/>
            </a:pPr>
            <a:r>
              <a:rPr lang="en-US" sz="900" b="1" dirty="0">
                <a:solidFill>
                  <a:srgbClr val="5A6473"/>
                </a:solidFill>
                <a:latin typeface="Calibri" pitchFamily="34" charset="0"/>
                <a:ea typeface="Calibri" pitchFamily="34" charset="-122"/>
                <a:cs typeface="Calibri" pitchFamily="34" charset="-120"/>
              </a:rPr>
              <a:t>Q&amp;A — 2/2</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4A23C"/>
          </a:solidFill>
          <a:ln w="12700">
            <a:solidFill>
              <a:srgbClr val="F4A23C"/>
            </a:solidFill>
            <a:prstDash val="solid"/>
          </a:ln>
        </p:spPr>
      </p:sp>
      <p:sp>
        <p:nvSpPr>
          <p:cNvPr id="3" name="Text 1"/>
          <p:cNvSpPr/>
          <p:nvPr/>
        </p:nvSpPr>
        <p:spPr>
          <a:xfrm>
            <a:off x="731520" y="1371600"/>
            <a:ext cx="10972800" cy="1097280"/>
          </a:xfrm>
          <a:prstGeom prst="rect">
            <a:avLst/>
          </a:prstGeom>
          <a:noFill/>
          <a:ln/>
        </p:spPr>
        <p:txBody>
          <a:bodyPr wrap="square" lIns="0" tIns="0" rIns="0" bIns="0" rtlCol="0" anchor="ctr"/>
          <a:lstStyle/>
          <a:p>
            <a:pPr indent="0" marL="0">
              <a:buNone/>
            </a:pPr>
            <a:r>
              <a:rPr lang="en-US" sz="6400" b="1" dirty="0">
                <a:solidFill>
                  <a:srgbClr val="FFFFFF"/>
                </a:solidFill>
                <a:latin typeface="Calibri" pitchFamily="34" charset="0"/>
                <a:ea typeface="Calibri" pitchFamily="34" charset="-122"/>
                <a:cs typeface="Calibri" pitchFamily="34" charset="-120"/>
              </a:rPr>
              <a:t>Thank you</a:t>
            </a:r>
            <a:endParaRPr lang="en-US" sz="6400" dirty="0"/>
          </a:p>
        </p:txBody>
      </p:sp>
      <p:sp>
        <p:nvSpPr>
          <p:cNvPr id="4" name="Text 2"/>
          <p:cNvSpPr/>
          <p:nvPr/>
        </p:nvSpPr>
        <p:spPr>
          <a:xfrm>
            <a:off x="731520" y="2468880"/>
            <a:ext cx="10972800" cy="457200"/>
          </a:xfrm>
          <a:prstGeom prst="rect">
            <a:avLst/>
          </a:prstGeom>
          <a:noFill/>
          <a:ln/>
        </p:spPr>
        <p:txBody>
          <a:bodyPr wrap="square" lIns="0" tIns="0" rIns="0" bIns="0" rtlCol="0" anchor="ctr"/>
          <a:lstStyle/>
          <a:p>
            <a:pPr indent="0" marL="0">
              <a:buNone/>
            </a:pPr>
            <a:r>
              <a:rPr lang="en-US" sz="2000" i="1" dirty="0">
                <a:solidFill>
                  <a:srgbClr val="F4A23C"/>
                </a:solidFill>
                <a:latin typeface="Calibri" pitchFamily="34" charset="0"/>
                <a:ea typeface="Calibri" pitchFamily="34" charset="-122"/>
                <a:cs typeface="Calibri" pitchFamily="34" charset="-120"/>
              </a:rPr>
              <a:t>Open for questions and discussion</a:t>
            </a:r>
            <a:endParaRPr lang="en-US" sz="2000" dirty="0"/>
          </a:p>
        </p:txBody>
      </p:sp>
      <p:sp>
        <p:nvSpPr>
          <p:cNvPr id="5" name="Shape 3"/>
          <p:cNvSpPr/>
          <p:nvPr/>
        </p:nvSpPr>
        <p:spPr>
          <a:xfrm>
            <a:off x="731520" y="3200400"/>
            <a:ext cx="4572000" cy="0"/>
          </a:xfrm>
          <a:prstGeom prst="line">
            <a:avLst/>
          </a:prstGeom>
          <a:noFill/>
          <a:ln w="25400">
            <a:solidFill>
              <a:srgbClr val="F4A23C"/>
            </a:solidFill>
            <a:prstDash val="solid"/>
          </a:ln>
        </p:spPr>
      </p:sp>
      <p:sp>
        <p:nvSpPr>
          <p:cNvPr id="6" name="Shape 4"/>
          <p:cNvSpPr/>
          <p:nvPr/>
        </p:nvSpPr>
        <p:spPr>
          <a:xfrm>
            <a:off x="731520" y="3566160"/>
            <a:ext cx="10698480" cy="2743200"/>
          </a:xfrm>
          <a:prstGeom prst="rect">
            <a:avLst/>
          </a:prstGeom>
          <a:solidFill>
            <a:srgbClr val="1E3A5F"/>
          </a:solidFill>
          <a:ln w="12700">
            <a:solidFill>
              <a:srgbClr val="F4A23C"/>
            </a:solidFill>
            <a:prstDash val="solid"/>
          </a:ln>
        </p:spPr>
      </p:sp>
      <p:sp>
        <p:nvSpPr>
          <p:cNvPr id="7" name="Text 5"/>
          <p:cNvSpPr/>
          <p:nvPr/>
        </p:nvSpPr>
        <p:spPr>
          <a:xfrm>
            <a:off x="914400" y="3657600"/>
            <a:ext cx="10058400" cy="365760"/>
          </a:xfrm>
          <a:prstGeom prst="rect">
            <a:avLst/>
          </a:prstGeom>
          <a:noFill/>
          <a:ln/>
        </p:spPr>
        <p:txBody>
          <a:bodyPr wrap="square" lIns="0" tIns="0" rIns="0" bIns="0" rtlCol="0" anchor="ctr"/>
          <a:lstStyle/>
          <a:p>
            <a:pPr indent="0" marL="0">
              <a:buNone/>
            </a:pPr>
            <a:r>
              <a:rPr lang="en-US" sz="1700" b="1" dirty="0">
                <a:solidFill>
                  <a:srgbClr val="F4A23C"/>
                </a:solidFill>
                <a:latin typeface="Calibri" pitchFamily="34" charset="0"/>
                <a:ea typeface="Calibri" pitchFamily="34" charset="-122"/>
                <a:cs typeface="Calibri" pitchFamily="34" charset="-120"/>
              </a:rPr>
              <a:t>Project at a glance</a:t>
            </a:r>
            <a:endParaRPr lang="en-US" sz="1700" dirty="0"/>
          </a:p>
        </p:txBody>
      </p:sp>
      <p:sp>
        <p:nvSpPr>
          <p:cNvPr id="8" name="Text 6"/>
          <p:cNvSpPr/>
          <p:nvPr/>
        </p:nvSpPr>
        <p:spPr>
          <a:xfrm>
            <a:off x="914400" y="4160520"/>
            <a:ext cx="3200400" cy="36576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Milestone 1</a:t>
            </a:r>
            <a:endParaRPr lang="en-US" sz="1200" dirty="0"/>
          </a:p>
        </p:txBody>
      </p:sp>
      <p:sp>
        <p:nvSpPr>
          <p:cNvPr id="9" name="Text 7"/>
          <p:cNvSpPr/>
          <p:nvPr/>
        </p:nvSpPr>
        <p:spPr>
          <a:xfrm>
            <a:off x="914400" y="4480560"/>
            <a:ext cx="3200400" cy="73152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Designed</a:t>
            </a:r>
            <a:endParaRPr lang="en-US" sz="3600" dirty="0"/>
          </a:p>
        </p:txBody>
      </p:sp>
      <p:sp>
        <p:nvSpPr>
          <p:cNvPr id="10" name="Text 8"/>
          <p:cNvSpPr/>
          <p:nvPr/>
        </p:nvSpPr>
        <p:spPr>
          <a:xfrm>
            <a:off x="914400" y="5303520"/>
            <a:ext cx="3200400" cy="548640"/>
          </a:xfrm>
          <a:prstGeom prst="rect">
            <a:avLst/>
          </a:prstGeom>
          <a:noFill/>
          <a:ln/>
        </p:spPr>
        <p:txBody>
          <a:bodyPr wrap="square" lIns="0" tIns="0" rIns="0" bIns="0" rtlCol="0" anchor="ctr"/>
          <a:lstStyle/>
          <a:p>
            <a:pPr indent="0" marL="0">
              <a:buNone/>
            </a:pPr>
            <a:r>
              <a:rPr lang="en-US" sz="1100" i="1" dirty="0">
                <a:solidFill>
                  <a:srgbClr val="CADCFC"/>
                </a:solidFill>
                <a:latin typeface="Calibri" pitchFamily="34" charset="0"/>
                <a:ea typeface="Calibri" pitchFamily="34" charset="-122"/>
                <a:cs typeface="Calibri" pitchFamily="34" charset="-120"/>
              </a:rPr>
              <a:t>Classical pipeline · justified every step</a:t>
            </a:r>
            <a:endParaRPr lang="en-US" sz="1100" dirty="0"/>
          </a:p>
        </p:txBody>
      </p:sp>
      <p:sp>
        <p:nvSpPr>
          <p:cNvPr id="11" name="Text 9"/>
          <p:cNvSpPr/>
          <p:nvPr/>
        </p:nvSpPr>
        <p:spPr>
          <a:xfrm>
            <a:off x="4480560" y="4160520"/>
            <a:ext cx="3200400" cy="36576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Milestone 2</a:t>
            </a:r>
            <a:endParaRPr lang="en-US" sz="1200" dirty="0"/>
          </a:p>
        </p:txBody>
      </p:sp>
      <p:sp>
        <p:nvSpPr>
          <p:cNvPr id="12" name="Text 10"/>
          <p:cNvSpPr/>
          <p:nvPr/>
        </p:nvSpPr>
        <p:spPr>
          <a:xfrm>
            <a:off x="4480560" y="4480560"/>
            <a:ext cx="3200400" cy="73152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89.97%</a:t>
            </a:r>
            <a:endParaRPr lang="en-US" sz="3600" dirty="0"/>
          </a:p>
        </p:txBody>
      </p:sp>
      <p:sp>
        <p:nvSpPr>
          <p:cNvPr id="13" name="Text 11"/>
          <p:cNvSpPr/>
          <p:nvPr/>
        </p:nvSpPr>
        <p:spPr>
          <a:xfrm>
            <a:off x="4480560" y="5303520"/>
            <a:ext cx="3200400" cy="548640"/>
          </a:xfrm>
          <a:prstGeom prst="rect">
            <a:avLst/>
          </a:prstGeom>
          <a:noFill/>
          <a:ln/>
        </p:spPr>
        <p:txBody>
          <a:bodyPr wrap="square" lIns="0" tIns="0" rIns="0" bIns="0" rtlCol="0" anchor="ctr"/>
          <a:lstStyle/>
          <a:p>
            <a:pPr indent="0" marL="0">
              <a:buNone/>
            </a:pPr>
            <a:r>
              <a:rPr lang="en-US" sz="1100" i="1" dirty="0">
                <a:solidFill>
                  <a:srgbClr val="CADCFC"/>
                </a:solidFill>
                <a:latin typeface="Calibri" pitchFamily="34" charset="0"/>
                <a:ea typeface="Calibri" pitchFamily="34" charset="-122"/>
                <a:cs typeface="Calibri" pitchFamily="34" charset="-120"/>
              </a:rPr>
              <a:t>RF + LBP · 3,610-d handcrafted features</a:t>
            </a:r>
            <a:endParaRPr lang="en-US" sz="1100" dirty="0"/>
          </a:p>
        </p:txBody>
      </p:sp>
      <p:sp>
        <p:nvSpPr>
          <p:cNvPr id="14" name="Text 12"/>
          <p:cNvSpPr/>
          <p:nvPr/>
        </p:nvSpPr>
        <p:spPr>
          <a:xfrm>
            <a:off x="8046720" y="4160520"/>
            <a:ext cx="3200400" cy="36576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Milestone 3</a:t>
            </a:r>
            <a:endParaRPr lang="en-US" sz="1200" dirty="0"/>
          </a:p>
        </p:txBody>
      </p:sp>
      <p:sp>
        <p:nvSpPr>
          <p:cNvPr id="15" name="Text 13"/>
          <p:cNvSpPr/>
          <p:nvPr/>
        </p:nvSpPr>
        <p:spPr>
          <a:xfrm>
            <a:off x="8046720" y="4480560"/>
            <a:ext cx="3200400" cy="73152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97.58%</a:t>
            </a:r>
            <a:endParaRPr lang="en-US" sz="3600" dirty="0"/>
          </a:p>
        </p:txBody>
      </p:sp>
      <p:sp>
        <p:nvSpPr>
          <p:cNvPr id="16" name="Text 14"/>
          <p:cNvSpPr/>
          <p:nvPr/>
        </p:nvSpPr>
        <p:spPr>
          <a:xfrm>
            <a:off x="8046720" y="5303520"/>
            <a:ext cx="3200400" cy="548640"/>
          </a:xfrm>
          <a:prstGeom prst="rect">
            <a:avLst/>
          </a:prstGeom>
          <a:noFill/>
          <a:ln/>
        </p:spPr>
        <p:txBody>
          <a:bodyPr wrap="square" lIns="0" tIns="0" rIns="0" bIns="0" rtlCol="0" anchor="ctr"/>
          <a:lstStyle/>
          <a:p>
            <a:pPr indent="0" marL="0">
              <a:buNone/>
            </a:pPr>
            <a:r>
              <a:rPr lang="en-US" sz="1100" i="1" dirty="0">
                <a:solidFill>
                  <a:srgbClr val="CADCFC"/>
                </a:solidFill>
                <a:latin typeface="Calibri" pitchFamily="34" charset="0"/>
                <a:ea typeface="Calibri" pitchFamily="34" charset="-122"/>
                <a:cs typeface="Calibri" pitchFamily="34" charset="-120"/>
              </a:rPr>
              <a:t>Custom CNN V4 SE · 6.93 M parameters</a:t>
            </a:r>
            <a:endParaRPr lang="en-US" sz="1100" dirty="0"/>
          </a:p>
        </p:txBody>
      </p:sp>
      <p:sp>
        <p:nvSpPr>
          <p:cNvPr id="17" name="Text 15"/>
          <p:cNvSpPr/>
          <p:nvPr/>
        </p:nvSpPr>
        <p:spPr>
          <a:xfrm>
            <a:off x="731520" y="6446520"/>
            <a:ext cx="10972800" cy="320040"/>
          </a:xfrm>
          <a:prstGeom prst="rect">
            <a:avLst/>
          </a:prstGeom>
          <a:noFill/>
          <a:ln/>
        </p:spPr>
        <p:txBody>
          <a:bodyPr wrap="square" lIns="0" tIns="0" rIns="0" bIns="0" rtlCol="0" anchor="ctr"/>
          <a:lstStyle/>
          <a:p>
            <a:pPr indent="0" marL="0">
              <a:buNone/>
            </a:pPr>
            <a:r>
              <a:rPr lang="en-US" sz="1100" i="1" dirty="0">
                <a:solidFill>
                  <a:srgbClr val="CADCFC"/>
                </a:solidFill>
                <a:latin typeface="Calibri" pitchFamily="34" charset="0"/>
                <a:ea typeface="Calibri" pitchFamily="34" charset="-122"/>
                <a:cs typeface="Calibri" pitchFamily="34" charset="-120"/>
              </a:rPr>
              <a:t>Team A · Tutorial 10 · Zoher, Elqady, Bassouny, Ramadan, Mokhtar</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SIP Ball Classification — Final Evaluation</dc:title>
  <dc:subject>PptxGenJS Presentation</dc:subject>
  <dc:creator>Marwan Elqady &amp; Team</dc:creator>
  <cp:lastModifiedBy>Marwan Elqady &amp; Team</cp:lastModifiedBy>
  <cp:revision>1</cp:revision>
  <dcterms:created xsi:type="dcterms:W3CDTF">2026-05-23T21:57:29Z</dcterms:created>
  <dcterms:modified xsi:type="dcterms:W3CDTF">2026-05-23T21:57:29Z</dcterms:modified>
</cp:coreProperties>
</file>